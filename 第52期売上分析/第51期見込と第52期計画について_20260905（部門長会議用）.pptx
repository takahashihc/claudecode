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2" r:id="rId2"/>
    <p:sldId id="376" r:id="rId3"/>
    <p:sldId id="365" r:id="rId4"/>
    <p:sldId id="343" r:id="rId5"/>
    <p:sldId id="345" r:id="rId6"/>
    <p:sldId id="348" r:id="rId7"/>
    <p:sldId id="400" r:id="rId20"/>
    <p:sldId id="401" r:id="rId21"/>
    <p:sldId id="402" r:id="rId17"/>
    <p:sldId id="382" r:id="rId8"/>
    <p:sldId id="379" r:id="rId9"/>
    <p:sldId id="38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7" Type="http://schemas.openxmlformats.org/officeDocument/2006/relationships/slide" Target="slides/slide12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3"/>
              <c:delete val="1"/>
            </c:dLbl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0.032</c:v>
                </c:pt>
                <c:pt idx="1">
                  <c:v>0.03</c:v>
                </c:pt>
                <c:pt idx="2">
                  <c:v>0.042</c:v>
                </c:pt>
                <c:pt idx="3">
                  <c:v>0.022</c:v>
                </c:pt>
                <c:pt idx="4">
                  <c:v>0.07</c:v>
                </c:pt>
                <c:pt idx="5">
                  <c:v>0.1</c:v>
                </c:pt>
                <c:pt idx="6">
                  <c:v>0.19</c:v>
                </c:pt>
                <c:pt idx="7">
                  <c:v>0.1955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50-42FC-ACE7-F062D7C751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1"/>
              <c:delete val="1"/>
            </c:dLbl>
            <c:dLbl>
              <c:idx val="2"/>
              <c:delete val="1"/>
            </c:dLbl>
            <c:dLbl>
              <c:idx val="4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Sheet1!$C$2:$C$9</c:f>
              <c:numCache>
                <c:formatCode>0.0%</c:formatCode>
                <c:ptCount val="8"/>
                <c:pt idx="0">
                  <c:v>-0.081</c:v>
                </c:pt>
                <c:pt idx="1">
                  <c:v>-0.028</c:v>
                </c:pt>
                <c:pt idx="2">
                  <c:v>0.011</c:v>
                </c:pt>
                <c:pt idx="3">
                  <c:v>0.105</c:v>
                </c:pt>
                <c:pt idx="4">
                  <c:v>0.015</c:v>
                </c:pt>
                <c:pt idx="5">
                  <c:v>0.066</c:v>
                </c:pt>
                <c:pt idx="6">
                  <c:v>-0.012</c:v>
                </c:pt>
                <c:pt idx="7">
                  <c:v>-0.0254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50-42FC-ACE7-F062D7C75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5"/>
              <c:delete val="1"/>
            </c:dLbl>
            <c:dLbl>
              <c:idx val="10"/>
              <c:delete val="1"/>
            </c:dLbl>
            <c:numFmt formatCode="+0%;-0%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0.0024</c:v>
                </c:pt>
                <c:pt idx="1">
                  <c:v>0.0249</c:v>
                </c:pt>
                <c:pt idx="2">
                  <c:v>0.0651</c:v>
                </c:pt>
                <c:pt idx="3">
                  <c:v>0.2294</c:v>
                </c:pt>
                <c:pt idx="4">
                  <c:v>0.2392</c:v>
                </c:pt>
                <c:pt idx="5">
                  <c:v>0.0083</c:v>
                </c:pt>
                <c:pt idx="6">
                  <c:v>0.1689</c:v>
                </c:pt>
                <c:pt idx="7">
                  <c:v>0.1992</c:v>
                </c:pt>
                <c:pt idx="8">
                  <c:v>0.2497</c:v>
                </c:pt>
                <c:pt idx="9">
                  <c:v>0.2592</c:v>
                </c:pt>
                <c:pt idx="10">
                  <c:v>0.0187</c:v>
                </c:pt>
                <c:pt idx="11">
                  <c:v>0.0346</c:v>
                </c:pt>
                <c:pt idx="12">
                  <c:v>0.0636</c:v>
                </c:pt>
                <c:pt idx="13">
                  <c:v>0.0644</c:v>
                </c:pt>
                <c:pt idx="14">
                  <c:v>0.0791</c:v>
                </c:pt>
                <c:pt idx="15">
                  <c:v>0.0283</c:v>
                </c:pt>
                <c:pt idx="16">
                  <c:v>0.0512</c:v>
                </c:pt>
                <c:pt idx="17">
                  <c:v>0.0838</c:v>
                </c:pt>
                <c:pt idx="18">
                  <c:v>0.1017</c:v>
                </c:pt>
                <c:pt idx="19">
                  <c:v>0.1144</c:v>
                </c:pt>
                <c:pt idx="20">
                  <c:v>0.348</c:v>
                </c:pt>
                <c:pt idx="21">
                  <c:v>0.0795</c:v>
                </c:pt>
                <c:pt idx="22">
                  <c:v>0.1085</c:v>
                </c:pt>
                <c:pt idx="23">
                  <c:v>0.1082</c:v>
                </c:pt>
                <c:pt idx="24">
                  <c:v>-0.0751</c:v>
                </c:pt>
                <c:pt idx="25">
                  <c:v>0.0282</c:v>
                </c:pt>
                <c:pt idx="26">
                  <c:v>0.0676</c:v>
                </c:pt>
                <c:pt idx="27">
                  <c:v>0.0774</c:v>
                </c:pt>
                <c:pt idx="28">
                  <c:v>0.1814</c:v>
                </c:pt>
                <c:pt idx="29">
                  <c:v>0.1859</c:v>
                </c:pt>
              </c:numCache>
            </c:numRef>
          </c: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1"/>
              <c:delete val="1"/>
            </c:dLbl>
            <c:dLbl>
              <c:idx val="8"/>
              <c:delete val="1"/>
            </c:dLbl>
            <c:dLbl>
              <c:idx val="10"/>
              <c:delete val="1"/>
            </c:dLbl>
            <c:dLbl>
              <c:idx val="14"/>
              <c:delete val="1"/>
            </c:dLbl>
            <c:dLbl>
              <c:idx val="27"/>
              <c:delete val="1"/>
            </c:dLbl>
            <c:dLbl>
              <c:idx val="29"/>
              <c:delete val="1"/>
            </c:dLbl>
            <c:numFmt formatCode="+0%;-0%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0.1731</c:v>
                </c:pt>
                <c:pt idx="1">
                  <c:v>0.0068</c:v>
                </c:pt>
                <c:pt idx="2">
                  <c:v>0.1705</c:v>
                </c:pt>
                <c:pt idx="3">
                  <c:v>-0.0487</c:v>
                </c:pt>
                <c:pt idx="4">
                  <c:v>-0.0762</c:v>
                </c:pt>
                <c:pt idx="5">
                  <c:v>0.1201</c:v>
                </c:pt>
                <c:pt idx="6">
                  <c:v>0.0401</c:v>
                </c:pt>
                <c:pt idx="7">
                  <c:v>0.0288</c:v>
                </c:pt>
                <c:pt idx="8">
                  <c:v>0.0159</c:v>
                </c:pt>
                <c:pt idx="9">
                  <c:v>0.0264</c:v>
                </c:pt>
                <c:pt idx="10">
                  <c:v>-0.0139</c:v>
                </c:pt>
                <c:pt idx="11">
                  <c:v>-0.0371</c:v>
                </c:pt>
                <c:pt idx="12">
                  <c:v>0.0407</c:v>
                </c:pt>
                <c:pt idx="13">
                  <c:v>0.0646</c:v>
                </c:pt>
                <c:pt idx="14">
                  <c:v>0.0142</c:v>
                </c:pt>
                <c:pt idx="15">
                  <c:v>0.0486</c:v>
                </c:pt>
                <c:pt idx="16">
                  <c:v>0.0857</c:v>
                </c:pt>
                <c:pt idx="17">
                  <c:v>0.0398</c:v>
                </c:pt>
                <c:pt idx="18">
                  <c:v>-0.0622</c:v>
                </c:pt>
                <c:pt idx="19">
                  <c:v>-0.0853</c:v>
                </c:pt>
                <c:pt idx="20">
                  <c:v>-0.0983</c:v>
                </c:pt>
                <c:pt idx="21">
                  <c:v>0.1076</c:v>
                </c:pt>
                <c:pt idx="22">
                  <c:v>-0.2107</c:v>
                </c:pt>
                <c:pt idx="23">
                  <c:v>-0.1127</c:v>
                </c:pt>
                <c:pt idx="24">
                  <c:v>-0.0236</c:v>
                </c:pt>
                <c:pt idx="25">
                  <c:v>0.0875</c:v>
                </c:pt>
                <c:pt idx="26">
                  <c:v>0.031</c:v>
                </c:pt>
                <c:pt idx="27">
                  <c:v>-0.0117</c:v>
                </c:pt>
                <c:pt idx="28">
                  <c:v>-0.0213</c:v>
                </c:pt>
                <c:pt idx="29">
                  <c:v>-0.006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5"/>
              <c:delete val="1"/>
            </c:dLbl>
            <c:dLbl>
              <c:idx val="10"/>
              <c:delete val="1"/>
            </c:dLbl>
            <c:dLbl>
              <c:idx val="20"/>
              <c:delete val="1"/>
            </c:dLbl>
            <c:numFmt formatCode="+0%;-0%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0.018</c:v>
                </c:pt>
                <c:pt idx="1">
                  <c:v>0.0721</c:v>
                </c:pt>
                <c:pt idx="2">
                  <c:v>0.1109</c:v>
                </c:pt>
                <c:pt idx="3">
                  <c:v>0.1756</c:v>
                </c:pt>
                <c:pt idx="4">
                  <c:v>0.1883</c:v>
                </c:pt>
                <c:pt idx="5">
                  <c:v>0.0033</c:v>
                </c:pt>
                <c:pt idx="6">
                  <c:v>0.0326</c:v>
                </c:pt>
                <c:pt idx="7">
                  <c:v>0.0756</c:v>
                </c:pt>
                <c:pt idx="8">
                  <c:v>0.1402</c:v>
                </c:pt>
                <c:pt idx="9">
                  <c:v>0.1652</c:v>
                </c:pt>
                <c:pt idx="10">
                  <c:v>0.0045</c:v>
                </c:pt>
                <c:pt idx="11">
                  <c:v>0.0775</c:v>
                </c:pt>
                <c:pt idx="12">
                  <c:v>0.1724</c:v>
                </c:pt>
                <c:pt idx="13">
                  <c:v>0.2384</c:v>
                </c:pt>
                <c:pt idx="14">
                  <c:v>0.2389</c:v>
                </c:pt>
                <c:pt idx="15">
                  <c:v>0.0264</c:v>
                </c:pt>
                <c:pt idx="16">
                  <c:v>0.1469</c:v>
                </c:pt>
                <c:pt idx="17">
                  <c:v>0.1845</c:v>
                </c:pt>
                <c:pt idx="18">
                  <c:v>0.1909</c:v>
                </c:pt>
                <c:pt idx="19">
                  <c:v>0.1891</c:v>
                </c:pt>
                <c:pt idx="20">
                  <c:v>0.0142</c:v>
                </c:pt>
                <c:pt idx="21">
                  <c:v>0.0845</c:v>
                </c:pt>
                <c:pt idx="22">
                  <c:v>0.0889</c:v>
                </c:pt>
                <c:pt idx="23">
                  <c:v>0.2016</c:v>
                </c:pt>
                <c:pt idx="24">
                  <c:v>0.1709</c:v>
                </c:pt>
                <c:pt idx="25">
                  <c:v>0.0642</c:v>
                </c:pt>
                <c:pt idx="26">
                  <c:v>0.0263</c:v>
                </c:pt>
                <c:pt idx="27">
                  <c:v>0.0372</c:v>
                </c:pt>
                <c:pt idx="28">
                  <c:v>0.2112</c:v>
                </c:pt>
                <c:pt idx="29">
                  <c:v>0.1983</c:v>
                </c:pt>
              </c:numCache>
            </c:numRef>
          </c: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2"/>
              <c:delete val="1"/>
            </c:dLbl>
            <c:dLbl>
              <c:idx val="3"/>
              <c:delete val="1"/>
            </c:dLbl>
            <c:dLbl>
              <c:idx val="6"/>
              <c:delete val="1"/>
            </c:dLbl>
            <c:dLbl>
              <c:idx val="8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1"/>
              <c:delete val="1"/>
            </c:dLbl>
            <c:dLbl>
              <c:idx val="26"/>
              <c:delete val="1"/>
            </c:dLbl>
            <c:numFmt formatCode="+0%;-0%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0.1185</c:v>
                </c:pt>
                <c:pt idx="1">
                  <c:v>-0.0238</c:v>
                </c:pt>
                <c:pt idx="2">
                  <c:v>-0.0121</c:v>
                </c:pt>
                <c:pt idx="3">
                  <c:v>0.0057</c:v>
                </c:pt>
                <c:pt idx="4">
                  <c:v>-0.0645</c:v>
                </c:pt>
                <c:pt idx="5">
                  <c:v>0.115</c:v>
                </c:pt>
                <c:pt idx="6">
                  <c:v>0.0164</c:v>
                </c:pt>
                <c:pt idx="7">
                  <c:v>0.1367</c:v>
                </c:pt>
                <c:pt idx="8">
                  <c:v>-0.0122</c:v>
                </c:pt>
                <c:pt idx="9">
                  <c:v>-0.031</c:v>
                </c:pt>
                <c:pt idx="10">
                  <c:v>0.102</c:v>
                </c:pt>
                <c:pt idx="11">
                  <c:v>0.0984</c:v>
                </c:pt>
                <c:pt idx="12">
                  <c:v>-0.0194</c:v>
                </c:pt>
                <c:pt idx="13">
                  <c:v>-0.0018</c:v>
                </c:pt>
                <c:pt idx="14">
                  <c:v>-0.0054</c:v>
                </c:pt>
                <c:pt idx="15">
                  <c:v>0.0506</c:v>
                </c:pt>
                <c:pt idx="16">
                  <c:v>0.0474</c:v>
                </c:pt>
                <c:pt idx="17">
                  <c:v>0.0939</c:v>
                </c:pt>
                <c:pt idx="18">
                  <c:v>-0.0143</c:v>
                </c:pt>
                <c:pt idx="19">
                  <c:v>0.0109</c:v>
                </c:pt>
                <c:pt idx="20">
                  <c:v>-0.0217</c:v>
                </c:pt>
                <c:pt idx="21">
                  <c:v>-0.0079</c:v>
                </c:pt>
                <c:pt idx="22">
                  <c:v>0.0988</c:v>
                </c:pt>
                <c:pt idx="23">
                  <c:v>0.0268</c:v>
                </c:pt>
                <c:pt idx="24">
                  <c:v>-0.0621</c:v>
                </c:pt>
                <c:pt idx="25">
                  <c:v>0.1988</c:v>
                </c:pt>
                <c:pt idx="26">
                  <c:v>0.0081</c:v>
                </c:pt>
                <c:pt idx="27">
                  <c:v>0.1709</c:v>
                </c:pt>
                <c:pt idx="28">
                  <c:v>-0.0344</c:v>
                </c:pt>
                <c:pt idx="29">
                  <c:v>0.107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1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1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3232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9888" y="274320"/>
            <a:ext cx="5486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HGSeikaishotaiPRO"/>
              </a:rPr>
              <a:t>株式会社タカハシ包装センター</a:t>
            </a:r>
          </a:p>
          <a:p>
            <a:r>
              <a:rPr sz="1400">
                <a:solidFill>
                  <a:srgbClr val="D6E4F0"/>
                </a:solidFill>
                <a:latin typeface="HGSeikaishotaiPRO"/>
              </a:rPr>
              <a:t>代表取締役社長　高橋将史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4831"/>
            <a:ext cx="82296" cy="13716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游ゴシック"/>
              </a:rPr>
              <a:t>第51期見込と第52期計画について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35808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4F0"/>
                </a:solidFill>
                <a:latin typeface="游ゴシック"/>
              </a:rPr>
              <a:t>第52期 売上高・売上総利益計画の策定根拠 ―― 先行き不透明ななかで、複数の切り口から検証する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第1章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第51期見込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着地の姿と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計画との差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604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1576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第2章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物価動向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企業物価指数で読む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仕入価格の現在地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6908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第3章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当社の実績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商品群別・月次の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売上と粗利益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32120" y="3840480"/>
            <a:ext cx="1335024" cy="45720"/>
          </a:xfrm>
          <a:prstGeom prst="rect">
            <a:avLst/>
          </a:prstGeom>
          <a:solidFill>
            <a:srgbClr val="4C6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4184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9DB2D0"/>
                </a:solidFill>
                <a:latin typeface="游ゴシック"/>
              </a:rPr>
              <a:t>第4章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原料価格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ナフサ等と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売価への影響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95160" y="3840480"/>
            <a:ext cx="1335024" cy="45720"/>
          </a:xfrm>
          <a:prstGeom prst="rect">
            <a:avLst/>
          </a:prstGeom>
          <a:solidFill>
            <a:srgbClr val="4C6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0488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9DB2D0"/>
                </a:solidFill>
                <a:latin typeface="游ゴシック"/>
              </a:rPr>
              <a:t>第5章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同業他社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非上場7社の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封鎖前の実績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5820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6792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第6章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第52期計画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売上高・売上総利益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計画の考え方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687568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DB2D0"/>
                </a:solidFill>
                <a:latin typeface="游ゴシック"/>
              </a:rPr>
              <a:t>※ 本資料は2部構成。第1部＝第51期見込（第1章）、第2部＝第52期計画（第2章以降。現状分析＝第2〜5章／計画策定＝第6章）。第4章・第5章は順次追加します。営業向けは完成後に別途作成します。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273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D6E4F0"/>
                </a:solidFill>
                <a:latin typeface="游ゴシック"/>
              </a:rPr>
              <a:t>2026年8月27日　社外秘</a:t>
            </a:r>
          </a:p>
        </p:txBody>
      </p:sp>
    </p:spTree>
    <p:extLst>
      <p:ext uri="{BB962C8B-B14F-4D97-AF65-F5344CB8AC3E}">
        <p14:creationId xmlns:p14="http://schemas.microsoft.com/office/powerpoint/2010/main" val="171122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第1章　第51期見込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第51期の着地見込 ―― 売上は計画線、粗利益は計画超え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第51期＝2025年10月〜2026年9月　単位：千円（100千円未満を四捨五入）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060704"/>
            <a:ext cx="3621024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游ゴシック"/>
              </a:rPr>
              <a:t>3,650,400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計画比 ▲0.0％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前期比 ＋7.0％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15384" y="1060704"/>
            <a:ext cx="3621024" cy="548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売上総利益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F7040"/>
                </a:solidFill>
                <a:latin typeface="游ゴシック"/>
              </a:rPr>
              <a:t>859,700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計画比 ＋2.6％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前期比 ＋11.1％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19288" y="1060704"/>
            <a:ext cx="3621024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売上総利益率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B8860B"/>
                </a:solidFill>
                <a:latin typeface="游ゴシック"/>
              </a:rPr>
              <a:t>23.6％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 22.9％　＋0.7pt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2408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 22.7％　＋0.9pt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542032"/>
            <a:ext cx="113568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1F3864"/>
                </a:solidFill>
                <a:latin typeface="游ゴシック"/>
                <a:ea typeface="游ゴシック"/>
              </a:rPr>
              <a:t>商品群別の</a:t>
            </a:r>
            <a:r>
              <a:rPr lang="ja-JP" altLang="en-US" sz="1200" b="1">
                <a:solidFill>
                  <a:srgbClr val="1F3864"/>
                </a:solidFill>
                <a:latin typeface="游ゴシック"/>
                <a:ea typeface="游ゴシック"/>
              </a:rPr>
              <a:t>着地見込</a:t>
            </a:r>
            <a:endParaRPr lang="ja-JP" altLang="en-US" sz="1200" b="1" dirty="0">
              <a:solidFill>
                <a:srgbClr val="1F3864"/>
              </a:solidFill>
              <a:latin typeface="游ゴシック"/>
              <a:ea typeface="游ゴシック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11480" y="2871216"/>
          <a:ext cx="11356848" cy="1999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粗利益率
（前期→見込）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包装資材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3,044,900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3,380,000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3,337,900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▲1.2％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＋9.6％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21.7％ → 22.6％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荷役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85,400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90,800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92,200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＋1.5％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＋8.0％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63.3％ → 60.6％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機械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279,800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225,700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220,200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▲21.3％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20.7％ → 22.0％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合計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3,410,000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3,651,000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3,650,400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▲0.0％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＋7.0％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22.7％ → 23.6％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11480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5010912"/>
            <a:ext cx="45720" cy="10789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游ゴシック"/>
              </a:rPr>
              <a:t>売上は計画どおり着地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全社売上は計画 3,651,000 に対し見込 3,650,400。差はわずか 600千円で、ほぼ計画線での着地。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5384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15384" y="5010912"/>
            <a:ext cx="45720" cy="1078992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16552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7040"/>
                </a:solidFill>
                <a:latin typeface="游ゴシック"/>
              </a:rPr>
              <a:t>粗利益は計画を22,100千円超過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粗利益率が計画22.9％に対し23.6％。2026年4月以降の価格改定が粗利を押し上げた。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9288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19288" y="5010912"/>
            <a:ext cx="45720" cy="107899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0456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55A11"/>
                </a:solidFill>
                <a:latin typeface="游ゴシック"/>
              </a:rPr>
              <a:t>機械は前期比▲21.3％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スポット性が高く振れが大きい。機械を除く包装資材は前期比＋9.6％で、本業は堅調。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出所：第51期着地及び第52期計画策定資料（全体）「第51期着地見込C」。各営業所からの提出値を集約</a:t>
            </a:r>
          </a:p>
        </p:txBody>
      </p:sp>
    </p:spTree>
    <p:extLst>
      <p:ext uri="{BB962C8B-B14F-4D97-AF65-F5344CB8AC3E}">
        <p14:creationId xmlns:p14="http://schemas.microsoft.com/office/powerpoint/2010/main" val="404279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第1章　第51期見込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営業所別の着地見込 ―― 松江・水産部が牽引、下関・境港が未達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第51期見込の内訳。単位：千円（100千円未満を四捨五入）。計画比の達成・未達は粗利益ベースで評価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879435"/>
              </p:ext>
            </p:extLst>
          </p:nvPr>
        </p:nvGraphicFramePr>
        <p:xfrm>
          <a:off x="411480" y="1078992"/>
          <a:ext cx="11226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428997537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5364999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33406098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350601856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粗利益率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前期→見込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石見営業所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788,600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869,700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865,800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▲0.4％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＋9.8％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219,600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231,300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240,300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＋3.9％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＋9.4％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27.9％ → 27.8％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下関営業所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535,000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597,500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561,800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▲6.0％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＋5.0％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111,200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122,800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117,200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▲4.6％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＋5.4％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20.8％ → 20.9％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松江営業所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401,300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405,000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436,200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＋7.7％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＋8.7％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90,400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97,300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105,600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＋8.5％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＋16.8％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22.5％ → 24.2％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広域営業部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505,300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556,900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526,400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▲5.5％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＋4.2％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75,600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84,200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88,200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＋4.8％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＋16.7％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15.0％ → 16.8％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境港営業所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762,600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741,900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723,900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▲5.1％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153,300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144,100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▲6.0％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▲4.8％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19.8％ → 19.9％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営業部門合計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2,992,900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3,170,900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3,114,000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▲1.8％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＋4.1％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648,200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688,900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695,400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＋1.0％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＋7.3％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21.7％ → 22.3％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水産部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417,200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480,100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536,300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＋11.7％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＋28.6％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125,800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148,800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164,300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＋10.4％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＋30.6％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30.2％ → 30.6％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合計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3,410,000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3,651,000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3,650,400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▲0.0％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＋7.0％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774,000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837,600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859,700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＋2.6％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＋11.1％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22.7％ → 23.6％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4864608"/>
            <a:ext cx="45720" cy="1225296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7040"/>
                </a:solidFill>
                <a:latin typeface="游ゴシック"/>
              </a:rPr>
              <a:t>粗利益で計画を超えた4拠点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水産部＋10.4％（15,500千円超過）と松江＋8.5％（8,300千円超過）が牽引。広域は売上▲5.5％ながら粗利益は＋4.8％を確保し、石見も＋3.9％。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15384" y="4864608"/>
            <a:ext cx="45720" cy="1225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游ゴシック"/>
              </a:rPr>
              <a:t>計画に届かなかったのは2拠点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下関▲4.6％（5,600千円）、境港▲6.0％（9,200千円）。境港は粗利益の前期比でも▲4.8％で、前期の機械大型案件の反動が出ている。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9288" y="4864608"/>
            <a:ext cx="45720" cy="1225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0456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游ゴシック"/>
              </a:rPr>
              <a:t>粗利益率は全拠点で維持・改善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合計22.7％→23.6％。広域営業部が＋1.8ポイント、松江が＋1.7ポイントと改善幅が大きい。価格改定を粗利に乗せられている。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出所：第51期着地及び第52期計画策定資料（全体）「第51期着地見込C」。キョウワ・NWI（7月～6月）を除く</a:t>
            </a:r>
          </a:p>
        </p:txBody>
      </p:sp>
    </p:spTree>
    <p:extLst>
      <p:ext uri="{BB962C8B-B14F-4D97-AF65-F5344CB8AC3E}">
        <p14:creationId xmlns:p14="http://schemas.microsoft.com/office/powerpoint/2010/main" val="281935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当社の商品は、どの物価指数で動いているのか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主力はプラスチック製品。段ボールだけは紙。原料である化学製品は1〜2か月先行して動く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60704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① 企業物価指数（CGPI）と消費者物価指数（CPI）の違い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89888"/>
          <a:ext cx="5349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企業物価指数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消費者物価指数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作成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日本銀行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総務省統計局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測る取引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企業間のモノの取引価格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家計が買う小売価格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流通段階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川上〜川中（原料・資材）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川下（最終消費）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当社との関係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仕入価格に直結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得意先の値上げ余力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2026年7月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游ゴシック"/>
                        </a:rPr>
                        <a:t>＋7.2％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游ゴシック"/>
                        </a:rPr>
                        <a:t>＋1.8％（コア）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53328" y="1060704"/>
            <a:ext cx="5715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② 当社の商品は、どの類別に入るか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1353312"/>
            <a:ext cx="5715000" cy="62179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444752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企業物価指数は「類別」ごとに公表されている。当社の商品がどの類別に当たるかを押さえれば、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仕入価格の動きを指数で追える。右端は、その類別の指数が2026年3月→7月に何％上がったか。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53328" y="2048256"/>
          <a:ext cx="5715000" cy="2324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当社の商品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日銀の類別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企業物価指数
3月→7月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発泡スチロール・食品トレー・PPトレー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ボードン袋・ストレッチフィルム・ポリ袋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プラコンテナ・PPバンド・テープ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段ボール・紙箱・紙製品・ラベル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パルプ・紙・同製品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＋3.0％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ニトリル手袋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その他工業製品（ゴム）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―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（原料）樹脂ペレット・スチレンモノマー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55A11"/>
                          </a:solidFill>
                          <a:latin typeface="游ゴシック"/>
                        </a:rPr>
                        <a:t>化学製品 ＝ 先行指標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55A11"/>
                          </a:solidFill>
                          <a:latin typeface="游ゴシック"/>
                        </a:rPr>
                        <a:t>＋10.0％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053328" y="4407408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53328" y="4407408"/>
            <a:ext cx="45720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4496" y="4453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3864"/>
                </a:solidFill>
                <a:latin typeface="游ゴシック"/>
              </a:rPr>
              <a:t>主力はプラスチック製品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4453128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売上の約6割を占める食品容器とフィルム・袋は、いずれも「プラスチック製品」。ここが仕入価格の物差しになる。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4992624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53328" y="4992624"/>
            <a:ext cx="45720" cy="5120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503834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7040"/>
                </a:solidFill>
                <a:latin typeface="游ゴシック"/>
              </a:rPr>
              <a:t>段ボール・紙製品は「紙」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5038344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同じ包装資材でも段ボールは「パルプ・紙・同製品」。上昇率は＋3.0％と、プラスチック製品の3分の1にとどまる。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5577840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53328" y="5577840"/>
            <a:ext cx="45720" cy="5120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562356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55A11"/>
                </a:solidFill>
                <a:latin typeface="游ゴシック"/>
              </a:rPr>
              <a:t>化学製品は1〜2か月先行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5623560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樹脂の原料である化学製品が動いてから、当社の仕入が動くまで1〜2か月（前月比の相関 r＝0.77）。先読みに使える。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出所：日本銀行「企業物価指数（2026年7月速報）」／総務省統計局「消費者物価指数」。②は2026年3月→7月の指数水準の変化、③は前年同月比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5876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游ゴシック"/>
              </a:rPr>
              <a:t>③ 現在の上昇率（2026年7月・前年同月比）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187952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4187952"/>
            <a:ext cx="45720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334256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総平均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企業物価指数の全体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891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1F3864"/>
                </a:solidFill>
                <a:latin typeface="游ゴシック"/>
              </a:rPr>
              <a:t>＋7.2％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36392" y="4187952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36392" y="4187952"/>
            <a:ext cx="45720" cy="9692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00984" y="4334256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プラスチック製品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当社の主力商品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3891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C00000"/>
                </a:solidFill>
                <a:latin typeface="游ゴシック"/>
              </a:rPr>
              <a:t>＋9.1％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266944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" y="5266944"/>
            <a:ext cx="45720" cy="9692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" y="5413248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化学製品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樹脂原料・先行指標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468112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B8860B"/>
                </a:solidFill>
                <a:latin typeface="游ゴシック"/>
              </a:rPr>
              <a:t>＋12.9％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36392" y="5266944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136392" y="5266944"/>
            <a:ext cx="45720" cy="9692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00984" y="5413248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パルプ・紙・同製品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段ボール・紙製品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468112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1F7040"/>
                </a:solidFill>
                <a:latin typeface="游ゴシック"/>
              </a:rPr>
              <a:t>＋6.0％</a:t>
            </a:r>
          </a:p>
        </p:txBody>
      </p:sp>
    </p:spTree>
    <p:extLst>
      <p:ext uri="{BB962C8B-B14F-4D97-AF65-F5344CB8AC3E}">
        <p14:creationId xmlns:p14="http://schemas.microsoft.com/office/powerpoint/2010/main" val="302535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価格は川上から川下へ、時間差で降りてくる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当社は「メーカーの価格改定を受ける側」。得意先に渡すまでには必ずラグが生じる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188720"/>
            <a:ext cx="173736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原油・ナフサ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輸入物価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游ゴシック"/>
              </a:rPr>
              <a:t>+29.1%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26564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04872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04872" y="1188720"/>
            <a:ext cx="1737360" cy="3840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石油・石炭製品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55A11"/>
                </a:solidFill>
                <a:latin typeface="游ゴシック"/>
              </a:rPr>
              <a:t>+17.5%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55948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4256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4256" y="1188720"/>
            <a:ext cx="1737360" cy="3840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98264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化学製品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55A11"/>
                </a:solidFill>
                <a:latin typeface="游ゴシック"/>
              </a:rPr>
              <a:t>+12.9%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85332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188720"/>
            <a:ext cx="17373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プラスチック製品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游ゴシック"/>
              </a:rPr>
              <a:t>+9.1%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014716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93024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93024" y="1188720"/>
            <a:ext cx="17373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2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当社の仕入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メーカー改定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游ゴシック"/>
              </a:rPr>
              <a:t>進行中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944100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22408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122408" y="1188720"/>
            <a:ext cx="1737360" cy="384048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86416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得意先の売価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コアCPI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6416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7040"/>
                </a:solidFill>
                <a:latin typeface="游ゴシック"/>
              </a:rPr>
              <a:t>+1.8%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2834640"/>
            <a:ext cx="10927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F3864"/>
                </a:solidFill>
                <a:latin typeface="游ゴシック"/>
              </a:rPr>
              <a:t>←　上流ほど変動が大きく反応が早い　　／　　下流ほど遅く、幅も小さい　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310128"/>
            <a:ext cx="5623560" cy="2761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3493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8860B"/>
                </a:solidFill>
                <a:latin typeface="游ゴシック"/>
              </a:rPr>
              <a:t>川上と川下の差は 半年で18倍に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3877056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游ゴシック"/>
              </a:rPr>
              <a:t>5.4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3159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6E4F0"/>
                </a:solidFill>
                <a:latin typeface="游ゴシック"/>
              </a:rPr>
              <a:t>ポイント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5488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6E4F0"/>
                </a:solidFill>
                <a:latin typeface="游ゴシック"/>
              </a:rPr>
              <a:t>企業物価 ＋7.2％ － コアCPI ＋1.8％（2026年7月）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138928"/>
            <a:ext cx="50749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2026年1月時点では 0.3ポイント差にすぎなかった。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仕入だけが上がり、売価が追いつかない構図が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この半年で一気に生まれている。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310128"/>
            <a:ext cx="5458968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65392" y="349300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游ゴシック"/>
              </a:rPr>
              <a:t>マクロが示すのは「圧力」であって「結果」ではない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895344"/>
            <a:ext cx="4983480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企業物価と消費者物価の差は、あくまで業界全体にかかる転嫁圧力の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大きさを示すもの。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>
              <a:solidFill>
                <a:srgbClr val="404040"/>
              </a:solidFill>
              <a:latin typeface="游ゴシック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当社が実際にどこまで売価へ転嫁できたのか、粗利益率を守れたのかは、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この指数からは分からない。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>
              <a:solidFill>
                <a:srgbClr val="404040"/>
              </a:solidFill>
              <a:latin typeface="游ゴシック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第2章では、当社の売上明細を商品群別・月別に集計し、売上数量・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平均売価・平均粗利を前年同月と比べることで、この圧力を実際に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どう受け止めたかを検証する。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出所：日本銀行「企業物価指数」「輸入物価指数（円ベース）」2026年7月速報／総務省統計局「消費者物価指数」</a:t>
            </a:r>
          </a:p>
        </p:txBody>
      </p:sp>
    </p:spTree>
    <p:extLst>
      <p:ext uri="{BB962C8B-B14F-4D97-AF65-F5344CB8AC3E}">
        <p14:creationId xmlns:p14="http://schemas.microsoft.com/office/powerpoint/2010/main" val="425339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売上の伸びは「単価」か「数量」か ―― 月次の推移【機械類を除く】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機械類を除いた包装資材ベース。同一商品コードで突合し、単価寄与と数量寄与に分解（単価寄与＋数量寄与＝金額増減）。2025年→2026年の各月比較。8月を追加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188720"/>
          <a:ext cx="1133856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202601～07売上明細（1〜7月）、2508・2608タカハシ包装売上全明細（8月）。単価はラスパイレス価格指数（前年数量ウエイト）。単価が前年比0.25〜4.0倍の範囲外の品目は除外</a:t>
            </a:r>
          </a:p>
        </p:txBody>
      </p:sp>
    </p:spTree>
    <p:extLst>
      <p:ext uri="{BB962C8B-B14F-4D97-AF65-F5344CB8AC3E}">
        <p14:creationId xmlns:p14="http://schemas.microsoft.com/office/powerpoint/2010/main" val="53107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商品群別の単月推移 ―― 4〜8月の単価・数量寄与【機械類を除く】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各月とも前年同月との比較。同一商品コードで突合し、単価寄与と数量寄与に分解。8月は単価主導が続き、食品容器・消耗品は数量減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143000"/>
          <a:ext cx="11338560" cy="516636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4〜7月）、2508・2608タカハシ包装売上全明細（8月）を商品群_新旧対応表で分類。ラスパイレス価格指数（前年数量ウエイト）。単価が前年比0.25〜4.0倍の範囲外は除外。木箱は品目数不足のため非表示</a:t>
            </a:r>
          </a:p>
        </p:txBody>
      </p:sp>
    </p:spTree>
    <p:extLst>
      <p:ext uri="{BB962C8B-B14F-4D97-AF65-F5344CB8AC3E}">
        <p14:creationId xmlns:p14="http://schemas.microsoft.com/office/powerpoint/2010/main" val="204405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営業所別の単月推移 ―― 4〜8月の単価・数量寄与【機械類を除く】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各月とも前年同月との比較。営業所は担当者コードで突合。8月は全営業所で単価＋16〜24％、数量プラスは水産部と広域のみ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143000"/>
          <a:ext cx="11338560" cy="480060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108192"/>
            <a:ext cx="4572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108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B8860B"/>
                </a:solidFill>
                <a:latin typeface="游ゴシック"/>
              </a:rPr>
              <a:t>ポイント：</a:t>
            </a:r>
            <a:r>
              <a:rPr sz="1050" b="0">
                <a:solidFill>
                  <a:srgbClr val="404040"/>
                </a:solidFill>
                <a:latin typeface="游ゴシック"/>
              </a:rPr>
              <a:t>単価・数量の伸びはそのまま来期のベースになる。伸びが大きかった営業所ほどベースが高くなり、その分だけ第52期の目標も高くなる。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202601～07売上明細（4〜7月）、2508・2608タカハシ包装売上全明細（8月）。担当者コードで営業所に突合。ラスパイレス価格指数（前年数量ウエイト）。単価が前年比0.25〜4.0倍の範囲外は除外</a:t>
            </a:r>
          </a:p>
        </p:txBody>
      </p:sp>
    </p:spTree>
    <p:extLst>
      <p:ext uri="{BB962C8B-B14F-4D97-AF65-F5344CB8AC3E}">
        <p14:creationId xmlns:p14="http://schemas.microsoft.com/office/powerpoint/2010/main" val="204405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現状分析まとめ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游ゴシック"/>
                <a:ea typeface="游ゴシック"/>
              </a:rPr>
              <a:t>第52期の置き方 ―― 3つのシナリオと採用案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D6DCE5"/>
                </a:solidFill>
                <a:latin typeface="游ゴシック"/>
                <a:ea typeface="游ゴシック"/>
              </a:rPr>
              <a:t>単価は上期に高く4月以降は剥落。7〜9月はシナリオ別に▲2％／0％／＋5％。数量は③のみ消費減税の効果を織り込む。数字は12か月の単純平均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6400" y="3022600"/>
            <a:ext cx="3619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6400" y="3022600"/>
            <a:ext cx="50800" cy="2362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4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C00000"/>
                </a:solidFill>
                <a:latin typeface="游ゴシック"/>
                <a:ea typeface="游ゴシック"/>
              </a:rPr>
              <a:t>① 慎重シナリオ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C00000"/>
                </a:solidFill>
                <a:latin typeface="游ゴシック"/>
                <a:ea typeface="游ゴシック"/>
              </a:rPr>
              <a:t>＋2.8％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上期（10〜3月）＋5％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4→3→2％と剥落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▲2％（値下げ圧力）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数量：反動で▲3％</a:t>
            </a:r>
          </a:p>
        </p:txBody>
      </p:sp>
      <p:sp>
        <p:nvSpPr>
          <p:cNvPr id="60" name="Shape 60"/>
          <p:cNvSpPr/>
          <p:nvPr/>
        </p:nvSpPr>
        <p:spPr>
          <a:xfrm>
            <a:off x="4216400" y="3022600"/>
            <a:ext cx="3619500" cy="2362200"/>
          </a:xfrm>
          <a:prstGeom prst="rect">
            <a:avLst/>
          </a:prstGeom>
          <a:solidFill>
            <a:srgbClr val="EAF0F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Shape 61"/>
          <p:cNvSpPr/>
          <p:nvPr/>
        </p:nvSpPr>
        <p:spPr>
          <a:xfrm>
            <a:off x="4216400" y="3022600"/>
            <a:ext cx="50800" cy="2362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Shape 62"/>
          <p:cNvSpPr txBox="1"/>
          <p:nvPr/>
        </p:nvSpPr>
        <p:spPr>
          <a:xfrm>
            <a:off x="44704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1F3864"/>
                </a:solidFill>
                <a:latin typeface="游ゴシック"/>
                <a:ea typeface="游ゴシック"/>
              </a:rPr>
              <a:t>② 標準シナリオ（採用）</a:t>
            </a:r>
          </a:p>
        </p:txBody>
      </p:sp>
      <p:sp>
        <p:nvSpPr>
          <p:cNvPr id="63" name="Shape 63"/>
          <p:cNvSpPr txBox="1"/>
          <p:nvPr/>
        </p:nvSpPr>
        <p:spPr>
          <a:xfrm>
            <a:off x="44704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1F3864"/>
                </a:solidFill>
                <a:latin typeface="游ゴシック"/>
                <a:ea typeface="游ゴシック"/>
              </a:rPr>
              <a:t>＋6.5％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上期（10〜3月）＋10％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8→6→4％と剥落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0％（前年並み）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数量：横ばい（減税効果は見込まず）</a:t>
            </a:r>
          </a:p>
        </p:txBody>
      </p:sp>
      <p:sp>
        <p:nvSpPr>
          <p:cNvPr id="64" name="Shape 64"/>
          <p:cNvSpPr/>
          <p:nvPr/>
        </p:nvSpPr>
        <p:spPr>
          <a:xfrm>
            <a:off x="8013700" y="3022600"/>
            <a:ext cx="3619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Shape 65"/>
          <p:cNvSpPr/>
          <p:nvPr/>
        </p:nvSpPr>
        <p:spPr>
          <a:xfrm>
            <a:off x="8013700" y="3022600"/>
            <a:ext cx="50800" cy="2362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82677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C55A11"/>
                </a:solidFill>
                <a:latin typeface="游ゴシック"/>
                <a:ea typeface="游ゴシック"/>
              </a:rPr>
              <a:t>③ 強気シナリオ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82677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C55A11"/>
                </a:solidFill>
                <a:latin typeface="游ゴシック"/>
                <a:ea typeface="游ゴシック"/>
              </a:rPr>
              <a:t>＋14.0％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上期（10〜3月）＋19％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16→13→10％と剥落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＋5％（高止まり）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数量：消費減税の押し上げで＋3％</a:t>
            </a:r>
          </a:p>
        </p:txBody>
      </p:sp>
      <p:sp>
        <p:nvSpPr>
          <p:cNvPr id="90" name="Rectangle 90"/>
          <p:cNvSpPr/>
          <p:nvPr/>
        </p:nvSpPr>
        <p:spPr>
          <a:xfrm>
            <a:off x="406400" y="1117600"/>
            <a:ext cx="11353800" cy="172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91" name="TextBox 91"/>
          <p:cNvSpPr txBox="1"/>
          <p:nvPr/>
        </p:nvSpPr>
        <p:spPr>
          <a:xfrm>
            <a:off x="711200" y="121920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今回のポイント </a:t>
            </a:r>
            <a:r>
              <a:rPr lang="en-US" altLang="ja-JP" sz="1400" b="1">
                <a:solidFill>
                  <a:srgbClr val="FFD966"/>
                </a:solidFill>
                <a:latin typeface="游ゴシック"/>
                <a:ea typeface="游ゴシック"/>
              </a:rPr>
              <a:t>―― </a:t>
            </a: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判断が難しい</a:t>
            </a:r>
            <a:r>
              <a:rPr lang="en-US" altLang="ja-JP" sz="1400" b="1">
                <a:solidFill>
                  <a:srgbClr val="FFD966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点</a:t>
            </a:r>
            <a:endParaRPr lang="ja-JP" altLang="en-US" sz="1400" b="1" dirty="0">
              <a:solidFill>
                <a:srgbClr val="FFD966"/>
              </a:solidFill>
              <a:latin typeface="游ゴシック"/>
              <a:ea typeface="游ゴシック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日本銀行「企業物価指数」2026年7月速報／202501〜07・202601〜07売上明細／各社の2027年3月期第1四半期決算短信・決算説明資料／第51期着地及び第52期計画策定資料（第52期計画D）。シナリオ①③は当社試算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74014B7-FD08-4650-A589-95DB1EE120F5}"/>
              </a:ext>
            </a:extLst>
          </p:cNvPr>
          <p:cNvSpPr/>
          <p:nvPr/>
        </p:nvSpPr>
        <p:spPr>
          <a:xfrm>
            <a:off x="71120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① 物価指数の単価上昇率（約</a:t>
            </a:r>
            <a:r>
              <a:rPr lang="en-US" altLang="ja-JP" sz="1200" b="1">
                <a:solidFill>
                  <a:srgbClr val="FFFFFF"/>
                </a:solidFill>
                <a:latin typeface="游ゴシック"/>
                <a:ea typeface="游ゴシック"/>
              </a:rPr>
              <a:t>10</a:t>
            </a:r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％）が今後どこまで続くか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81A282E-6B42-4B87-B6A4-FBFED08AD596}"/>
              </a:ext>
            </a:extLst>
          </p:cNvPr>
          <p:cNvSpPr/>
          <p:nvPr/>
        </p:nvSpPr>
        <p:spPr>
          <a:xfrm>
            <a:off x="343535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② 当社実績の単価上昇率（約</a:t>
            </a:r>
            <a:r>
              <a:rPr lang="en-US" altLang="ja-JP" sz="1200" b="1">
                <a:solidFill>
                  <a:srgbClr val="FFFFFF"/>
                </a:solidFill>
                <a:latin typeface="游ゴシック"/>
                <a:ea typeface="游ゴシック"/>
              </a:rPr>
              <a:t>20</a:t>
            </a:r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％）をどこまで維持できるか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8B05967-522C-40FC-AB72-0BD49ABEEA3F}"/>
              </a:ext>
            </a:extLst>
          </p:cNvPr>
          <p:cNvSpPr/>
          <p:nvPr/>
        </p:nvSpPr>
        <p:spPr>
          <a:xfrm>
            <a:off x="615950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③ 駆け込み需要の反動で数量がどこまで減るか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E9C798-DF16-4FF5-A8EA-9DD85D615686}"/>
              </a:ext>
            </a:extLst>
          </p:cNvPr>
          <p:cNvSpPr/>
          <p:nvPr/>
        </p:nvSpPr>
        <p:spPr>
          <a:xfrm>
            <a:off x="888365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④ 原料・為替・海上運賃など、価格動向の不透明さ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5BE5237-C603-49AF-8B62-9954D6F44DE8}"/>
              </a:ext>
            </a:extLst>
          </p:cNvPr>
          <p:cNvSpPr txBox="1"/>
          <p:nvPr/>
        </p:nvSpPr>
        <p:spPr>
          <a:xfrm>
            <a:off x="711200" y="2489200"/>
            <a:ext cx="10744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この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点は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8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月実績を確認したうえで最終確定する。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2027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年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月からの食品消費減税による数量増は計画に織り込まず、バッファーとして持つ。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8E2489B-0AFB-49B3-82CC-12C7063676B1}"/>
              </a:ext>
            </a:extLst>
          </p:cNvPr>
          <p:cNvSpPr/>
          <p:nvPr/>
        </p:nvSpPr>
        <p:spPr>
          <a:xfrm>
            <a:off x="406400" y="5588000"/>
            <a:ext cx="11353800" cy="736600"/>
          </a:xfrm>
          <a:prstGeom prst="rect">
            <a:avLst/>
          </a:prstGeom>
          <a:solidFill>
            <a:srgbClr val="1F3864"/>
          </a:solidFill>
          <a:ln w="1905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採用：② 標準シナリオ　上期＋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10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％→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月以降剥落→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7〜9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月は前年並み、通期平均＋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6.5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％・数量横ばい</a:t>
            </a:r>
          </a:p>
        </p:txBody>
      </p:sp>
    </p:spTree>
    <p:extLst>
      <p:ext uri="{BB962C8B-B14F-4D97-AF65-F5344CB8AC3E}">
        <p14:creationId xmlns:p14="http://schemas.microsoft.com/office/powerpoint/2010/main" val="395526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第6章　第52期計画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第52期計画への道筋 ―― 各営業所提出計画を、経営計画書記載の目標と比較する</a:t>
            </a:r>
            <a:endParaRPr lang="ja-JP" altLang="en-US" sz="2000" b="1" dirty="0">
              <a:solidFill>
                <a:srgbClr val="FFFFFF"/>
              </a:solidFill>
              <a:latin typeface="游ゴシック"/>
              <a:ea typeface="游ゴシック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1050" b="0">
                <a:solidFill>
                  <a:srgbClr val="D6DCE5"/>
                </a:solidFill>
                <a:latin typeface="游ゴシック"/>
                <a:ea typeface="游ゴシック"/>
              </a:rPr>
              <a:t>各営業所提出計画（包装資材＋荷役／機械の内訳あり）と、当初の経営計画書記載計画（合計のみ）との差異を確認する。単位：千円</a:t>
            </a:r>
            <a:endParaRPr lang="ja-JP" altLang="en-US" sz="1050" b="0" dirty="0">
              <a:solidFill>
                <a:srgbClr val="D6DCE5"/>
              </a:solidFill>
              <a:latin typeface="游ゴシック"/>
              <a:ea typeface="游ゴシック"/>
            </a:endParaRP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3611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3611880" cy="411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298448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各営業所提出計画（合計）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554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游ゴシック"/>
              </a:rPr>
              <a:t>3,918,030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029967"/>
            <a:ext cx="32826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＋7.3％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170432"/>
            <a:ext cx="3611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1170432"/>
            <a:ext cx="361188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1298448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うち　包装資材＋荷役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554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8860B"/>
                </a:solidFill>
                <a:latin typeface="游ゴシック"/>
              </a:rPr>
              <a:t>3,738,530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29967"/>
            <a:ext cx="32826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＋9.0％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170432"/>
            <a:ext cx="38404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9560" y="1170432"/>
            <a:ext cx="3840480" cy="4114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1298448"/>
            <a:ext cx="35112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うち　機械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1554480"/>
            <a:ext cx="35112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595959"/>
                </a:solidFill>
                <a:latin typeface="游ゴシック"/>
              </a:rPr>
              <a:t>179,500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2029967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▲18.5％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16352"/>
            <a:ext cx="1133856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ctr"/>
            <a:r>
              <a:rPr sz="1500" b="1">
                <a:solidFill>
                  <a:srgbClr val="FFD966"/>
                </a:solidFill>
                <a:latin typeface="游ゴシック"/>
              </a:rPr>
              <a:t>各営業所提出計画（合計） 3,918,030</a:t>
            </a:r>
            <a:r>
              <a:rPr sz="1500" b="1">
                <a:solidFill>
                  <a:srgbClr val="FFFFFF"/>
                </a:solidFill>
                <a:latin typeface="游ゴシック"/>
              </a:rPr>
              <a:t>　vs　第52期計画（経営計画書記載） 4,070,000　＝　差異 </a:t>
            </a:r>
            <a:r>
              <a:rPr sz="1500" b="1">
                <a:solidFill>
                  <a:srgbClr val="FF9999"/>
                </a:solidFill>
                <a:latin typeface="游ゴシック"/>
              </a:rPr>
              <a:t>▲151,970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56432"/>
            <a:ext cx="11338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F5A00"/>
                </a:solidFill>
                <a:latin typeface="游ゴシック"/>
              </a:rPr>
              <a:t>※ 経営計画書記載計画（4,070,000）は包装資材と機械を分けていないため、比較は合計ベースにとどめる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31920"/>
            <a:ext cx="1133856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3931920"/>
            <a:ext cx="54864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4133087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・各営業所提出計画は、包装資材＋荷役 3,738,530（対第51期見込 ＋9.0％）、機械 179,500（対第51期見込 ▲18.5％）の合計。</a:t>
            </a:r>
          </a:p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・当初の経営計画書記載計画（4,070,000）との差異は ▲151,970。現時点の営業所提出計画は、経営計画書の目標にまだ届いていない。</a:t>
            </a:r>
          </a:p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・8月実績の単価上昇率・数量の動きを確認したうえで、各営業所には9月上旬までに計画の再提出をお願いする。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出所：第51期着地及び第52期計画策定資料（第52期計画D）。各営業所提出計画は2026年8月時点。経営計画書記載計画は当初策定値</a:t>
            </a:r>
          </a:p>
        </p:txBody>
      </p:sp>
    </p:spTree>
    <p:extLst>
      <p:ext uri="{BB962C8B-B14F-4D97-AF65-F5344CB8AC3E}">
        <p14:creationId xmlns:p14="http://schemas.microsoft.com/office/powerpoint/2010/main" val="4195547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第6章　第52期計画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各営業所提出計画の水準 </a:t>
            </a:r>
            <a:r>
              <a:rPr lang="en-US" altLang="ja-JP" sz="2000" b="1">
                <a:solidFill>
                  <a:srgbClr val="FFFFFF"/>
                </a:solidFill>
                <a:latin typeface="游ゴシック"/>
                <a:ea typeface="游ゴシック"/>
              </a:rPr>
              <a:t>―― </a:t>
            </a: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過年度平均との比較と、計画とのギャップ</a:t>
            </a:r>
            <a:endParaRPr lang="ja-JP" altLang="en-US" sz="2000" b="1" dirty="0">
              <a:solidFill>
                <a:srgbClr val="FFFFFF"/>
              </a:solidFill>
              <a:latin typeface="游ゴシック"/>
              <a:ea typeface="游ゴシック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過年度平均＝第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50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期実績と第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期見込の平均。計画年率＝第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期提出計画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÷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期見込−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。単位：千円</a:t>
            </a:r>
            <a:endParaRPr lang="ja-JP" altLang="en-US" sz="1000" dirty="0">
              <a:solidFill>
                <a:srgbClr val="D6DCE5"/>
              </a:solidFill>
              <a:latin typeface="游ゴシック"/>
              <a:ea typeface="游ゴシック"/>
            </a:endParaRP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出所：第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期着地及び第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期計画策定資料（第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期着地見込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C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・第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期計画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D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）。粗利益増加分は配分額に各区分の第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期見込粗利益率を乗じたもの</a:t>
            </a:r>
            <a:endParaRPr lang="ja-JP" altLang="en-US" sz="800" b="0" dirty="0">
              <a:solidFill>
                <a:srgbClr val="808080"/>
              </a:solidFill>
              <a:latin typeface="游ゴシック"/>
              <a:ea typeface="游ゴシック"/>
            </a:endParaRP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FB9DA2D6-C871-4CA6-A94A-E0A682E7B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334853"/>
              </p:ext>
            </p:extLst>
          </p:nvPr>
        </p:nvGraphicFramePr>
        <p:xfrm>
          <a:off x="406400" y="1066800"/>
          <a:ext cx="11353800" cy="5051806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140620479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37048974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7019298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0696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572026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74597044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2345494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29602541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88616284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13965178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部門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人員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区分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第50期
実績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第51期
見込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過年度
平均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第52期
提出計画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過年度平均比
（増減額）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計画年率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粗利益率
（見込）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559326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石見営業所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営業4＋M1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747,800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829,800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788,800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871,000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＋82,200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＋5.0％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28.3％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46056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31,100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21,700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48,000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＋21,600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＋121.5％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4747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14,300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＋11.9％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308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下関営業所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528,700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552,300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540,500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587,700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＋47,200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＋6.4％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21.0％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719909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＋92.6％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13.9％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582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＋26.5％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686917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松江営業所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324,600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368,700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346,700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425,000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＋78,300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＋15.3％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781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29,000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▲30.9％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197902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64,600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38,500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▲51,600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▲100.0％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769724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広域営業部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502,900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523,500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513,200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557,000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＋43,800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＋6.4％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16.7％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683644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▲2,700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▲100.0％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18.2％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447627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境港営業所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営業4＋M2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536,500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575,300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555,900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662,400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＋106,500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＋15.1％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0467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226,000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147,400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186,700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▲94,700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▲37.6％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22.2％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3742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42802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営業部門合計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営業15＋M3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2,992,900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3,114,000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3,053,500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3,298,400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＋244,900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＋5.9％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22.3％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019728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水産部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包装資材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329,800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434,100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382,000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525,600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＋143,600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＋21.1％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24.5％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11265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荷役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85,400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88,800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＋3,800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＋0.4％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60.6％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3122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▲4,500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▲85.0％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19.8％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86458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水産部合計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417,200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536,300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476,800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619,700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＋142,900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＋15.5％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30.6％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90551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営業15＋M3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3,410,000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3,650,400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3,530,200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3,918,100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＋387,900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＋7.3％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23.6％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309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第52期計画（経営計画書記載）4,070,000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ギャップ 151,900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1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18951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8月単月の要因分解 ―― 単価＋19.6％、数量▲2.5％【機械類を除く】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2025年8月と2026年8月を同一商品コードで突合し、単価寄与と数量寄与に分解。単位：千円（突合できた品目の売上合計）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出所：2508・2608タカハシ包装売上全明細。ラスパイレス価格指数（前年数量ウエイト）。単価が前年比0.25〜4.0倍の範囲外の品目は除外。木箱は品目数不足のため非表示。営業所は担当者コードで突合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1143000"/>
            <a:ext cx="55778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商品群別（機械類を除く）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435608"/>
          <a:ext cx="5577838" cy="2075688"/>
        </p:xfrm>
        <a:graphic>
          <a:graphicData uri="http://schemas.openxmlformats.org/drawingml/2006/table">
            <a:tbl>
              <a:tblPr firstRow="0" bandRow="0"/>
              <a:tblGrid>
                <a:gridCol w="1575350"/>
                <a:gridCol w="503745"/>
                <a:gridCol w="732721"/>
                <a:gridCol w="732721"/>
                <a:gridCol w="677767"/>
                <a:gridCol w="677767"/>
                <a:gridCol w="677767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区分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突合
品目数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前年8月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当年8月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金額増減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単価寄与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数量寄与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食品容器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1,493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66,190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76,981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＋16.3％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＋23.9％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▲7.6％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フィルム・袋・ラミネート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449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35,441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45,564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＋28.6％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＋25.9％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＋2.6％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紙箱・紙製品・ラベル・段ボール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565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30,498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33,342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＋9.3％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＋7.9％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消耗品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87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2,604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2,679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＋11.4％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▲8.5％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荷役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4,404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3,969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▲9.9％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▲7.5％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その他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21,091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24,886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＋18.0％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▲0.6％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全社（機械類除く）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3,071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160,433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187,727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＋17.0％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＋19.6％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▲2.5％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99632" y="1143000"/>
            <a:ext cx="55778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営業所別（機械類を除く）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35608"/>
          <a:ext cx="5577838" cy="2075688"/>
        </p:xfrm>
        <a:graphic>
          <a:graphicData uri="http://schemas.openxmlformats.org/drawingml/2006/table">
            <a:tbl>
              <a:tblPr firstRow="0" bandRow="0"/>
              <a:tblGrid>
                <a:gridCol w="1575350"/>
                <a:gridCol w="503745"/>
                <a:gridCol w="732721"/>
                <a:gridCol w="732721"/>
                <a:gridCol w="677767"/>
                <a:gridCol w="677767"/>
                <a:gridCol w="677767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区分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突合
品目数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前年8月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当年8月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金額増減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単価寄与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数量寄与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石見営業所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1,130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33,942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38,144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＋12.4％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＋18.8％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▲6.5％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下関営業所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27,880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31,623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＋13.4％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＋16.5％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▲3.1％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松江営業所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918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18,694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23,058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＋23.3％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＋23.9％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▲0.5％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広域営業部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34,411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41,292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＋20.0％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＋1.1％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境港営業所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272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12,374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13,721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＋10.9％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＋17.1％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▲6.2％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水産部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23,432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30,588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＋30.5％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＋19.8％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＋10.7％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全社（機械類除く）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3,071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160,433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187,727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＋17.0％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＋19.6％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▲2.5％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1148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B8860B"/>
                </a:solidFill>
                <a:latin typeface="游ゴシック"/>
              </a:rPr>
              <a:t>① 8月も単価主導。数量は2か月連続でマイナス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突合品目ベースの金額増減＋17.0％のうち、単価寄与＋19.6％・数量寄与▲2.5％。7月（単価＋19.0％・数量▲1.2％）に続き、単価上昇が売上を押し上げる一方で数量は弱い。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② 食品容器は単価＋23.9％だが数量▲7.6％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フィルム・袋は単価＋25.9％に数量＋2.6％が上乗せ。紙箱・段ボールは単価＋7.9％と転嫁が緩やか。消耗品は数量▲8.5％、荷役は単価▲7.5％と唯一の単価マイナス。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4472C4"/>
                </a:solidFill>
                <a:latin typeface="游ゴシック"/>
              </a:rPr>
              <a:t>③ 数量がプラスの営業所は水産部と広域のみ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水産部は単価＋19.8％・数量＋10.7％と数量を伴う伸び。松江は単価＋23.9％で最大。石見▲6.5％・境港▲6.2％・下関▲3.1％と数量減が目立つ。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1133856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游ゴシック"/>
              </a:rPr>
              <a:t>※ 包装資材計（機械類除く）の8月売上は前年比＋7.5％（240.4→258.5百万円）。同一品目で突合できた分は＋17.0％で、差は品目の入替（新規・終売）による。全社売上は機械類（前年8月87.5百万円→8.1百万円）の反動で▲18.7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AB0F67-F9FA-4CE2-BD62-CC2027D1E17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c6c036-36f8-4e6d-bc86-8c221dd933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2156</Words>
  <Application>Microsoft Office PowerPoint</Application>
  <PresentationFormat>ワイド画面</PresentationFormat>
  <Paragraphs>584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HGSeikaishotaiPRO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ma-takahashi</dc:creator>
  <cp:keywords/>
  <dc:description>generated using python-pptx</dc:description>
  <cp:lastModifiedBy>ma-takahashi</cp:lastModifiedBy>
  <cp:revision>7</cp:revision>
  <dcterms:created xsi:type="dcterms:W3CDTF">2013-01-27T09:14:16Z</dcterms:created>
  <dcterms:modified xsi:type="dcterms:W3CDTF">2026-08-27T07:56:50Z</dcterms:modified>
  <cp:category/>
</cp:coreProperties>
</file>