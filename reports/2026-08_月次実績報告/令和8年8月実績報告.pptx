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単月8月</c:v>
                </c:pt>
              </c:strCache>
            </c:strRef>
          </c:tx>
          <c:spPr>
            <a:solidFill>
              <a:srgbClr val="D4820A"/>
            </a:solidFill>
          </c:spPr>
          <c:cat>
            <c:strRef>
              <c:f>Sheet1!$A$2:$A$8</c:f>
              <c:strCache>
                <c:ptCount val="7"/>
                <c:pt idx="0">
                  <c:v>石見</c:v>
                </c:pt>
                <c:pt idx="1">
                  <c:v>下関</c:v>
                </c:pt>
                <c:pt idx="2">
                  <c:v>松江</c:v>
                </c:pt>
                <c:pt idx="3">
                  <c:v>広域</c:v>
                </c:pt>
                <c:pt idx="4">
                  <c:v>境港</c:v>
                </c:pt>
                <c:pt idx="5">
                  <c:v>水産部</c:v>
                </c:pt>
                <c:pt idx="6">
                  <c:v>キョウワ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101.5</c:v>
                </c:pt>
                <c:pt idx="1">
                  <c:v>111.1</c:v>
                </c:pt>
                <c:pt idx="2">
                  <c:v>130.5</c:v>
                </c:pt>
                <c:pt idx="3">
                  <c:v>150.3</c:v>
                </c:pt>
                <c:pt idx="4">
                  <c:v>38.9</c:v>
                </c:pt>
                <c:pt idx="5">
                  <c:v>112.5</c:v>
                </c:pt>
                <c:pt idx="6">
                  <c:v>229.7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下期4〜8月</c:v>
                </c:pt>
              </c:strCache>
            </c:strRef>
          </c:tx>
          <c:spPr>
            <a:solidFill>
              <a:srgbClr val="2E5E8E"/>
            </a:solidFill>
          </c:spPr>
          <c:cat>
            <c:strRef>
              <c:f>Sheet1!$A$2:$A$8</c:f>
              <c:strCache>
                <c:ptCount val="7"/>
                <c:pt idx="0">
                  <c:v>石見</c:v>
                </c:pt>
                <c:pt idx="1">
                  <c:v>下関</c:v>
                </c:pt>
                <c:pt idx="2">
                  <c:v>松江</c:v>
                </c:pt>
                <c:pt idx="3">
                  <c:v>広域</c:v>
                </c:pt>
                <c:pt idx="4">
                  <c:v>境港</c:v>
                </c:pt>
                <c:pt idx="5">
                  <c:v>水産部</c:v>
                </c:pt>
                <c:pt idx="6">
                  <c:v>キョウワ</c:v>
                </c:pt>
              </c:strCache>
            </c: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119.3</c:v>
                </c:pt>
                <c:pt idx="1">
                  <c:v>114.0</c:v>
                </c:pt>
                <c:pt idx="2">
                  <c:v>124.9</c:v>
                </c:pt>
                <c:pt idx="3">
                  <c:v>141.1</c:v>
                </c:pt>
                <c:pt idx="4">
                  <c:v>98.6</c:v>
                </c:pt>
                <c:pt idx="5">
                  <c:v>126.9</c:v>
                </c:pt>
                <c:pt idx="6">
                  <c:v>96.3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期初来10〜8月</c:v>
                </c:pt>
              </c:strCache>
            </c:strRef>
          </c:tx>
          <c:spPr>
            <a:solidFill>
              <a:srgbClr val="1B2F4B"/>
            </a:solidFill>
          </c:spPr>
          <c:cat>
            <c:strRef>
              <c:f>Sheet1!$A$2:$A$8</c:f>
              <c:strCache>
                <c:ptCount val="7"/>
                <c:pt idx="0">
                  <c:v>石見</c:v>
                </c:pt>
                <c:pt idx="1">
                  <c:v>下関</c:v>
                </c:pt>
                <c:pt idx="2">
                  <c:v>松江</c:v>
                </c:pt>
                <c:pt idx="3">
                  <c:v>広域</c:v>
                </c:pt>
                <c:pt idx="4">
                  <c:v>境港</c:v>
                </c:pt>
                <c:pt idx="5">
                  <c:v>水産部</c:v>
                </c:pt>
                <c:pt idx="6">
                  <c:v>キョウワ</c:v>
                </c:pt>
              </c:strCache>
            </c: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109.9</c:v>
                </c:pt>
                <c:pt idx="1">
                  <c:v>106.1</c:v>
                </c:pt>
                <c:pt idx="2">
                  <c:v>118.1</c:v>
                </c:pt>
                <c:pt idx="3">
                  <c:v>117.1</c:v>
                </c:pt>
                <c:pt idx="4">
                  <c:v>100.0</c:v>
                </c:pt>
                <c:pt idx="5">
                  <c:v>135.0</c:v>
                </c:pt>
                <c:pt idx="6">
                  <c:v>94.6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sz="800" b="1">
                  <a:latin typeface="Meiryo UI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overlap val="-8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>
                <a:solidFill>
                  <a:srgbClr val="1B2F4B"/>
                </a:solidFill>
                <a:latin typeface="Meiryo UI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250.0"/>
          <c:min val="0.0"/>
        </c:scaling>
        <c:delete val="0"/>
        <c:axPos val="l"/>
        <c:majorGridlines>
          <c:spPr>
            <a:ln w="6350">
              <a:solidFill>
                <a:srgbClr val="CBD5E0"/>
              </a:solidFill>
            </a:ln>
          </c:spPr>
        </c:majorGridlines>
        <c:majorTickMark val="out"/>
        <c:minorTickMark val="none"/>
        <c:tickLblPos val="nextTo"/>
        <c:txPr>
          <a:bodyPr/>
          <a:lstStyle/>
          <a:p>
            <a:pPr>
              <a:defRPr sz="900">
                <a:solidFill>
                  <a:srgbClr val="64748B"/>
                </a:solidFill>
                <a:latin typeface="Meiryo UI"/>
              </a:defRPr>
            </a:pPr>
          </a:p>
        </c:txPr>
        <c:crossAx val="-2068027336"/>
        <c:crosses val="autoZero"/>
        <c:majorUnit val="25.0"/>
      </c:valAx>
    </c:plotArea>
    <c:legend>
      <c:legendPos val="t"/>
      <c:overlay val="0"/>
      <c:txPr>
        <a:bodyPr/>
        <a:lstStyle/>
        <a:p>
          <a:pPr>
            <a:defRPr sz="1000">
              <a:latin typeface="Meiryo UI"/>
            </a:defRPr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単月8月</c:v>
                </c:pt>
              </c:strCache>
            </c:strRef>
          </c:tx>
          <c:spPr>
            <a:solidFill>
              <a:srgbClr val="D4820A"/>
            </a:solidFill>
          </c:spPr>
          <c:cat>
            <c:strRef>
              <c:f>Sheet1!$A$2:$A$8</c:f>
              <c:strCache>
                <c:ptCount val="7"/>
                <c:pt idx="0">
                  <c:v>石見</c:v>
                </c:pt>
                <c:pt idx="1">
                  <c:v>下関</c:v>
                </c:pt>
                <c:pt idx="2">
                  <c:v>松江</c:v>
                </c:pt>
                <c:pt idx="3">
                  <c:v>広域</c:v>
                </c:pt>
                <c:pt idx="4">
                  <c:v>境港</c:v>
                </c:pt>
                <c:pt idx="5">
                  <c:v>水産部</c:v>
                </c:pt>
                <c:pt idx="6">
                  <c:v>キョウワ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290</c:v>
                </c:pt>
                <c:pt idx="1">
                  <c:v>921</c:v>
                </c:pt>
                <c:pt idx="2">
                  <c:v>2227</c:v>
                </c:pt>
                <c:pt idx="3">
                  <c:v>3063</c:v>
                </c:pt>
                <c:pt idx="4">
                  <c:v>-13147</c:v>
                </c:pt>
                <c:pt idx="5">
                  <c:v>972</c:v>
                </c:pt>
                <c:pt idx="6">
                  <c:v>973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下期4〜8月</c:v>
                </c:pt>
              </c:strCache>
            </c:strRef>
          </c:tx>
          <c:spPr>
            <a:solidFill>
              <a:srgbClr val="2E5E8E"/>
            </a:solidFill>
          </c:spPr>
          <c:cat>
            <c:strRef>
              <c:f>Sheet1!$A$2:$A$8</c:f>
              <c:strCache>
                <c:ptCount val="7"/>
                <c:pt idx="0">
                  <c:v>石見</c:v>
                </c:pt>
                <c:pt idx="1">
                  <c:v>下関</c:v>
                </c:pt>
                <c:pt idx="2">
                  <c:v>松江</c:v>
                </c:pt>
                <c:pt idx="3">
                  <c:v>広域</c:v>
                </c:pt>
                <c:pt idx="4">
                  <c:v>境港</c:v>
                </c:pt>
                <c:pt idx="5">
                  <c:v>水産部</c:v>
                </c:pt>
                <c:pt idx="6">
                  <c:v>キョウワ</c:v>
                </c:pt>
              </c:strCache>
            </c: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17239</c:v>
                </c:pt>
                <c:pt idx="1">
                  <c:v>6248</c:v>
                </c:pt>
                <c:pt idx="2">
                  <c:v>9222</c:v>
                </c:pt>
                <c:pt idx="3">
                  <c:v>13090</c:v>
                </c:pt>
                <c:pt idx="4">
                  <c:v>-798</c:v>
                </c:pt>
                <c:pt idx="5">
                  <c:v>14718</c:v>
                </c:pt>
                <c:pt idx="6">
                  <c:v>-265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期初来10〜8月</c:v>
                </c:pt>
              </c:strCache>
            </c:strRef>
          </c:tx>
          <c:spPr>
            <a:solidFill>
              <a:srgbClr val="1B2F4B"/>
            </a:solidFill>
          </c:spPr>
          <c:cat>
            <c:strRef>
              <c:f>Sheet1!$A$2:$A$8</c:f>
              <c:strCache>
                <c:ptCount val="7"/>
                <c:pt idx="0">
                  <c:v>石見</c:v>
                </c:pt>
                <c:pt idx="1">
                  <c:v>下関</c:v>
                </c:pt>
                <c:pt idx="2">
                  <c:v>松江</c:v>
                </c:pt>
                <c:pt idx="3">
                  <c:v>広域</c:v>
                </c:pt>
                <c:pt idx="4">
                  <c:v>境港</c:v>
                </c:pt>
                <c:pt idx="5">
                  <c:v>水産部</c:v>
                </c:pt>
                <c:pt idx="6">
                  <c:v>キョウワ</c:v>
                </c:pt>
              </c:strCache>
            </c: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19943</c:v>
                </c:pt>
                <c:pt idx="1">
                  <c:v>6254</c:v>
                </c:pt>
                <c:pt idx="2">
                  <c:v>15190</c:v>
                </c:pt>
                <c:pt idx="3">
                  <c:v>11879</c:v>
                </c:pt>
                <c:pt idx="4">
                  <c:v>-19</c:v>
                </c:pt>
                <c:pt idx="5">
                  <c:v>38916</c:v>
                </c:pt>
                <c:pt idx="6">
                  <c:v>-948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sz="700" b="1">
                  <a:latin typeface="Meiryo UI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overlap val="-8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low"/>
        <c:txPr>
          <a:bodyPr/>
          <a:lstStyle/>
          <a:p>
            <a:pPr>
              <a:defRPr sz="1000">
                <a:solidFill>
                  <a:srgbClr val="1B2F4B"/>
                </a:solidFill>
                <a:latin typeface="Meiryo UI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 w="6350">
              <a:solidFill>
                <a:srgbClr val="CBD5E0"/>
              </a:solidFill>
            </a:ln>
          </c:spPr>
        </c:majorGridlines>
        <c:numFmt formatCode="#,##0" sourceLinked="0"/>
        <c:majorTickMark val="out"/>
        <c:minorTickMark val="none"/>
        <c:tickLblPos val="nextTo"/>
        <c:txPr>
          <a:bodyPr/>
          <a:lstStyle/>
          <a:p>
            <a:pPr>
              <a:defRPr sz="900">
                <a:solidFill>
                  <a:srgbClr val="64748B"/>
                </a:solidFill>
                <a:latin typeface="Meiryo UI"/>
              </a:defRPr>
            </a:pPr>
          </a:p>
        </c:txPr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1000">
              <a:latin typeface="Meiryo UI"/>
            </a:defRPr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F4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D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8046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D4820A"/>
                </a:solidFill>
                <a:latin typeface="Meiryo UI"/>
              </a:rPr>
              <a:t>株式会社タカハシ包装センター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96112"/>
            <a:ext cx="80467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Meiryo UI"/>
              </a:rPr>
              <a:t>令和8年8月　月次実績報告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938528"/>
            <a:ext cx="8046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>
                <a:solidFill>
                  <a:srgbClr val="CADCFC"/>
                </a:solidFill>
                <a:latin typeface="Meiryo UI"/>
              </a:rPr>
              <a:t>第51期下期 8月実績（下期5ヶ月目）　～粗利益額を主軸とした分析～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2487168"/>
            <a:ext cx="3200400" cy="45720"/>
          </a:xfrm>
          <a:prstGeom prst="rect">
            <a:avLst/>
          </a:prstGeom>
          <a:solidFill>
            <a:srgbClr val="D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2743200"/>
            <a:ext cx="7863840" cy="932688"/>
          </a:xfrm>
          <a:prstGeom prst="rect">
            <a:avLst/>
          </a:prstGeom>
          <a:solidFill>
            <a:srgbClr val="243954"/>
          </a:solidFill>
          <a:ln w="12700">
            <a:solidFill>
              <a:srgbClr val="4A7C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2825496"/>
            <a:ext cx="74980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D4820A"/>
                </a:solidFill>
                <a:latin typeface="Meiryo UI"/>
              </a:rPr>
              <a:t>粗利益額: 8月 65,797千円（前期比93.3%・計画比106.5%）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127248"/>
            <a:ext cx="74980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CADCFC"/>
                </a:solidFill>
                <a:latin typeface="Meiryo UI"/>
              </a:rPr>
              <a:t>・ 前期8月の境港機械大口（81,900千円）の反動で減収減益。境港除きは売上110.4%・粗利117.2%と増益継続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401568"/>
            <a:ext cx="74980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CADCFC"/>
                </a:solidFill>
                <a:latin typeface="Meiryo UI"/>
              </a:rPr>
              <a:t>・ 粗利は計画比106.5%と計画超過、粗利率24.4%（前期21.5%）。増益は 広域+3,063・松江+2,227 が牽引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3785615"/>
            <a:ext cx="7863840" cy="658368"/>
          </a:xfrm>
          <a:prstGeom prst="rect">
            <a:avLst/>
          </a:prstGeom>
          <a:solidFill>
            <a:srgbClr val="3A1F1F"/>
          </a:solidFill>
          <a:ln w="15875">
            <a:solidFill>
              <a:srgbClr val="7D1D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3877056"/>
            <a:ext cx="749807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FF9E96"/>
                </a:solidFill>
                <a:latin typeface="Meiryo UI"/>
              </a:rPr>
              <a:t>【警戒】石見の失速とナフサショックの先行き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4160520"/>
            <a:ext cx="749807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CADCFC"/>
                </a:solidFill>
                <a:latin typeface="Meiryo UI"/>
              </a:rPr>
              <a:t>・ 石見は売上計画比87.9%・前期比95.9%と下期初の減収、粗利前期比101.5%は下期最低。価格改定効果の一巡を注視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4572000"/>
            <a:ext cx="82296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CADCFC"/>
                </a:solidFill>
                <a:latin typeface="Meiryo UI"/>
              </a:rPr>
              <a:t>分析期間: 単月（8月）／下期（4〜8月）／期初来累計（令和7年10月〜令和8年8月）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4828032"/>
            <a:ext cx="8229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8899AA"/>
                </a:solidFill>
                <a:latin typeface="Meiryo UI"/>
              </a:rPr>
              <a:t>作成日: 令和8年9月5日　　資料作成者: 高橋将史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1B2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8229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>
                <a:solidFill>
                  <a:srgbClr val="1B2F4B"/>
                </a:solidFill>
                <a:latin typeface="Meiryo UI"/>
              </a:rPr>
              <a:t>全社実績ハイライト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03504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64748B"/>
                </a:solidFill>
                <a:latin typeface="Meiryo UI"/>
              </a:rPr>
              <a:t>3期間サマリー（単位: 千円）　※粗利益額を主指標／合計は6営業所＋キョウワ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5074920"/>
            <a:ext cx="9144000" cy="64008"/>
          </a:xfrm>
          <a:prstGeom prst="rect">
            <a:avLst/>
          </a:prstGeom>
          <a:solidFill>
            <a:srgbClr val="1B2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4828032"/>
            <a:ext cx="8229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Meiryo UI"/>
              </a:rPr>
              <a:t>株式会社タカハシ包装センター | 令和8年8月実績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960120"/>
            <a:ext cx="2560320" cy="1133856"/>
          </a:xfrm>
          <a:prstGeom prst="rect">
            <a:avLst/>
          </a:prstGeom>
          <a:solidFill>
            <a:srgbClr val="1B2F4B"/>
          </a:solidFill>
          <a:ln w="12700">
            <a:solidFill>
              <a:srgbClr val="4A7C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65760" y="960120"/>
            <a:ext cx="2560320" cy="45720"/>
          </a:xfrm>
          <a:prstGeom prst="rect">
            <a:avLst/>
          </a:prstGeom>
          <a:solidFill>
            <a:srgbClr val="D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75488" y="1078992"/>
            <a:ext cx="234086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Meiryo UI"/>
              </a:rPr>
              <a:t>8月 粗利益額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289304"/>
            <a:ext cx="2340864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>
                <a:solidFill>
                  <a:srgbClr val="D4820A"/>
                </a:solidFill>
                <a:latin typeface="Meiryo UI"/>
              </a:rPr>
              <a:t>65,797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5488" y="1737360"/>
            <a:ext cx="457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CADCFC"/>
                </a:solidFill>
                <a:latin typeface="Meiryo UI"/>
              </a:rPr>
              <a:t>千円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1737360"/>
            <a:ext cx="194767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1">
                <a:solidFill>
                  <a:srgbClr val="7BE0A6"/>
                </a:solidFill>
                <a:latin typeface="Meiryo UI"/>
              </a:rPr>
              <a:t>前期比 93.3% / 計画比 106.5%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108960" y="960120"/>
            <a:ext cx="2560320" cy="1133856"/>
          </a:xfrm>
          <a:prstGeom prst="rect">
            <a:avLst/>
          </a:prstGeom>
          <a:solidFill>
            <a:srgbClr val="1B2F4B"/>
          </a:solidFill>
          <a:ln w="12700">
            <a:solidFill>
              <a:srgbClr val="4A7C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108960" y="960120"/>
            <a:ext cx="2560320" cy="45720"/>
          </a:xfrm>
          <a:prstGeom prst="rect">
            <a:avLst/>
          </a:prstGeom>
          <a:solidFill>
            <a:srgbClr val="D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218688" y="1078992"/>
            <a:ext cx="234086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Meiryo UI"/>
              </a:rPr>
              <a:t>8月 売上高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18688" y="1289304"/>
            <a:ext cx="2340864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>
                <a:solidFill>
                  <a:srgbClr val="D4820A"/>
                </a:solidFill>
                <a:latin typeface="Meiryo UI"/>
              </a:rPr>
              <a:t>269,896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18688" y="1737360"/>
            <a:ext cx="457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CADCFC"/>
                </a:solidFill>
                <a:latin typeface="Meiryo UI"/>
              </a:rPr>
              <a:t>千円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11880" y="1737360"/>
            <a:ext cx="194767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1">
                <a:solidFill>
                  <a:srgbClr val="7BE0A6"/>
                </a:solidFill>
                <a:latin typeface="Meiryo UI"/>
              </a:rPr>
              <a:t>前期比 82.2% / 計画比 99.7%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852160" y="960120"/>
            <a:ext cx="2560320" cy="1133856"/>
          </a:xfrm>
          <a:prstGeom prst="rect">
            <a:avLst/>
          </a:prstGeom>
          <a:solidFill>
            <a:srgbClr val="1B2F4B"/>
          </a:solidFill>
          <a:ln w="12700">
            <a:solidFill>
              <a:srgbClr val="4A7C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852160" y="960120"/>
            <a:ext cx="2560320" cy="45720"/>
          </a:xfrm>
          <a:prstGeom prst="rect">
            <a:avLst/>
          </a:prstGeom>
          <a:solidFill>
            <a:srgbClr val="D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961888" y="1078992"/>
            <a:ext cx="234086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Meiryo UI"/>
              </a:rPr>
              <a:t>8月 粗利率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61888" y="1289304"/>
            <a:ext cx="2340864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>
                <a:solidFill>
                  <a:srgbClr val="D4820A"/>
                </a:solidFill>
                <a:latin typeface="Meiryo UI"/>
              </a:rPr>
              <a:t>24.4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61888" y="1737360"/>
            <a:ext cx="457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CADCFC"/>
                </a:solidFill>
                <a:latin typeface="Meiryo UI"/>
              </a:rPr>
              <a:t>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55080" y="1737360"/>
            <a:ext cx="194767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1">
                <a:solidFill>
                  <a:srgbClr val="7BE0A6"/>
                </a:solidFill>
                <a:latin typeface="Meiryo UI"/>
              </a:rPr>
              <a:t>前期 21.5% → 今期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5760" y="2212848"/>
            <a:ext cx="2560320" cy="1133856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365760" y="2212848"/>
            <a:ext cx="2560320" cy="45720"/>
          </a:xfrm>
          <a:prstGeom prst="rect">
            <a:avLst/>
          </a:prstGeom>
          <a:solidFill>
            <a:srgbClr val="4A7C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75488" y="2331720"/>
            <a:ext cx="234086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2E5E8E"/>
                </a:solidFill>
                <a:latin typeface="Meiryo UI"/>
              </a:rPr>
              <a:t>下期 粗利益額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75488" y="2542032"/>
            <a:ext cx="2340864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>
                <a:solidFill>
                  <a:srgbClr val="2E5E8E"/>
                </a:solidFill>
                <a:latin typeface="Meiryo UI"/>
              </a:rPr>
              <a:t>382,098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75488" y="2990088"/>
            <a:ext cx="457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64748B"/>
                </a:solidFill>
                <a:latin typeface="Meiryo UI"/>
              </a:rPr>
              <a:t>千円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68680" y="2990088"/>
            <a:ext cx="194767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1">
                <a:solidFill>
                  <a:srgbClr val="1A6E1A"/>
                </a:solidFill>
                <a:latin typeface="Meiryo UI"/>
              </a:rPr>
              <a:t>前期比 118.4% / 計画比 113.3%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108960" y="2212848"/>
            <a:ext cx="2560320" cy="1133856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3108960" y="2212848"/>
            <a:ext cx="2560320" cy="45720"/>
          </a:xfrm>
          <a:prstGeom prst="rect">
            <a:avLst/>
          </a:prstGeom>
          <a:solidFill>
            <a:srgbClr val="4A7C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218688" y="2331720"/>
            <a:ext cx="234086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2E5E8E"/>
                </a:solidFill>
                <a:latin typeface="Meiryo UI"/>
              </a:rPr>
              <a:t>下期 売上高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218688" y="2542032"/>
            <a:ext cx="2340864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>
                <a:solidFill>
                  <a:srgbClr val="2E5E8E"/>
                </a:solidFill>
                <a:latin typeface="Meiryo UI"/>
              </a:rPr>
              <a:t>1,549,475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218688" y="2990088"/>
            <a:ext cx="457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64748B"/>
                </a:solidFill>
                <a:latin typeface="Meiryo UI"/>
              </a:rPr>
              <a:t>千円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611880" y="2990088"/>
            <a:ext cx="194767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1">
                <a:solidFill>
                  <a:srgbClr val="1A6E1A"/>
                </a:solidFill>
                <a:latin typeface="Meiryo UI"/>
              </a:rPr>
              <a:t>前期比 111.0% / 計画比 106.3%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852160" y="2212848"/>
            <a:ext cx="2560320" cy="1133856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5852160" y="2212848"/>
            <a:ext cx="2560320" cy="45720"/>
          </a:xfrm>
          <a:prstGeom prst="rect">
            <a:avLst/>
          </a:prstGeom>
          <a:solidFill>
            <a:srgbClr val="4A7C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961888" y="2331720"/>
            <a:ext cx="234086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2E5E8E"/>
                </a:solidFill>
                <a:latin typeface="Meiryo UI"/>
              </a:rPr>
              <a:t>下期 粗利率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961888" y="2542032"/>
            <a:ext cx="2340864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>
                <a:solidFill>
                  <a:srgbClr val="2E5E8E"/>
                </a:solidFill>
                <a:latin typeface="Meiryo UI"/>
              </a:rPr>
              <a:t>24.7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961888" y="2990088"/>
            <a:ext cx="457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64748B"/>
                </a:solidFill>
                <a:latin typeface="Meiryo UI"/>
              </a:rPr>
              <a:t>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355080" y="2990088"/>
            <a:ext cx="194767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1">
                <a:solidFill>
                  <a:srgbClr val="1A6E1A"/>
                </a:solidFill>
                <a:latin typeface="Meiryo UI"/>
              </a:rPr>
              <a:t>前期 23.1% → 今期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65760" y="3465576"/>
            <a:ext cx="2560320" cy="1133856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365760" y="3465576"/>
            <a:ext cx="2560320" cy="45720"/>
          </a:xfrm>
          <a:prstGeom prst="rect">
            <a:avLst/>
          </a:prstGeom>
          <a:solidFill>
            <a:srgbClr val="4A7C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75488" y="3584448"/>
            <a:ext cx="234086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2E5E8E"/>
                </a:solidFill>
                <a:latin typeface="Meiryo UI"/>
              </a:rPr>
              <a:t>期初来 粗利益額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75488" y="3794760"/>
            <a:ext cx="2340864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>
                <a:solidFill>
                  <a:srgbClr val="2E5E8E"/>
                </a:solidFill>
                <a:latin typeface="Meiryo UI"/>
              </a:rPr>
              <a:t>808,994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75488" y="4242816"/>
            <a:ext cx="457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64748B"/>
                </a:solidFill>
                <a:latin typeface="Meiryo UI"/>
              </a:rPr>
              <a:t>千円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68680" y="4242816"/>
            <a:ext cx="194767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1">
                <a:solidFill>
                  <a:srgbClr val="1A6E1A"/>
                </a:solidFill>
                <a:latin typeface="Meiryo UI"/>
              </a:rPr>
              <a:t>前期比 112.7% / 計画比 103.8%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108960" y="3465576"/>
            <a:ext cx="2560320" cy="1133856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3108960" y="3465576"/>
            <a:ext cx="2560320" cy="45720"/>
          </a:xfrm>
          <a:prstGeom prst="rect">
            <a:avLst/>
          </a:prstGeom>
          <a:solidFill>
            <a:srgbClr val="4A7C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218688" y="3584448"/>
            <a:ext cx="234086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2E5E8E"/>
                </a:solidFill>
                <a:latin typeface="Meiryo UI"/>
              </a:rPr>
              <a:t>期初来 売上高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218688" y="3794760"/>
            <a:ext cx="2340864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>
                <a:solidFill>
                  <a:srgbClr val="2E5E8E"/>
                </a:solidFill>
                <a:latin typeface="Meiryo UI"/>
              </a:rPr>
              <a:t>3,378,910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3218688" y="4242816"/>
            <a:ext cx="457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64748B"/>
                </a:solidFill>
                <a:latin typeface="Meiryo UI"/>
              </a:rPr>
              <a:t>千円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611880" y="4242816"/>
            <a:ext cx="194767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1">
                <a:solidFill>
                  <a:srgbClr val="1A6E1A"/>
                </a:solidFill>
                <a:latin typeface="Meiryo UI"/>
              </a:rPr>
              <a:t>前期比 108.6% / 計画比 100.8%</a:t>
            </a:r>
          </a:p>
        </p:txBody>
      </p:sp>
      <p:sp>
        <p:nvSpPr>
          <p:cNvPr id="55" name="Rectangle 54"/>
          <p:cNvSpPr/>
          <p:nvPr/>
        </p:nvSpPr>
        <p:spPr>
          <a:xfrm>
            <a:off x="5852160" y="3465576"/>
            <a:ext cx="2560320" cy="1133856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5852160" y="3465576"/>
            <a:ext cx="2560320" cy="45720"/>
          </a:xfrm>
          <a:prstGeom prst="rect">
            <a:avLst/>
          </a:prstGeom>
          <a:solidFill>
            <a:srgbClr val="4A7C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961888" y="3584448"/>
            <a:ext cx="234086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2E5E8E"/>
                </a:solidFill>
                <a:latin typeface="Meiryo UI"/>
              </a:rPr>
              <a:t>期初来 粗利率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961888" y="3794760"/>
            <a:ext cx="2340864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>
                <a:solidFill>
                  <a:srgbClr val="2E5E8E"/>
                </a:solidFill>
                <a:latin typeface="Meiryo UI"/>
              </a:rPr>
              <a:t>23.9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961888" y="4242816"/>
            <a:ext cx="457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64748B"/>
                </a:solidFill>
                <a:latin typeface="Meiryo UI"/>
              </a:rPr>
              <a:t>%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355080" y="4242816"/>
            <a:ext cx="194767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1">
                <a:solidFill>
                  <a:srgbClr val="1A6E1A"/>
                </a:solidFill>
                <a:latin typeface="Meiryo UI"/>
              </a:rPr>
              <a:t>前期 23.1% → 今期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1B2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8229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>
                <a:solidFill>
                  <a:srgbClr val="1B2F4B"/>
                </a:solidFill>
                <a:latin typeface="Meiryo UI"/>
              </a:rPr>
              <a:t>営業所別　8月単月実績　～売上・粗利益額～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03504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64748B"/>
                </a:solidFill>
                <a:latin typeface="Meiryo UI"/>
              </a:rPr>
              <a:t>単位: 千円　　金色列＝粗利益額（主指標）　　色: 緑=100%以上／橙=90〜99%／赤=90%未満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5074920"/>
            <a:ext cx="9144000" cy="64008"/>
          </a:xfrm>
          <a:prstGeom prst="rect">
            <a:avLst/>
          </a:prstGeom>
          <a:solidFill>
            <a:srgbClr val="1B2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4828032"/>
            <a:ext cx="8229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Meiryo UI"/>
              </a:rPr>
              <a:t>株式会社タカハシ包装センター | 令和8年8月実績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66928" y="932688"/>
          <a:ext cx="7726680" cy="32918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17320"/>
                <a:gridCol w="1051560"/>
                <a:gridCol w="822960"/>
                <a:gridCol w="822960"/>
                <a:gridCol w="1097280"/>
                <a:gridCol w="868680"/>
                <a:gridCol w="868680"/>
                <a:gridCol w="777240"/>
              </a:tblGrid>
              <a:tr h="365760">
                <a:tc>
                  <a:txBody>
                    <a:bodyPr wrap="non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Meiryo UI"/>
                        </a:rPr>
                        <a:t>営業所</a:t>
                      </a:r>
                    </a:p>
                  </a:txBody>
                  <a:tcPr anchor="ctr" marL="36576" marR="36576" marT="0" marB="0">
                    <a:solidFill>
                      <a:srgbClr val="1B2F4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Meiryo UI"/>
                        </a:rPr>
                        <a:t>売上実績</a:t>
                      </a:r>
                    </a:p>
                  </a:txBody>
                  <a:tcPr anchor="ctr" marL="36576" marR="36576" marT="0" marB="0">
                    <a:solidFill>
                      <a:srgbClr val="1B2F4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Meiryo UI"/>
                        </a:rPr>
                        <a:t>売上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Meiryo UI"/>
                        </a:rPr>
                        <a:t>前期比</a:t>
                      </a:r>
                    </a:p>
                  </a:txBody>
                  <a:tcPr anchor="ctr" marL="36576" marR="36576" marT="0" marB="0">
                    <a:solidFill>
                      <a:srgbClr val="1B2F4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Meiryo UI"/>
                        </a:rPr>
                        <a:t>売上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Meiryo UI"/>
                        </a:rPr>
                        <a:t>計画比</a:t>
                      </a:r>
                    </a:p>
                  </a:txBody>
                  <a:tcPr anchor="ctr" marL="36576" marR="36576" marT="0" marB="0">
                    <a:solidFill>
                      <a:srgbClr val="1B2F4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Meiryo UI"/>
                        </a:rPr>
                        <a:t>粗利益額</a:t>
                      </a:r>
                    </a:p>
                  </a:txBody>
                  <a:tcPr anchor="ctr" marL="36576" marR="36576" marT="0" marB="0">
                    <a:solidFill>
                      <a:srgbClr val="D4820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Meiryo UI"/>
                        </a:rPr>
                        <a:t>粗利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Meiryo UI"/>
                        </a:rPr>
                        <a:t>前期比</a:t>
                      </a:r>
                    </a:p>
                  </a:txBody>
                  <a:tcPr anchor="ctr" marL="36576" marR="36576" marT="0" marB="0">
                    <a:solidFill>
                      <a:srgbClr val="D4820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Meiryo UI"/>
                        </a:rPr>
                        <a:t>粗利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Meiryo UI"/>
                        </a:rPr>
                        <a:t>計画比</a:t>
                      </a:r>
                    </a:p>
                  </a:txBody>
                  <a:tcPr anchor="ctr" marL="36576" marR="36576" marT="0" marB="0">
                    <a:solidFill>
                      <a:srgbClr val="D4820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Meiryo UI"/>
                        </a:rPr>
                        <a:t>粗利率</a:t>
                      </a:r>
                    </a:p>
                  </a:txBody>
                  <a:tcPr anchor="ctr" marL="36576" marR="36576" marT="0" marB="0">
                    <a:solidFill>
                      <a:srgbClr val="D4820A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l"/>
                      <a:r>
                        <a:rPr sz="1000" b="1">
                          <a:solidFill>
                            <a:srgbClr val="1B2F4B"/>
                          </a:solidFill>
                          <a:latin typeface="Meiryo UI"/>
                        </a:rPr>
                        <a:t>石見営業所</a:t>
                      </a:r>
                    </a:p>
                  </a:txBody>
                  <a:tcPr anchor="ctr" marL="36576" marR="36576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0">
                          <a:solidFill>
                            <a:srgbClr val="1B2F4B"/>
                          </a:solidFill>
                          <a:latin typeface="Meiryo UI"/>
                        </a:rPr>
                        <a:t>64,244</a:t>
                      </a:r>
                    </a:p>
                  </a:txBody>
                  <a:tcPr anchor="ctr" marL="36576" marR="36576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1">
                          <a:solidFill>
                            <a:srgbClr val="C55A11"/>
                          </a:solidFill>
                          <a:latin typeface="Meiryo UI"/>
                        </a:rPr>
                        <a:t>95.9%</a:t>
                      </a:r>
                    </a:p>
                  </a:txBody>
                  <a:tcPr anchor="ctr" marL="36576" marR="36576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1">
                          <a:solidFill>
                            <a:srgbClr val="C0392B"/>
                          </a:solidFill>
                          <a:latin typeface="Meiryo UI"/>
                        </a:rPr>
                        <a:t>87.9%</a:t>
                      </a:r>
                    </a:p>
                  </a:txBody>
                  <a:tcPr anchor="ctr" marL="36576" marR="36576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100" b="1">
                          <a:solidFill>
                            <a:srgbClr val="D4820A"/>
                          </a:solidFill>
                          <a:latin typeface="Meiryo UI"/>
                        </a:rPr>
                        <a:t>19,040</a:t>
                      </a:r>
                    </a:p>
                  </a:txBody>
                  <a:tcPr anchor="ctr" marL="36576" marR="36576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1">
                          <a:solidFill>
                            <a:srgbClr val="1A6E1A"/>
                          </a:solidFill>
                          <a:latin typeface="Meiryo UI"/>
                        </a:rPr>
                        <a:t>101.5%</a:t>
                      </a:r>
                    </a:p>
                  </a:txBody>
                  <a:tcPr anchor="ctr" marL="36576" marR="36576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1">
                          <a:solidFill>
                            <a:srgbClr val="C55A11"/>
                          </a:solidFill>
                          <a:latin typeface="Meiryo UI"/>
                        </a:rPr>
                        <a:t>98.3%</a:t>
                      </a:r>
                    </a:p>
                  </a:txBody>
                  <a:tcPr anchor="ctr" marL="36576" marR="36576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B2F4B"/>
                          </a:solidFill>
                          <a:latin typeface="Meiryo UI"/>
                        </a:rPr>
                        <a:t>29.6%</a:t>
                      </a:r>
                    </a:p>
                  </a:txBody>
                  <a:tcPr anchor="ctr" marL="36576" marR="36576" marT="0" marB="0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l"/>
                      <a:r>
                        <a:rPr sz="1000" b="1">
                          <a:solidFill>
                            <a:srgbClr val="1B2F4B"/>
                          </a:solidFill>
                          <a:latin typeface="Meiryo UI"/>
                        </a:rPr>
                        <a:t>下関営業所</a:t>
                      </a:r>
                    </a:p>
                  </a:txBody>
                  <a:tcPr anchor="ctr" marL="36576" marR="36576" marT="0" marB="0">
                    <a:solidFill>
                      <a:srgbClr val="EEF3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0">
                          <a:solidFill>
                            <a:srgbClr val="1B2F4B"/>
                          </a:solidFill>
                          <a:latin typeface="Meiryo UI"/>
                        </a:rPr>
                        <a:t>44,275</a:t>
                      </a:r>
                    </a:p>
                  </a:txBody>
                  <a:tcPr anchor="ctr" marL="36576" marR="36576" marT="0" marB="0">
                    <a:solidFill>
                      <a:srgbClr val="EEF3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1">
                          <a:solidFill>
                            <a:srgbClr val="1A6E1A"/>
                          </a:solidFill>
                          <a:latin typeface="Meiryo UI"/>
                        </a:rPr>
                        <a:t>112.7%</a:t>
                      </a:r>
                    </a:p>
                  </a:txBody>
                  <a:tcPr anchor="ctr" marL="36576" marR="36576" marT="0" marB="0">
                    <a:solidFill>
                      <a:srgbClr val="EEF3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1">
                          <a:solidFill>
                            <a:srgbClr val="1A6E1A"/>
                          </a:solidFill>
                          <a:latin typeface="Meiryo UI"/>
                        </a:rPr>
                        <a:t>101.3%</a:t>
                      </a:r>
                    </a:p>
                  </a:txBody>
                  <a:tcPr anchor="ctr" marL="36576" marR="36576" marT="0" marB="0">
                    <a:solidFill>
                      <a:srgbClr val="EEF3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100" b="1">
                          <a:solidFill>
                            <a:srgbClr val="D4820A"/>
                          </a:solidFill>
                          <a:latin typeface="Meiryo UI"/>
                        </a:rPr>
                        <a:t>9,189</a:t>
                      </a:r>
                    </a:p>
                  </a:txBody>
                  <a:tcPr anchor="ctr" marL="36576" marR="36576" marT="0" marB="0">
                    <a:solidFill>
                      <a:srgbClr val="EEF3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1">
                          <a:solidFill>
                            <a:srgbClr val="1A6E1A"/>
                          </a:solidFill>
                          <a:latin typeface="Meiryo UI"/>
                        </a:rPr>
                        <a:t>111.1%</a:t>
                      </a:r>
                    </a:p>
                  </a:txBody>
                  <a:tcPr anchor="ctr" marL="36576" marR="36576" marT="0" marB="0">
                    <a:solidFill>
                      <a:srgbClr val="EEF3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1">
                          <a:solidFill>
                            <a:srgbClr val="1A6E1A"/>
                          </a:solidFill>
                          <a:latin typeface="Meiryo UI"/>
                        </a:rPr>
                        <a:t>101.0%</a:t>
                      </a:r>
                    </a:p>
                  </a:txBody>
                  <a:tcPr anchor="ctr" marL="36576" marR="36576" marT="0" marB="0">
                    <a:solidFill>
                      <a:srgbClr val="EEF3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B2F4B"/>
                          </a:solidFill>
                          <a:latin typeface="Meiryo UI"/>
                        </a:rPr>
                        <a:t>20.8%</a:t>
                      </a:r>
                    </a:p>
                  </a:txBody>
                  <a:tcPr anchor="ctr" marL="36576" marR="36576" marT="0" marB="0">
                    <a:solidFill>
                      <a:srgbClr val="EEF3FA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l"/>
                      <a:r>
                        <a:rPr sz="1000" b="1">
                          <a:solidFill>
                            <a:srgbClr val="1B2F4B"/>
                          </a:solidFill>
                          <a:latin typeface="Meiryo UI"/>
                        </a:rPr>
                        <a:t>松江営業所</a:t>
                      </a:r>
                    </a:p>
                  </a:txBody>
                  <a:tcPr anchor="ctr" marL="36576" marR="36576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0">
                          <a:solidFill>
                            <a:srgbClr val="1B2F4B"/>
                          </a:solidFill>
                          <a:latin typeface="Meiryo UI"/>
                        </a:rPr>
                        <a:t>33,114</a:t>
                      </a:r>
                    </a:p>
                  </a:txBody>
                  <a:tcPr anchor="ctr" marL="36576" marR="36576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1">
                          <a:solidFill>
                            <a:srgbClr val="1A6E1A"/>
                          </a:solidFill>
                          <a:latin typeface="Meiryo UI"/>
                        </a:rPr>
                        <a:t>103.2%</a:t>
                      </a:r>
                    </a:p>
                  </a:txBody>
                  <a:tcPr anchor="ctr" marL="36576" marR="36576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1">
                          <a:solidFill>
                            <a:srgbClr val="1A6E1A"/>
                          </a:solidFill>
                          <a:latin typeface="Meiryo UI"/>
                        </a:rPr>
                        <a:t>106.9%</a:t>
                      </a:r>
                    </a:p>
                  </a:txBody>
                  <a:tcPr anchor="ctr" marL="36576" marR="36576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100" b="1">
                          <a:solidFill>
                            <a:srgbClr val="D4820A"/>
                          </a:solidFill>
                          <a:latin typeface="Meiryo UI"/>
                        </a:rPr>
                        <a:t>9,530</a:t>
                      </a:r>
                    </a:p>
                  </a:txBody>
                  <a:tcPr anchor="ctr" marL="36576" marR="36576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1">
                          <a:solidFill>
                            <a:srgbClr val="1A6E1A"/>
                          </a:solidFill>
                          <a:latin typeface="Meiryo UI"/>
                        </a:rPr>
                        <a:t>130.5%</a:t>
                      </a:r>
                    </a:p>
                  </a:txBody>
                  <a:tcPr anchor="ctr" marL="36576" marR="36576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1">
                          <a:solidFill>
                            <a:srgbClr val="1A6E1A"/>
                          </a:solidFill>
                          <a:latin typeface="Meiryo UI"/>
                        </a:rPr>
                        <a:t>118.7%</a:t>
                      </a:r>
                    </a:p>
                  </a:txBody>
                  <a:tcPr anchor="ctr" marL="36576" marR="36576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B2F4B"/>
                          </a:solidFill>
                          <a:latin typeface="Meiryo UI"/>
                        </a:rPr>
                        <a:t>28.8%</a:t>
                      </a:r>
                    </a:p>
                  </a:txBody>
                  <a:tcPr anchor="ctr" marL="36576" marR="36576" marT="0" marB="0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l"/>
                      <a:r>
                        <a:rPr sz="1000" b="1">
                          <a:solidFill>
                            <a:srgbClr val="1B2F4B"/>
                          </a:solidFill>
                          <a:latin typeface="Meiryo UI"/>
                        </a:rPr>
                        <a:t>広域営業部</a:t>
                      </a:r>
                    </a:p>
                  </a:txBody>
                  <a:tcPr anchor="ctr" marL="36576" marR="36576" marT="0" marB="0">
                    <a:solidFill>
                      <a:srgbClr val="EEF3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0">
                          <a:solidFill>
                            <a:srgbClr val="1B2F4B"/>
                          </a:solidFill>
                          <a:latin typeface="Meiryo UI"/>
                        </a:rPr>
                        <a:t>49,723</a:t>
                      </a:r>
                    </a:p>
                  </a:txBody>
                  <a:tcPr anchor="ctr" marL="36576" marR="36576" marT="0" marB="0">
                    <a:solidFill>
                      <a:srgbClr val="EEF3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1">
                          <a:solidFill>
                            <a:srgbClr val="1A6E1A"/>
                          </a:solidFill>
                          <a:latin typeface="Meiryo UI"/>
                        </a:rPr>
                        <a:t>123.2%</a:t>
                      </a:r>
                    </a:p>
                  </a:txBody>
                  <a:tcPr anchor="ctr" marL="36576" marR="36576" marT="0" marB="0">
                    <a:solidFill>
                      <a:srgbClr val="EEF3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1">
                          <a:solidFill>
                            <a:srgbClr val="1A6E1A"/>
                          </a:solidFill>
                          <a:latin typeface="Meiryo UI"/>
                        </a:rPr>
                        <a:t>110.5%</a:t>
                      </a:r>
                    </a:p>
                  </a:txBody>
                  <a:tcPr anchor="ctr" marL="36576" marR="36576" marT="0" marB="0">
                    <a:solidFill>
                      <a:srgbClr val="EEF3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100" b="1">
                          <a:solidFill>
                            <a:srgbClr val="D4820A"/>
                          </a:solidFill>
                          <a:latin typeface="Meiryo UI"/>
                        </a:rPr>
                        <a:t>9,153</a:t>
                      </a:r>
                    </a:p>
                  </a:txBody>
                  <a:tcPr anchor="ctr" marL="36576" marR="36576" marT="0" marB="0">
                    <a:solidFill>
                      <a:srgbClr val="EEF3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1">
                          <a:solidFill>
                            <a:srgbClr val="1A6E1A"/>
                          </a:solidFill>
                          <a:latin typeface="Meiryo UI"/>
                        </a:rPr>
                        <a:t>150.3%</a:t>
                      </a:r>
                    </a:p>
                  </a:txBody>
                  <a:tcPr anchor="ctr" marL="36576" marR="36576" marT="0" marB="0">
                    <a:solidFill>
                      <a:srgbClr val="EEF3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1">
                          <a:solidFill>
                            <a:srgbClr val="1A6E1A"/>
                          </a:solidFill>
                          <a:latin typeface="Meiryo UI"/>
                        </a:rPr>
                        <a:t>134.4%</a:t>
                      </a:r>
                    </a:p>
                  </a:txBody>
                  <a:tcPr anchor="ctr" marL="36576" marR="36576" marT="0" marB="0">
                    <a:solidFill>
                      <a:srgbClr val="EEF3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B2F4B"/>
                          </a:solidFill>
                          <a:latin typeface="Meiryo UI"/>
                        </a:rPr>
                        <a:t>18.4%</a:t>
                      </a:r>
                    </a:p>
                  </a:txBody>
                  <a:tcPr anchor="ctr" marL="36576" marR="36576" marT="0" marB="0">
                    <a:solidFill>
                      <a:srgbClr val="EEF3FA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l"/>
                      <a:r>
                        <a:rPr sz="1000" b="1">
                          <a:solidFill>
                            <a:srgbClr val="1B2F4B"/>
                          </a:solidFill>
                          <a:latin typeface="Meiryo UI"/>
                        </a:rPr>
                        <a:t>境港営業所</a:t>
                      </a:r>
                    </a:p>
                  </a:txBody>
                  <a:tcPr anchor="ctr" marL="36576" marR="36576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0">
                          <a:solidFill>
                            <a:srgbClr val="1B2F4B"/>
                          </a:solidFill>
                          <a:latin typeface="Meiryo UI"/>
                        </a:rPr>
                        <a:t>41,885</a:t>
                      </a:r>
                    </a:p>
                  </a:txBody>
                  <a:tcPr anchor="ctr" marL="36576" marR="36576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1">
                          <a:solidFill>
                            <a:srgbClr val="C0392B"/>
                          </a:solidFill>
                          <a:latin typeface="Meiryo UI"/>
                        </a:rPr>
                        <a:t>34.3%</a:t>
                      </a:r>
                    </a:p>
                  </a:txBody>
                  <a:tcPr anchor="ctr" marL="36576" marR="36576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1">
                          <a:solidFill>
                            <a:srgbClr val="C0392B"/>
                          </a:solidFill>
                          <a:latin typeface="Meiryo UI"/>
                        </a:rPr>
                        <a:t>87.6%</a:t>
                      </a:r>
                    </a:p>
                  </a:txBody>
                  <a:tcPr anchor="ctr" marL="36576" marR="36576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100" b="1">
                          <a:solidFill>
                            <a:srgbClr val="D4820A"/>
                          </a:solidFill>
                          <a:latin typeface="Meiryo UI"/>
                        </a:rPr>
                        <a:t>8,386</a:t>
                      </a:r>
                    </a:p>
                  </a:txBody>
                  <a:tcPr anchor="ctr" marL="36576" marR="36576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1">
                          <a:solidFill>
                            <a:srgbClr val="C0392B"/>
                          </a:solidFill>
                          <a:latin typeface="Meiryo UI"/>
                        </a:rPr>
                        <a:t>38.9%</a:t>
                      </a:r>
                    </a:p>
                  </a:txBody>
                  <a:tcPr anchor="ctr" marL="36576" marR="36576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1">
                          <a:solidFill>
                            <a:srgbClr val="C0392B"/>
                          </a:solidFill>
                          <a:latin typeface="Meiryo UI"/>
                        </a:rPr>
                        <a:t>89.1%</a:t>
                      </a:r>
                    </a:p>
                  </a:txBody>
                  <a:tcPr anchor="ctr" marL="36576" marR="36576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B2F4B"/>
                          </a:solidFill>
                          <a:latin typeface="Meiryo UI"/>
                        </a:rPr>
                        <a:t>20.0%</a:t>
                      </a:r>
                    </a:p>
                  </a:txBody>
                  <a:tcPr anchor="ctr" marL="36576" marR="36576" marT="0" marB="0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l"/>
                      <a:r>
                        <a:rPr sz="1000" b="1">
                          <a:solidFill>
                            <a:srgbClr val="1B2F4B"/>
                          </a:solidFill>
                          <a:latin typeface="Meiryo UI"/>
                        </a:rPr>
                        <a:t>水産部（計）</a:t>
                      </a:r>
                    </a:p>
                  </a:txBody>
                  <a:tcPr anchor="ctr" marL="36576" marR="36576" marT="0" marB="0">
                    <a:solidFill>
                      <a:srgbClr val="EEF3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0">
                          <a:solidFill>
                            <a:srgbClr val="1B2F4B"/>
                          </a:solidFill>
                          <a:latin typeface="Meiryo UI"/>
                        </a:rPr>
                        <a:t>32,704</a:t>
                      </a:r>
                    </a:p>
                  </a:txBody>
                  <a:tcPr anchor="ctr" marL="36576" marR="36576" marT="0" marB="0">
                    <a:solidFill>
                      <a:srgbClr val="EEF3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1">
                          <a:solidFill>
                            <a:srgbClr val="1A6E1A"/>
                          </a:solidFill>
                          <a:latin typeface="Meiryo UI"/>
                        </a:rPr>
                        <a:t>123.1%</a:t>
                      </a:r>
                    </a:p>
                  </a:txBody>
                  <a:tcPr anchor="ctr" marL="36576" marR="36576" marT="0" marB="0">
                    <a:solidFill>
                      <a:srgbClr val="EEF3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1">
                          <a:solidFill>
                            <a:srgbClr val="1A6E1A"/>
                          </a:solidFill>
                          <a:latin typeface="Meiryo UI"/>
                        </a:rPr>
                        <a:t>114.1%</a:t>
                      </a:r>
                    </a:p>
                  </a:txBody>
                  <a:tcPr anchor="ctr" marL="36576" marR="36576" marT="0" marB="0">
                    <a:solidFill>
                      <a:srgbClr val="EEF3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100" b="1">
                          <a:solidFill>
                            <a:srgbClr val="D4820A"/>
                          </a:solidFill>
                          <a:latin typeface="Meiryo UI"/>
                        </a:rPr>
                        <a:t>8,776</a:t>
                      </a:r>
                    </a:p>
                  </a:txBody>
                  <a:tcPr anchor="ctr" marL="36576" marR="36576" marT="0" marB="0">
                    <a:solidFill>
                      <a:srgbClr val="EEF3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1">
                          <a:solidFill>
                            <a:srgbClr val="1A6E1A"/>
                          </a:solidFill>
                          <a:latin typeface="Meiryo UI"/>
                        </a:rPr>
                        <a:t>112.5%</a:t>
                      </a:r>
                    </a:p>
                  </a:txBody>
                  <a:tcPr anchor="ctr" marL="36576" marR="36576" marT="0" marB="0">
                    <a:solidFill>
                      <a:srgbClr val="EEF3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1">
                          <a:solidFill>
                            <a:srgbClr val="1A6E1A"/>
                          </a:solidFill>
                          <a:latin typeface="Meiryo UI"/>
                        </a:rPr>
                        <a:t>107.4%</a:t>
                      </a:r>
                    </a:p>
                  </a:txBody>
                  <a:tcPr anchor="ctr" marL="36576" marR="36576" marT="0" marB="0">
                    <a:solidFill>
                      <a:srgbClr val="EEF3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B2F4B"/>
                          </a:solidFill>
                          <a:latin typeface="Meiryo UI"/>
                        </a:rPr>
                        <a:t>26.8%</a:t>
                      </a:r>
                    </a:p>
                  </a:txBody>
                  <a:tcPr anchor="ctr" marL="36576" marR="36576" marT="0" marB="0">
                    <a:solidFill>
                      <a:srgbClr val="EEF3FA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l"/>
                      <a:r>
                        <a:rPr sz="1000" b="1">
                          <a:solidFill>
                            <a:srgbClr val="1B2F4B"/>
                          </a:solidFill>
                          <a:latin typeface="Meiryo UI"/>
                        </a:rPr>
                        <a:t>キョウワ</a:t>
                      </a:r>
                    </a:p>
                  </a:txBody>
                  <a:tcPr anchor="ctr" marL="36576" marR="36576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0">
                          <a:solidFill>
                            <a:srgbClr val="1B2F4B"/>
                          </a:solidFill>
                          <a:latin typeface="Meiryo UI"/>
                        </a:rPr>
                        <a:t>3,950</a:t>
                      </a:r>
                    </a:p>
                  </a:txBody>
                  <a:tcPr anchor="ctr" marL="36576" marR="36576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1">
                          <a:solidFill>
                            <a:srgbClr val="1A6E1A"/>
                          </a:solidFill>
                          <a:latin typeface="Meiryo UI"/>
                        </a:rPr>
                        <a:t>332.0%</a:t>
                      </a:r>
                    </a:p>
                  </a:txBody>
                  <a:tcPr anchor="ctr" marL="36576" marR="36576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1">
                          <a:solidFill>
                            <a:srgbClr val="1A6E1A"/>
                          </a:solidFill>
                          <a:latin typeface="Meiryo UI"/>
                        </a:rPr>
                        <a:t>290.5%</a:t>
                      </a:r>
                    </a:p>
                  </a:txBody>
                  <a:tcPr anchor="ctr" marL="36576" marR="36576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100" b="1">
                          <a:solidFill>
                            <a:srgbClr val="D4820A"/>
                          </a:solidFill>
                          <a:latin typeface="Meiryo UI"/>
                        </a:rPr>
                        <a:t>1,723</a:t>
                      </a:r>
                    </a:p>
                  </a:txBody>
                  <a:tcPr anchor="ctr" marL="36576" marR="36576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1">
                          <a:solidFill>
                            <a:srgbClr val="1A6E1A"/>
                          </a:solidFill>
                          <a:latin typeface="Meiryo UI"/>
                        </a:rPr>
                        <a:t>229.7%</a:t>
                      </a:r>
                    </a:p>
                  </a:txBody>
                  <a:tcPr anchor="ctr" marL="36576" marR="36576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1">
                          <a:solidFill>
                            <a:srgbClr val="1A6E1A"/>
                          </a:solidFill>
                          <a:latin typeface="Meiryo UI"/>
                        </a:rPr>
                        <a:t>195.8%</a:t>
                      </a:r>
                    </a:p>
                  </a:txBody>
                  <a:tcPr anchor="ctr" marL="36576" marR="36576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B2F4B"/>
                          </a:solidFill>
                          <a:latin typeface="Meiryo UI"/>
                        </a:rPr>
                        <a:t>43.6%</a:t>
                      </a:r>
                    </a:p>
                  </a:txBody>
                  <a:tcPr anchor="ctr" marL="36576" marR="36576" marT="0" marB="0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Meiryo UI"/>
                        </a:rPr>
                        <a:t>合　計</a:t>
                      </a:r>
                    </a:p>
                  </a:txBody>
                  <a:tcPr anchor="ctr" marL="36576" marR="36576" marT="0" marB="0">
                    <a:solidFill>
                      <a:srgbClr val="1B2F4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Meiryo UI"/>
                        </a:rPr>
                        <a:t>269,896</a:t>
                      </a:r>
                    </a:p>
                  </a:txBody>
                  <a:tcPr anchor="ctr" marL="36576" marR="36576" marT="0" marB="0">
                    <a:solidFill>
                      <a:srgbClr val="1B2F4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Meiryo UI"/>
                        </a:rPr>
                        <a:t>82.2%</a:t>
                      </a:r>
                    </a:p>
                  </a:txBody>
                  <a:tcPr anchor="ctr" marL="36576" marR="36576" marT="0" marB="0">
                    <a:solidFill>
                      <a:srgbClr val="1B2F4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Meiryo UI"/>
                        </a:rPr>
                        <a:t>99.7%</a:t>
                      </a:r>
                    </a:p>
                  </a:txBody>
                  <a:tcPr anchor="ctr" marL="36576" marR="36576" marT="0" marB="0">
                    <a:solidFill>
                      <a:srgbClr val="1B2F4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Meiryo UI"/>
                        </a:rPr>
                        <a:t>65,797</a:t>
                      </a:r>
                    </a:p>
                  </a:txBody>
                  <a:tcPr anchor="ctr" marL="36576" marR="36576" marT="0" marB="0">
                    <a:solidFill>
                      <a:srgbClr val="1B2F4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Meiryo UI"/>
                        </a:rPr>
                        <a:t>93.3%</a:t>
                      </a:r>
                    </a:p>
                  </a:txBody>
                  <a:tcPr anchor="ctr" marL="36576" marR="36576" marT="0" marB="0">
                    <a:solidFill>
                      <a:srgbClr val="1B2F4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Meiryo UI"/>
                        </a:rPr>
                        <a:t>106.5%</a:t>
                      </a:r>
                    </a:p>
                  </a:txBody>
                  <a:tcPr anchor="ctr" marL="36576" marR="36576" marT="0" marB="0">
                    <a:solidFill>
                      <a:srgbClr val="1B2F4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Meiryo UI"/>
                        </a:rPr>
                        <a:t>24.4%</a:t>
                      </a:r>
                    </a:p>
                  </a:txBody>
                  <a:tcPr anchor="ctr" marL="36576" marR="36576" marT="0" marB="0">
                    <a:solidFill>
                      <a:srgbClr val="1B2F4B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66928" y="4370832"/>
            <a:ext cx="8229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>
                <a:solidFill>
                  <a:srgbClr val="E07B39"/>
                </a:solidFill>
                <a:latin typeface="Meiryo UI"/>
              </a:rPr>
              <a:t>※ 粗利益額65,797千円は前期比93.3%だが計画比106.5%。減益は前期に機械大口のあった境港（▲13,147）のみで、他6部門は全て増益（粗利計画比109.7%）。水産部は売上123.1%・粗利112.5%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1B2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8229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>
                <a:solidFill>
                  <a:srgbClr val="1B2F4B"/>
                </a:solidFill>
                <a:latin typeface="Meiryo UI"/>
              </a:rPr>
              <a:t>営業所別　下期（4〜8月）累計　～売上・粗利益額～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03504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64748B"/>
                </a:solidFill>
                <a:latin typeface="Meiryo UI"/>
              </a:rPr>
              <a:t>単位: 千円　　第51期下期5ヶ月経過時点　　金色列＝粗利益額（主指標）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5074920"/>
            <a:ext cx="9144000" cy="64008"/>
          </a:xfrm>
          <a:prstGeom prst="rect">
            <a:avLst/>
          </a:prstGeom>
          <a:solidFill>
            <a:srgbClr val="1B2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4828032"/>
            <a:ext cx="8229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Meiryo UI"/>
              </a:rPr>
              <a:t>株式会社タカハシ包装センター | 令和8年8月実績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66928" y="932688"/>
          <a:ext cx="7726680" cy="32918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17320"/>
                <a:gridCol w="1051560"/>
                <a:gridCol w="822960"/>
                <a:gridCol w="822960"/>
                <a:gridCol w="1097280"/>
                <a:gridCol w="868680"/>
                <a:gridCol w="868680"/>
                <a:gridCol w="777240"/>
              </a:tblGrid>
              <a:tr h="365760">
                <a:tc>
                  <a:txBody>
                    <a:bodyPr wrap="non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Meiryo UI"/>
                        </a:rPr>
                        <a:t>営業所</a:t>
                      </a:r>
                    </a:p>
                  </a:txBody>
                  <a:tcPr anchor="ctr" marL="36576" marR="36576" marT="0" marB="0">
                    <a:solidFill>
                      <a:srgbClr val="1B2F4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Meiryo UI"/>
                        </a:rPr>
                        <a:t>売上実績</a:t>
                      </a:r>
                    </a:p>
                  </a:txBody>
                  <a:tcPr anchor="ctr" marL="36576" marR="36576" marT="0" marB="0">
                    <a:solidFill>
                      <a:srgbClr val="1B2F4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Meiryo UI"/>
                        </a:rPr>
                        <a:t>売上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Meiryo UI"/>
                        </a:rPr>
                        <a:t>前期比</a:t>
                      </a:r>
                    </a:p>
                  </a:txBody>
                  <a:tcPr anchor="ctr" marL="36576" marR="36576" marT="0" marB="0">
                    <a:solidFill>
                      <a:srgbClr val="1B2F4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Meiryo UI"/>
                        </a:rPr>
                        <a:t>売上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Meiryo UI"/>
                        </a:rPr>
                        <a:t>計画比</a:t>
                      </a:r>
                    </a:p>
                  </a:txBody>
                  <a:tcPr anchor="ctr" marL="36576" marR="36576" marT="0" marB="0">
                    <a:solidFill>
                      <a:srgbClr val="1B2F4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Meiryo UI"/>
                        </a:rPr>
                        <a:t>粗利益額</a:t>
                      </a:r>
                    </a:p>
                  </a:txBody>
                  <a:tcPr anchor="ctr" marL="36576" marR="36576" marT="0" marB="0">
                    <a:solidFill>
                      <a:srgbClr val="D4820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Meiryo UI"/>
                        </a:rPr>
                        <a:t>粗利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Meiryo UI"/>
                        </a:rPr>
                        <a:t>前期比</a:t>
                      </a:r>
                    </a:p>
                  </a:txBody>
                  <a:tcPr anchor="ctr" marL="36576" marR="36576" marT="0" marB="0">
                    <a:solidFill>
                      <a:srgbClr val="D4820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Meiryo UI"/>
                        </a:rPr>
                        <a:t>粗利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Meiryo UI"/>
                        </a:rPr>
                        <a:t>計画比</a:t>
                      </a:r>
                    </a:p>
                  </a:txBody>
                  <a:tcPr anchor="ctr" marL="36576" marR="36576" marT="0" marB="0">
                    <a:solidFill>
                      <a:srgbClr val="D4820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Meiryo UI"/>
                        </a:rPr>
                        <a:t>粗利率</a:t>
                      </a:r>
                    </a:p>
                  </a:txBody>
                  <a:tcPr anchor="ctr" marL="36576" marR="36576" marT="0" marB="0">
                    <a:solidFill>
                      <a:srgbClr val="D4820A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l"/>
                      <a:r>
                        <a:rPr sz="1000" b="1">
                          <a:solidFill>
                            <a:srgbClr val="1B2F4B"/>
                          </a:solidFill>
                          <a:latin typeface="Meiryo UI"/>
                        </a:rPr>
                        <a:t>石見営業所</a:t>
                      </a:r>
                    </a:p>
                  </a:txBody>
                  <a:tcPr anchor="ctr" marL="36576" marR="36576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0">
                          <a:solidFill>
                            <a:srgbClr val="1B2F4B"/>
                          </a:solidFill>
                          <a:latin typeface="Meiryo UI"/>
                        </a:rPr>
                        <a:t>364,426</a:t>
                      </a:r>
                    </a:p>
                  </a:txBody>
                  <a:tcPr anchor="ctr" marL="36576" marR="36576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1">
                          <a:solidFill>
                            <a:srgbClr val="1A6E1A"/>
                          </a:solidFill>
                          <a:latin typeface="Meiryo UI"/>
                        </a:rPr>
                        <a:t>115.3%</a:t>
                      </a:r>
                    </a:p>
                  </a:txBody>
                  <a:tcPr anchor="ctr" marL="36576" marR="36576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1">
                          <a:solidFill>
                            <a:srgbClr val="1A6E1A"/>
                          </a:solidFill>
                          <a:latin typeface="Meiryo UI"/>
                        </a:rPr>
                        <a:t>101.6%</a:t>
                      </a:r>
                    </a:p>
                  </a:txBody>
                  <a:tcPr anchor="ctr" marL="36576" marR="36576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100" b="1">
                          <a:solidFill>
                            <a:srgbClr val="D4820A"/>
                          </a:solidFill>
                          <a:latin typeface="Meiryo UI"/>
                        </a:rPr>
                        <a:t>106,693</a:t>
                      </a:r>
                    </a:p>
                  </a:txBody>
                  <a:tcPr anchor="ctr" marL="36576" marR="36576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1">
                          <a:solidFill>
                            <a:srgbClr val="1A6E1A"/>
                          </a:solidFill>
                          <a:latin typeface="Meiryo UI"/>
                        </a:rPr>
                        <a:t>119.3%</a:t>
                      </a:r>
                    </a:p>
                  </a:txBody>
                  <a:tcPr anchor="ctr" marL="36576" marR="36576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1">
                          <a:solidFill>
                            <a:srgbClr val="1A6E1A"/>
                          </a:solidFill>
                          <a:latin typeface="Meiryo UI"/>
                        </a:rPr>
                        <a:t>112.3%</a:t>
                      </a:r>
                    </a:p>
                  </a:txBody>
                  <a:tcPr anchor="ctr" marL="36576" marR="36576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B2F4B"/>
                          </a:solidFill>
                          <a:latin typeface="Meiryo UI"/>
                        </a:rPr>
                        <a:t>29.3%</a:t>
                      </a:r>
                    </a:p>
                  </a:txBody>
                  <a:tcPr anchor="ctr" marL="36576" marR="36576" marT="0" marB="0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l"/>
                      <a:r>
                        <a:rPr sz="1000" b="1">
                          <a:solidFill>
                            <a:srgbClr val="1B2F4B"/>
                          </a:solidFill>
                          <a:latin typeface="Meiryo UI"/>
                        </a:rPr>
                        <a:t>下関営業所</a:t>
                      </a:r>
                    </a:p>
                  </a:txBody>
                  <a:tcPr anchor="ctr" marL="36576" marR="36576" marT="0" marB="0">
                    <a:solidFill>
                      <a:srgbClr val="EEF3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0">
                          <a:solidFill>
                            <a:srgbClr val="1B2F4B"/>
                          </a:solidFill>
                          <a:latin typeface="Meiryo UI"/>
                        </a:rPr>
                        <a:t>245,560</a:t>
                      </a:r>
                    </a:p>
                  </a:txBody>
                  <a:tcPr anchor="ctr" marL="36576" marR="36576" marT="0" marB="0">
                    <a:solidFill>
                      <a:srgbClr val="EEF3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1">
                          <a:solidFill>
                            <a:srgbClr val="1A6E1A"/>
                          </a:solidFill>
                          <a:latin typeface="Meiryo UI"/>
                        </a:rPr>
                        <a:t>113.8%</a:t>
                      </a:r>
                    </a:p>
                  </a:txBody>
                  <a:tcPr anchor="ctr" marL="36576" marR="36576" marT="0" marB="0">
                    <a:solidFill>
                      <a:srgbClr val="EEF3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1">
                          <a:solidFill>
                            <a:srgbClr val="1A6E1A"/>
                          </a:solidFill>
                          <a:latin typeface="Meiryo UI"/>
                        </a:rPr>
                        <a:t>108.0%</a:t>
                      </a:r>
                    </a:p>
                  </a:txBody>
                  <a:tcPr anchor="ctr" marL="36576" marR="36576" marT="0" marB="0">
                    <a:solidFill>
                      <a:srgbClr val="EEF3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100" b="1">
                          <a:solidFill>
                            <a:srgbClr val="D4820A"/>
                          </a:solidFill>
                          <a:latin typeface="Meiryo UI"/>
                        </a:rPr>
                        <a:t>50,958</a:t>
                      </a:r>
                    </a:p>
                  </a:txBody>
                  <a:tcPr anchor="ctr" marL="36576" marR="36576" marT="0" marB="0">
                    <a:solidFill>
                      <a:srgbClr val="EEF3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1">
                          <a:solidFill>
                            <a:srgbClr val="1A6E1A"/>
                          </a:solidFill>
                          <a:latin typeface="Meiryo UI"/>
                        </a:rPr>
                        <a:t>114.0%</a:t>
                      </a:r>
                    </a:p>
                  </a:txBody>
                  <a:tcPr anchor="ctr" marL="36576" marR="36576" marT="0" marB="0">
                    <a:solidFill>
                      <a:srgbClr val="EEF3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1">
                          <a:solidFill>
                            <a:srgbClr val="1A6E1A"/>
                          </a:solidFill>
                          <a:latin typeface="Meiryo UI"/>
                        </a:rPr>
                        <a:t>109.1%</a:t>
                      </a:r>
                    </a:p>
                  </a:txBody>
                  <a:tcPr anchor="ctr" marL="36576" marR="36576" marT="0" marB="0">
                    <a:solidFill>
                      <a:srgbClr val="EEF3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B2F4B"/>
                          </a:solidFill>
                          <a:latin typeface="Meiryo UI"/>
                        </a:rPr>
                        <a:t>20.8%</a:t>
                      </a:r>
                    </a:p>
                  </a:txBody>
                  <a:tcPr anchor="ctr" marL="36576" marR="36576" marT="0" marB="0">
                    <a:solidFill>
                      <a:srgbClr val="EEF3FA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l"/>
                      <a:r>
                        <a:rPr sz="1000" b="1">
                          <a:solidFill>
                            <a:srgbClr val="1B2F4B"/>
                          </a:solidFill>
                          <a:latin typeface="Meiryo UI"/>
                        </a:rPr>
                        <a:t>松江営業所</a:t>
                      </a:r>
                    </a:p>
                  </a:txBody>
                  <a:tcPr anchor="ctr" marL="36576" marR="36576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0">
                          <a:solidFill>
                            <a:srgbClr val="1B2F4B"/>
                          </a:solidFill>
                          <a:latin typeface="Meiryo UI"/>
                        </a:rPr>
                        <a:t>173,090</a:t>
                      </a:r>
                    </a:p>
                  </a:txBody>
                  <a:tcPr anchor="ctr" marL="36576" marR="36576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1">
                          <a:solidFill>
                            <a:srgbClr val="1A6E1A"/>
                          </a:solidFill>
                          <a:latin typeface="Meiryo UI"/>
                        </a:rPr>
                        <a:t>105.5%</a:t>
                      </a:r>
                    </a:p>
                  </a:txBody>
                  <a:tcPr anchor="ctr" marL="36576" marR="36576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1">
                          <a:solidFill>
                            <a:srgbClr val="1A6E1A"/>
                          </a:solidFill>
                          <a:latin typeface="Meiryo UI"/>
                        </a:rPr>
                        <a:t>116.3%</a:t>
                      </a:r>
                    </a:p>
                  </a:txBody>
                  <a:tcPr anchor="ctr" marL="36576" marR="36576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100" b="1">
                          <a:solidFill>
                            <a:srgbClr val="D4820A"/>
                          </a:solidFill>
                          <a:latin typeface="Meiryo UI"/>
                        </a:rPr>
                        <a:t>46,211</a:t>
                      </a:r>
                    </a:p>
                  </a:txBody>
                  <a:tcPr anchor="ctr" marL="36576" marR="36576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1">
                          <a:solidFill>
                            <a:srgbClr val="1A6E1A"/>
                          </a:solidFill>
                          <a:latin typeface="Meiryo UI"/>
                        </a:rPr>
                        <a:t>124.9%</a:t>
                      </a:r>
                    </a:p>
                  </a:txBody>
                  <a:tcPr anchor="ctr" marL="36576" marR="36576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1">
                          <a:solidFill>
                            <a:srgbClr val="1A6E1A"/>
                          </a:solidFill>
                          <a:latin typeface="Meiryo UI"/>
                        </a:rPr>
                        <a:t>121.1%</a:t>
                      </a:r>
                    </a:p>
                  </a:txBody>
                  <a:tcPr anchor="ctr" marL="36576" marR="36576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B2F4B"/>
                          </a:solidFill>
                          <a:latin typeface="Meiryo UI"/>
                        </a:rPr>
                        <a:t>26.7%</a:t>
                      </a:r>
                    </a:p>
                  </a:txBody>
                  <a:tcPr anchor="ctr" marL="36576" marR="36576" marT="0" marB="0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l"/>
                      <a:r>
                        <a:rPr sz="1000" b="1">
                          <a:solidFill>
                            <a:srgbClr val="1B2F4B"/>
                          </a:solidFill>
                          <a:latin typeface="Meiryo UI"/>
                        </a:rPr>
                        <a:t>広域営業部</a:t>
                      </a:r>
                    </a:p>
                  </a:txBody>
                  <a:tcPr anchor="ctr" marL="36576" marR="36576" marT="0" marB="0">
                    <a:solidFill>
                      <a:srgbClr val="EEF3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0">
                          <a:solidFill>
                            <a:srgbClr val="1B2F4B"/>
                          </a:solidFill>
                          <a:latin typeface="Meiryo UI"/>
                        </a:rPr>
                        <a:t>230,502</a:t>
                      </a:r>
                    </a:p>
                  </a:txBody>
                  <a:tcPr anchor="ctr" marL="36576" marR="36576" marT="0" marB="0">
                    <a:solidFill>
                      <a:srgbClr val="EEF3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1">
                          <a:solidFill>
                            <a:srgbClr val="1A6E1A"/>
                          </a:solidFill>
                          <a:latin typeface="Meiryo UI"/>
                        </a:rPr>
                        <a:t>110.3%</a:t>
                      </a:r>
                    </a:p>
                  </a:txBody>
                  <a:tcPr anchor="ctr" marL="36576" marR="36576" marT="0" marB="0">
                    <a:solidFill>
                      <a:srgbClr val="EEF3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1">
                          <a:solidFill>
                            <a:srgbClr val="1A6E1A"/>
                          </a:solidFill>
                          <a:latin typeface="Meiryo UI"/>
                        </a:rPr>
                        <a:t>104.3%</a:t>
                      </a:r>
                    </a:p>
                  </a:txBody>
                  <a:tcPr anchor="ctr" marL="36576" marR="36576" marT="0" marB="0">
                    <a:solidFill>
                      <a:srgbClr val="EEF3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100" b="1">
                          <a:solidFill>
                            <a:srgbClr val="D4820A"/>
                          </a:solidFill>
                          <a:latin typeface="Meiryo UI"/>
                        </a:rPr>
                        <a:t>44,901</a:t>
                      </a:r>
                    </a:p>
                  </a:txBody>
                  <a:tcPr anchor="ctr" marL="36576" marR="36576" marT="0" marB="0">
                    <a:solidFill>
                      <a:srgbClr val="EEF3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1">
                          <a:solidFill>
                            <a:srgbClr val="1A6E1A"/>
                          </a:solidFill>
                          <a:latin typeface="Meiryo UI"/>
                        </a:rPr>
                        <a:t>141.1%</a:t>
                      </a:r>
                    </a:p>
                  </a:txBody>
                  <a:tcPr anchor="ctr" marL="36576" marR="36576" marT="0" marB="0">
                    <a:solidFill>
                      <a:srgbClr val="EEF3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1">
                          <a:solidFill>
                            <a:srgbClr val="1A6E1A"/>
                          </a:solidFill>
                          <a:latin typeface="Meiryo UI"/>
                        </a:rPr>
                        <a:t>135.9%</a:t>
                      </a:r>
                    </a:p>
                  </a:txBody>
                  <a:tcPr anchor="ctr" marL="36576" marR="36576" marT="0" marB="0">
                    <a:solidFill>
                      <a:srgbClr val="EEF3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B2F4B"/>
                          </a:solidFill>
                          <a:latin typeface="Meiryo UI"/>
                        </a:rPr>
                        <a:t>19.5%</a:t>
                      </a:r>
                    </a:p>
                  </a:txBody>
                  <a:tcPr anchor="ctr" marL="36576" marR="36576" marT="0" marB="0">
                    <a:solidFill>
                      <a:srgbClr val="EEF3FA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l"/>
                      <a:r>
                        <a:rPr sz="1000" b="1">
                          <a:solidFill>
                            <a:srgbClr val="1B2F4B"/>
                          </a:solidFill>
                          <a:latin typeface="Meiryo UI"/>
                        </a:rPr>
                        <a:t>境港営業所</a:t>
                      </a:r>
                    </a:p>
                  </a:txBody>
                  <a:tcPr anchor="ctr" marL="36576" marR="36576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0">
                          <a:solidFill>
                            <a:srgbClr val="1B2F4B"/>
                          </a:solidFill>
                          <a:latin typeface="Meiryo UI"/>
                        </a:rPr>
                        <a:t>289,233</a:t>
                      </a:r>
                    </a:p>
                  </a:txBody>
                  <a:tcPr anchor="ctr" marL="36576" marR="36576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1">
                          <a:solidFill>
                            <a:srgbClr val="C55A11"/>
                          </a:solidFill>
                          <a:latin typeface="Meiryo UI"/>
                        </a:rPr>
                        <a:t>95.4%</a:t>
                      </a:r>
                    </a:p>
                  </a:txBody>
                  <a:tcPr anchor="ctr" marL="36576" marR="36576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1">
                          <a:solidFill>
                            <a:srgbClr val="C55A11"/>
                          </a:solidFill>
                          <a:latin typeface="Meiryo UI"/>
                        </a:rPr>
                        <a:t>97.1%</a:t>
                      </a:r>
                    </a:p>
                  </a:txBody>
                  <a:tcPr anchor="ctr" marL="36576" marR="36576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100" b="1">
                          <a:solidFill>
                            <a:srgbClr val="D4820A"/>
                          </a:solidFill>
                          <a:latin typeface="Meiryo UI"/>
                        </a:rPr>
                        <a:t>56,927</a:t>
                      </a:r>
                    </a:p>
                  </a:txBody>
                  <a:tcPr anchor="ctr" marL="36576" marR="36576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1">
                          <a:solidFill>
                            <a:srgbClr val="C55A11"/>
                          </a:solidFill>
                          <a:latin typeface="Meiryo UI"/>
                        </a:rPr>
                        <a:t>98.6%</a:t>
                      </a:r>
                    </a:p>
                  </a:txBody>
                  <a:tcPr anchor="ctr" marL="36576" marR="36576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1">
                          <a:solidFill>
                            <a:srgbClr val="C55A11"/>
                          </a:solidFill>
                          <a:latin typeface="Meiryo UI"/>
                        </a:rPr>
                        <a:t>95.9%</a:t>
                      </a:r>
                    </a:p>
                  </a:txBody>
                  <a:tcPr anchor="ctr" marL="36576" marR="36576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B2F4B"/>
                          </a:solidFill>
                          <a:latin typeface="Meiryo UI"/>
                        </a:rPr>
                        <a:t>19.7%</a:t>
                      </a:r>
                    </a:p>
                  </a:txBody>
                  <a:tcPr anchor="ctr" marL="36576" marR="36576" marT="0" marB="0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l"/>
                      <a:r>
                        <a:rPr sz="1000" b="1">
                          <a:solidFill>
                            <a:srgbClr val="1B2F4B"/>
                          </a:solidFill>
                          <a:latin typeface="Meiryo UI"/>
                        </a:rPr>
                        <a:t>水産部（計）</a:t>
                      </a:r>
                    </a:p>
                  </a:txBody>
                  <a:tcPr anchor="ctr" marL="36576" marR="36576" marT="0" marB="0">
                    <a:solidFill>
                      <a:srgbClr val="EEF3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0">
                          <a:solidFill>
                            <a:srgbClr val="1B2F4B"/>
                          </a:solidFill>
                          <a:latin typeface="Meiryo UI"/>
                        </a:rPr>
                        <a:t>234,234</a:t>
                      </a:r>
                    </a:p>
                  </a:txBody>
                  <a:tcPr anchor="ctr" marL="36576" marR="36576" marT="0" marB="0">
                    <a:solidFill>
                      <a:srgbClr val="EEF3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1">
                          <a:solidFill>
                            <a:srgbClr val="1A6E1A"/>
                          </a:solidFill>
                          <a:latin typeface="Meiryo UI"/>
                        </a:rPr>
                        <a:t>133.2%</a:t>
                      </a:r>
                    </a:p>
                  </a:txBody>
                  <a:tcPr anchor="ctr" marL="36576" marR="36576" marT="0" marB="0">
                    <a:solidFill>
                      <a:srgbClr val="EEF3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1">
                          <a:solidFill>
                            <a:srgbClr val="1A6E1A"/>
                          </a:solidFill>
                          <a:latin typeface="Meiryo UI"/>
                        </a:rPr>
                        <a:t>121.4%</a:t>
                      </a:r>
                    </a:p>
                  </a:txBody>
                  <a:tcPr anchor="ctr" marL="36576" marR="36576" marT="0" marB="0">
                    <a:solidFill>
                      <a:srgbClr val="EEF3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100" b="1">
                          <a:solidFill>
                            <a:srgbClr val="D4820A"/>
                          </a:solidFill>
                          <a:latin typeface="Meiryo UI"/>
                        </a:rPr>
                        <a:t>69,433</a:t>
                      </a:r>
                    </a:p>
                  </a:txBody>
                  <a:tcPr anchor="ctr" marL="36576" marR="36576" marT="0" marB="0">
                    <a:solidFill>
                      <a:srgbClr val="EEF3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1">
                          <a:solidFill>
                            <a:srgbClr val="1A6E1A"/>
                          </a:solidFill>
                          <a:latin typeface="Meiryo UI"/>
                        </a:rPr>
                        <a:t>126.9%</a:t>
                      </a:r>
                    </a:p>
                  </a:txBody>
                  <a:tcPr anchor="ctr" marL="36576" marR="36576" marT="0" marB="0">
                    <a:solidFill>
                      <a:srgbClr val="EEF3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1">
                          <a:solidFill>
                            <a:srgbClr val="1A6E1A"/>
                          </a:solidFill>
                          <a:latin typeface="Meiryo UI"/>
                        </a:rPr>
                        <a:t>117.8%</a:t>
                      </a:r>
                    </a:p>
                  </a:txBody>
                  <a:tcPr anchor="ctr" marL="36576" marR="36576" marT="0" marB="0">
                    <a:solidFill>
                      <a:srgbClr val="EEF3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B2F4B"/>
                          </a:solidFill>
                          <a:latin typeface="Meiryo UI"/>
                        </a:rPr>
                        <a:t>29.6%</a:t>
                      </a:r>
                    </a:p>
                  </a:txBody>
                  <a:tcPr anchor="ctr" marL="36576" marR="36576" marT="0" marB="0">
                    <a:solidFill>
                      <a:srgbClr val="EEF3FA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l"/>
                      <a:r>
                        <a:rPr sz="1000" b="1">
                          <a:solidFill>
                            <a:srgbClr val="1B2F4B"/>
                          </a:solidFill>
                          <a:latin typeface="Meiryo UI"/>
                        </a:rPr>
                        <a:t>キョウワ</a:t>
                      </a:r>
                    </a:p>
                  </a:txBody>
                  <a:tcPr anchor="ctr" marL="36576" marR="36576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0">
                          <a:solidFill>
                            <a:srgbClr val="1B2F4B"/>
                          </a:solidFill>
                          <a:latin typeface="Meiryo UI"/>
                        </a:rPr>
                        <a:t>12,429</a:t>
                      </a:r>
                    </a:p>
                  </a:txBody>
                  <a:tcPr anchor="ctr" marL="36576" marR="36576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1">
                          <a:solidFill>
                            <a:srgbClr val="1A6E1A"/>
                          </a:solidFill>
                          <a:latin typeface="Meiryo UI"/>
                        </a:rPr>
                        <a:t>108.2%</a:t>
                      </a:r>
                    </a:p>
                  </a:txBody>
                  <a:tcPr anchor="ctr" marL="36576" marR="36576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1">
                          <a:solidFill>
                            <a:srgbClr val="1A6E1A"/>
                          </a:solidFill>
                          <a:latin typeface="Meiryo UI"/>
                        </a:rPr>
                        <a:t>113.9%</a:t>
                      </a:r>
                    </a:p>
                  </a:txBody>
                  <a:tcPr anchor="ctr" marL="36576" marR="36576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100" b="1">
                          <a:solidFill>
                            <a:srgbClr val="D4820A"/>
                          </a:solidFill>
                          <a:latin typeface="Meiryo UI"/>
                        </a:rPr>
                        <a:t>6,975</a:t>
                      </a:r>
                    </a:p>
                  </a:txBody>
                  <a:tcPr anchor="ctr" marL="36576" marR="36576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1">
                          <a:solidFill>
                            <a:srgbClr val="C55A11"/>
                          </a:solidFill>
                          <a:latin typeface="Meiryo UI"/>
                        </a:rPr>
                        <a:t>96.3%</a:t>
                      </a:r>
                    </a:p>
                  </a:txBody>
                  <a:tcPr anchor="ctr" marL="36576" marR="36576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1">
                          <a:solidFill>
                            <a:srgbClr val="1A6E1A"/>
                          </a:solidFill>
                          <a:latin typeface="Meiryo UI"/>
                        </a:rPr>
                        <a:t>114.7%</a:t>
                      </a:r>
                    </a:p>
                  </a:txBody>
                  <a:tcPr anchor="ctr" marL="36576" marR="36576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B2F4B"/>
                          </a:solidFill>
                          <a:latin typeface="Meiryo UI"/>
                        </a:rPr>
                        <a:t>56.1%</a:t>
                      </a:r>
                    </a:p>
                  </a:txBody>
                  <a:tcPr anchor="ctr" marL="36576" marR="36576" marT="0" marB="0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Meiryo UI"/>
                        </a:rPr>
                        <a:t>合　計</a:t>
                      </a:r>
                    </a:p>
                  </a:txBody>
                  <a:tcPr anchor="ctr" marL="36576" marR="36576" marT="0" marB="0">
                    <a:solidFill>
                      <a:srgbClr val="1B2F4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Meiryo UI"/>
                        </a:rPr>
                        <a:t>1,549,475</a:t>
                      </a:r>
                    </a:p>
                  </a:txBody>
                  <a:tcPr anchor="ctr" marL="36576" marR="36576" marT="0" marB="0">
                    <a:solidFill>
                      <a:srgbClr val="1B2F4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Meiryo UI"/>
                        </a:rPr>
                        <a:t>111.0%</a:t>
                      </a:r>
                    </a:p>
                  </a:txBody>
                  <a:tcPr anchor="ctr" marL="36576" marR="36576" marT="0" marB="0">
                    <a:solidFill>
                      <a:srgbClr val="1B2F4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Meiryo UI"/>
                        </a:rPr>
                        <a:t>106.3%</a:t>
                      </a:r>
                    </a:p>
                  </a:txBody>
                  <a:tcPr anchor="ctr" marL="36576" marR="36576" marT="0" marB="0">
                    <a:solidFill>
                      <a:srgbClr val="1B2F4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Meiryo UI"/>
                        </a:rPr>
                        <a:t>382,098</a:t>
                      </a:r>
                    </a:p>
                  </a:txBody>
                  <a:tcPr anchor="ctr" marL="36576" marR="36576" marT="0" marB="0">
                    <a:solidFill>
                      <a:srgbClr val="1B2F4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Meiryo UI"/>
                        </a:rPr>
                        <a:t>118.4%</a:t>
                      </a:r>
                    </a:p>
                  </a:txBody>
                  <a:tcPr anchor="ctr" marL="36576" marR="36576" marT="0" marB="0">
                    <a:solidFill>
                      <a:srgbClr val="1B2F4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Meiryo UI"/>
                        </a:rPr>
                        <a:t>113.3%</a:t>
                      </a:r>
                    </a:p>
                  </a:txBody>
                  <a:tcPr anchor="ctr" marL="36576" marR="36576" marT="0" marB="0">
                    <a:solidFill>
                      <a:srgbClr val="1B2F4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Meiryo UI"/>
                        </a:rPr>
                        <a:t>24.7%</a:t>
                      </a:r>
                    </a:p>
                  </a:txBody>
                  <a:tcPr anchor="ctr" marL="36576" marR="36576" marT="0" marB="0">
                    <a:solidFill>
                      <a:srgbClr val="1B2F4B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66928" y="4370832"/>
            <a:ext cx="8229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>
                <a:solidFill>
                  <a:srgbClr val="E07B39"/>
                </a:solidFill>
                <a:latin typeface="Meiryo UI"/>
              </a:rPr>
              <a:t>※ 下期粗利益額382,098千円・前期比118.4%（売上111.0%）。境港は前期比98.6%・計画比95.9%、キョウワは前期比96.3%と前期を下回る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1B2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8229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>
                <a:solidFill>
                  <a:srgbClr val="1B2F4B"/>
                </a:solidFill>
                <a:latin typeface="Meiryo UI"/>
              </a:rPr>
              <a:t>営業所別　期初来累計　～売上・粗利益額～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03504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64748B"/>
                </a:solidFill>
                <a:latin typeface="Meiryo UI"/>
              </a:rPr>
              <a:t>単位: 千円　　令和7年10月〜令和8年8月（11ヶ月）　　金色列＝粗利益額（主指標）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5074920"/>
            <a:ext cx="9144000" cy="64008"/>
          </a:xfrm>
          <a:prstGeom prst="rect">
            <a:avLst/>
          </a:prstGeom>
          <a:solidFill>
            <a:srgbClr val="1B2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4828032"/>
            <a:ext cx="8229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Meiryo UI"/>
              </a:rPr>
              <a:t>株式会社タカハシ包装センター | 令和8年8月実績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66928" y="932688"/>
          <a:ext cx="7726680" cy="32918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17320"/>
                <a:gridCol w="1051560"/>
                <a:gridCol w="822960"/>
                <a:gridCol w="822960"/>
                <a:gridCol w="1097280"/>
                <a:gridCol w="868680"/>
                <a:gridCol w="868680"/>
                <a:gridCol w="777240"/>
              </a:tblGrid>
              <a:tr h="365760">
                <a:tc>
                  <a:txBody>
                    <a:bodyPr wrap="non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Meiryo UI"/>
                        </a:rPr>
                        <a:t>営業所</a:t>
                      </a:r>
                    </a:p>
                  </a:txBody>
                  <a:tcPr anchor="ctr" marL="36576" marR="36576" marT="0" marB="0">
                    <a:solidFill>
                      <a:srgbClr val="1B2F4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Meiryo UI"/>
                        </a:rPr>
                        <a:t>売上実績</a:t>
                      </a:r>
                    </a:p>
                  </a:txBody>
                  <a:tcPr anchor="ctr" marL="36576" marR="36576" marT="0" marB="0">
                    <a:solidFill>
                      <a:srgbClr val="1B2F4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Meiryo UI"/>
                        </a:rPr>
                        <a:t>売上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Meiryo UI"/>
                        </a:rPr>
                        <a:t>前期比</a:t>
                      </a:r>
                    </a:p>
                  </a:txBody>
                  <a:tcPr anchor="ctr" marL="36576" marR="36576" marT="0" marB="0">
                    <a:solidFill>
                      <a:srgbClr val="1B2F4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Meiryo UI"/>
                        </a:rPr>
                        <a:t>売上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Meiryo UI"/>
                        </a:rPr>
                        <a:t>計画比</a:t>
                      </a:r>
                    </a:p>
                  </a:txBody>
                  <a:tcPr anchor="ctr" marL="36576" marR="36576" marT="0" marB="0">
                    <a:solidFill>
                      <a:srgbClr val="1B2F4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Meiryo UI"/>
                        </a:rPr>
                        <a:t>粗利益額</a:t>
                      </a:r>
                    </a:p>
                  </a:txBody>
                  <a:tcPr anchor="ctr" marL="36576" marR="36576" marT="0" marB="0">
                    <a:solidFill>
                      <a:srgbClr val="D4820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Meiryo UI"/>
                        </a:rPr>
                        <a:t>粗利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Meiryo UI"/>
                        </a:rPr>
                        <a:t>前期比</a:t>
                      </a:r>
                    </a:p>
                  </a:txBody>
                  <a:tcPr anchor="ctr" marL="36576" marR="36576" marT="0" marB="0">
                    <a:solidFill>
                      <a:srgbClr val="D4820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Meiryo UI"/>
                        </a:rPr>
                        <a:t>粗利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Meiryo UI"/>
                        </a:rPr>
                        <a:t>計画比</a:t>
                      </a:r>
                    </a:p>
                  </a:txBody>
                  <a:tcPr anchor="ctr" marL="36576" marR="36576" marT="0" marB="0">
                    <a:solidFill>
                      <a:srgbClr val="D4820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Meiryo UI"/>
                        </a:rPr>
                        <a:t>粗利率</a:t>
                      </a:r>
                    </a:p>
                  </a:txBody>
                  <a:tcPr anchor="ctr" marL="36576" marR="36576" marT="0" marB="0">
                    <a:solidFill>
                      <a:srgbClr val="D4820A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l"/>
                      <a:r>
                        <a:rPr sz="1000" b="1">
                          <a:solidFill>
                            <a:srgbClr val="1B2F4B"/>
                          </a:solidFill>
                          <a:latin typeface="Meiryo UI"/>
                        </a:rPr>
                        <a:t>石見営業所</a:t>
                      </a:r>
                    </a:p>
                  </a:txBody>
                  <a:tcPr anchor="ctr" marL="36576" marR="36576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0">
                          <a:solidFill>
                            <a:srgbClr val="1B2F4B"/>
                          </a:solidFill>
                          <a:latin typeface="Meiryo UI"/>
                        </a:rPr>
                        <a:t>795,452</a:t>
                      </a:r>
                    </a:p>
                  </a:txBody>
                  <a:tcPr anchor="ctr" marL="36576" marR="36576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1">
                          <a:solidFill>
                            <a:srgbClr val="1A6E1A"/>
                          </a:solidFill>
                          <a:latin typeface="Meiryo UI"/>
                        </a:rPr>
                        <a:t>110.4%</a:t>
                      </a:r>
                    </a:p>
                  </a:txBody>
                  <a:tcPr anchor="ctr" marL="36576" marR="36576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1">
                          <a:solidFill>
                            <a:srgbClr val="1A6E1A"/>
                          </a:solidFill>
                          <a:latin typeface="Meiryo UI"/>
                        </a:rPr>
                        <a:t>100.3%</a:t>
                      </a:r>
                    </a:p>
                  </a:txBody>
                  <a:tcPr anchor="ctr" marL="36576" marR="36576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100" b="1">
                          <a:solidFill>
                            <a:srgbClr val="D4820A"/>
                          </a:solidFill>
                          <a:latin typeface="Meiryo UI"/>
                        </a:rPr>
                        <a:t>221,703</a:t>
                      </a:r>
                    </a:p>
                  </a:txBody>
                  <a:tcPr anchor="ctr" marL="36576" marR="36576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1">
                          <a:solidFill>
                            <a:srgbClr val="1A6E1A"/>
                          </a:solidFill>
                          <a:latin typeface="Meiryo UI"/>
                        </a:rPr>
                        <a:t>109.9%</a:t>
                      </a:r>
                    </a:p>
                  </a:txBody>
                  <a:tcPr anchor="ctr" marL="36576" marR="36576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1">
                          <a:solidFill>
                            <a:srgbClr val="1A6E1A"/>
                          </a:solidFill>
                          <a:latin typeface="Meiryo UI"/>
                        </a:rPr>
                        <a:t>105.0%</a:t>
                      </a:r>
                    </a:p>
                  </a:txBody>
                  <a:tcPr anchor="ctr" marL="36576" marR="36576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B2F4B"/>
                          </a:solidFill>
                          <a:latin typeface="Meiryo UI"/>
                        </a:rPr>
                        <a:t>27.9%</a:t>
                      </a:r>
                    </a:p>
                  </a:txBody>
                  <a:tcPr anchor="ctr" marL="36576" marR="36576" marT="0" marB="0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l"/>
                      <a:r>
                        <a:rPr sz="1000" b="1">
                          <a:solidFill>
                            <a:srgbClr val="1B2F4B"/>
                          </a:solidFill>
                          <a:latin typeface="Meiryo UI"/>
                        </a:rPr>
                        <a:t>下関営業所</a:t>
                      </a:r>
                    </a:p>
                  </a:txBody>
                  <a:tcPr anchor="ctr" marL="36576" marR="36576" marT="0" marB="0">
                    <a:solidFill>
                      <a:srgbClr val="EEF3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0">
                          <a:solidFill>
                            <a:srgbClr val="1B2F4B"/>
                          </a:solidFill>
                          <a:latin typeface="Meiryo UI"/>
                        </a:rPr>
                        <a:t>521,039</a:t>
                      </a:r>
                    </a:p>
                  </a:txBody>
                  <a:tcPr anchor="ctr" marL="36576" marR="36576" marT="0" marB="0">
                    <a:solidFill>
                      <a:srgbClr val="EEF3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1">
                          <a:solidFill>
                            <a:srgbClr val="1A6E1A"/>
                          </a:solidFill>
                          <a:latin typeface="Meiryo UI"/>
                        </a:rPr>
                        <a:t>106.4%</a:t>
                      </a:r>
                    </a:p>
                  </a:txBody>
                  <a:tcPr anchor="ctr" marL="36576" marR="36576" marT="0" marB="0">
                    <a:solidFill>
                      <a:srgbClr val="EEF3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1">
                          <a:solidFill>
                            <a:srgbClr val="C55A11"/>
                          </a:solidFill>
                          <a:latin typeface="Meiryo UI"/>
                        </a:rPr>
                        <a:t>96.3%</a:t>
                      </a:r>
                    </a:p>
                  </a:txBody>
                  <a:tcPr anchor="ctr" marL="36576" marR="36576" marT="0" marB="0">
                    <a:solidFill>
                      <a:srgbClr val="EEF3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100" b="1">
                          <a:solidFill>
                            <a:srgbClr val="D4820A"/>
                          </a:solidFill>
                          <a:latin typeface="Meiryo UI"/>
                        </a:rPr>
                        <a:t>108,252</a:t>
                      </a:r>
                    </a:p>
                  </a:txBody>
                  <a:tcPr anchor="ctr" marL="36576" marR="36576" marT="0" marB="0">
                    <a:solidFill>
                      <a:srgbClr val="EEF3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1">
                          <a:solidFill>
                            <a:srgbClr val="1A6E1A"/>
                          </a:solidFill>
                          <a:latin typeface="Meiryo UI"/>
                        </a:rPr>
                        <a:t>106.1%</a:t>
                      </a:r>
                    </a:p>
                  </a:txBody>
                  <a:tcPr anchor="ctr" marL="36576" marR="36576" marT="0" marB="0">
                    <a:solidFill>
                      <a:srgbClr val="EEF3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1">
                          <a:solidFill>
                            <a:srgbClr val="C55A11"/>
                          </a:solidFill>
                          <a:latin typeface="Meiryo UI"/>
                        </a:rPr>
                        <a:t>97.1%</a:t>
                      </a:r>
                    </a:p>
                  </a:txBody>
                  <a:tcPr anchor="ctr" marL="36576" marR="36576" marT="0" marB="0">
                    <a:solidFill>
                      <a:srgbClr val="EEF3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B2F4B"/>
                          </a:solidFill>
                          <a:latin typeface="Meiryo UI"/>
                        </a:rPr>
                        <a:t>20.8%</a:t>
                      </a:r>
                    </a:p>
                  </a:txBody>
                  <a:tcPr anchor="ctr" marL="36576" marR="36576" marT="0" marB="0">
                    <a:solidFill>
                      <a:srgbClr val="EEF3FA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l"/>
                      <a:r>
                        <a:rPr sz="1000" b="1">
                          <a:solidFill>
                            <a:srgbClr val="1B2F4B"/>
                          </a:solidFill>
                          <a:latin typeface="Meiryo UI"/>
                        </a:rPr>
                        <a:t>松江営業所</a:t>
                      </a:r>
                    </a:p>
                  </a:txBody>
                  <a:tcPr anchor="ctr" marL="36576" marR="36576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0">
                          <a:solidFill>
                            <a:srgbClr val="1B2F4B"/>
                          </a:solidFill>
                          <a:latin typeface="Meiryo UI"/>
                        </a:rPr>
                        <a:t>409,300</a:t>
                      </a:r>
                    </a:p>
                  </a:txBody>
                  <a:tcPr anchor="ctr" marL="36576" marR="36576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1">
                          <a:solidFill>
                            <a:srgbClr val="1A6E1A"/>
                          </a:solidFill>
                          <a:latin typeface="Meiryo UI"/>
                        </a:rPr>
                        <a:t>111.3%</a:t>
                      </a:r>
                    </a:p>
                  </a:txBody>
                  <a:tcPr anchor="ctr" marL="36576" marR="36576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1">
                          <a:solidFill>
                            <a:srgbClr val="1A6E1A"/>
                          </a:solidFill>
                          <a:latin typeface="Meiryo UI"/>
                        </a:rPr>
                        <a:t>108.5%</a:t>
                      </a:r>
                    </a:p>
                  </a:txBody>
                  <a:tcPr anchor="ctr" marL="36576" marR="36576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100" b="1">
                          <a:solidFill>
                            <a:srgbClr val="D4820A"/>
                          </a:solidFill>
                          <a:latin typeface="Meiryo UI"/>
                        </a:rPr>
                        <a:t>98,955</a:t>
                      </a:r>
                    </a:p>
                  </a:txBody>
                  <a:tcPr anchor="ctr" marL="36576" marR="36576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1">
                          <a:solidFill>
                            <a:srgbClr val="1A6E1A"/>
                          </a:solidFill>
                          <a:latin typeface="Meiryo UI"/>
                        </a:rPr>
                        <a:t>118.1%</a:t>
                      </a:r>
                    </a:p>
                  </a:txBody>
                  <a:tcPr anchor="ctr" marL="36576" marR="36576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1">
                          <a:solidFill>
                            <a:srgbClr val="1A6E1A"/>
                          </a:solidFill>
                          <a:latin typeface="Meiryo UI"/>
                        </a:rPr>
                        <a:t>110.1%</a:t>
                      </a:r>
                    </a:p>
                  </a:txBody>
                  <a:tcPr anchor="ctr" marL="36576" marR="36576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B2F4B"/>
                          </a:solidFill>
                          <a:latin typeface="Meiryo UI"/>
                        </a:rPr>
                        <a:t>24.2%</a:t>
                      </a:r>
                    </a:p>
                  </a:txBody>
                  <a:tcPr anchor="ctr" marL="36576" marR="36576" marT="0" marB="0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l"/>
                      <a:r>
                        <a:rPr sz="1000" b="1">
                          <a:solidFill>
                            <a:srgbClr val="1B2F4B"/>
                          </a:solidFill>
                          <a:latin typeface="Meiryo UI"/>
                        </a:rPr>
                        <a:t>広域営業部</a:t>
                      </a:r>
                    </a:p>
                  </a:txBody>
                  <a:tcPr anchor="ctr" marL="36576" marR="36576" marT="0" marB="0">
                    <a:solidFill>
                      <a:srgbClr val="EEF3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0">
                          <a:solidFill>
                            <a:srgbClr val="1B2F4B"/>
                          </a:solidFill>
                          <a:latin typeface="Meiryo UI"/>
                        </a:rPr>
                        <a:t>481,136</a:t>
                      </a:r>
                    </a:p>
                  </a:txBody>
                  <a:tcPr anchor="ctr" marL="36576" marR="36576" marT="0" marB="0">
                    <a:solidFill>
                      <a:srgbClr val="EEF3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1">
                          <a:solidFill>
                            <a:srgbClr val="1A6E1A"/>
                          </a:solidFill>
                          <a:latin typeface="Meiryo UI"/>
                        </a:rPr>
                        <a:t>103.8%</a:t>
                      </a:r>
                    </a:p>
                  </a:txBody>
                  <a:tcPr anchor="ctr" marL="36576" marR="36576" marT="0" marB="0">
                    <a:solidFill>
                      <a:srgbClr val="EEF3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1">
                          <a:solidFill>
                            <a:srgbClr val="C55A11"/>
                          </a:solidFill>
                          <a:latin typeface="Meiryo UI"/>
                        </a:rPr>
                        <a:t>94.1%</a:t>
                      </a:r>
                    </a:p>
                  </a:txBody>
                  <a:tcPr anchor="ctr" marL="36576" marR="36576" marT="0" marB="0">
                    <a:solidFill>
                      <a:srgbClr val="EEF3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100" b="1">
                          <a:solidFill>
                            <a:srgbClr val="D4820A"/>
                          </a:solidFill>
                          <a:latin typeface="Meiryo UI"/>
                        </a:rPr>
                        <a:t>81,360</a:t>
                      </a:r>
                    </a:p>
                  </a:txBody>
                  <a:tcPr anchor="ctr" marL="36576" marR="36576" marT="0" marB="0">
                    <a:solidFill>
                      <a:srgbClr val="EEF3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1">
                          <a:solidFill>
                            <a:srgbClr val="1A6E1A"/>
                          </a:solidFill>
                          <a:latin typeface="Meiryo UI"/>
                        </a:rPr>
                        <a:t>117.1%</a:t>
                      </a:r>
                    </a:p>
                  </a:txBody>
                  <a:tcPr anchor="ctr" marL="36576" marR="36576" marT="0" marB="0">
                    <a:solidFill>
                      <a:srgbClr val="EEF3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1">
                          <a:solidFill>
                            <a:srgbClr val="1A6E1A"/>
                          </a:solidFill>
                          <a:latin typeface="Meiryo UI"/>
                        </a:rPr>
                        <a:t>105.0%</a:t>
                      </a:r>
                    </a:p>
                  </a:txBody>
                  <a:tcPr anchor="ctr" marL="36576" marR="36576" marT="0" marB="0">
                    <a:solidFill>
                      <a:srgbClr val="EEF3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B2F4B"/>
                          </a:solidFill>
                          <a:latin typeface="Meiryo UI"/>
                        </a:rPr>
                        <a:t>16.9%</a:t>
                      </a:r>
                    </a:p>
                  </a:txBody>
                  <a:tcPr anchor="ctr" marL="36576" marR="36576" marT="0" marB="0">
                    <a:solidFill>
                      <a:srgbClr val="EEF3FA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l"/>
                      <a:r>
                        <a:rPr sz="1000" b="1">
                          <a:solidFill>
                            <a:srgbClr val="1B2F4B"/>
                          </a:solidFill>
                          <a:latin typeface="Meiryo UI"/>
                        </a:rPr>
                        <a:t>境港営業所</a:t>
                      </a:r>
                    </a:p>
                  </a:txBody>
                  <a:tcPr anchor="ctr" marL="36576" marR="36576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0">
                          <a:solidFill>
                            <a:srgbClr val="1B2F4B"/>
                          </a:solidFill>
                          <a:latin typeface="Meiryo UI"/>
                        </a:rPr>
                        <a:t>658,980</a:t>
                      </a:r>
                    </a:p>
                  </a:txBody>
                  <a:tcPr anchor="ctr" marL="36576" marR="36576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1">
                          <a:solidFill>
                            <a:srgbClr val="C55A11"/>
                          </a:solidFill>
                          <a:latin typeface="Meiryo UI"/>
                        </a:rPr>
                        <a:t>98.1%</a:t>
                      </a:r>
                    </a:p>
                  </a:txBody>
                  <a:tcPr anchor="ctr" marL="36576" marR="36576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1">
                          <a:solidFill>
                            <a:srgbClr val="C55A11"/>
                          </a:solidFill>
                          <a:latin typeface="Meiryo UI"/>
                        </a:rPr>
                        <a:t>98.4%</a:t>
                      </a:r>
                    </a:p>
                  </a:txBody>
                  <a:tcPr anchor="ctr" marL="36576" marR="36576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100" b="1">
                          <a:solidFill>
                            <a:srgbClr val="D4820A"/>
                          </a:solidFill>
                          <a:latin typeface="Meiryo UI"/>
                        </a:rPr>
                        <a:t>131,810</a:t>
                      </a:r>
                    </a:p>
                  </a:txBody>
                  <a:tcPr anchor="ctr" marL="36576" marR="36576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1">
                          <a:solidFill>
                            <a:srgbClr val="1A6E1A"/>
                          </a:solidFill>
                          <a:latin typeface="Meiryo UI"/>
                        </a:rPr>
                        <a:t>100.0%</a:t>
                      </a:r>
                    </a:p>
                  </a:txBody>
                  <a:tcPr anchor="ctr" marL="36576" marR="36576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1">
                          <a:solidFill>
                            <a:srgbClr val="C55A11"/>
                          </a:solidFill>
                          <a:latin typeface="Meiryo UI"/>
                        </a:rPr>
                        <a:t>95.3%</a:t>
                      </a:r>
                    </a:p>
                  </a:txBody>
                  <a:tcPr anchor="ctr" marL="36576" marR="36576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B2F4B"/>
                          </a:solidFill>
                          <a:latin typeface="Meiryo UI"/>
                        </a:rPr>
                        <a:t>20.0%</a:t>
                      </a:r>
                    </a:p>
                  </a:txBody>
                  <a:tcPr anchor="ctr" marL="36576" marR="36576" marT="0" marB="0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l"/>
                      <a:r>
                        <a:rPr sz="1000" b="1">
                          <a:solidFill>
                            <a:srgbClr val="1B2F4B"/>
                          </a:solidFill>
                          <a:latin typeface="Meiryo UI"/>
                        </a:rPr>
                        <a:t>水産部（計）</a:t>
                      </a:r>
                    </a:p>
                  </a:txBody>
                  <a:tcPr anchor="ctr" marL="36576" marR="36576" marT="0" marB="0">
                    <a:solidFill>
                      <a:srgbClr val="EEF3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0">
                          <a:solidFill>
                            <a:srgbClr val="1B2F4B"/>
                          </a:solidFill>
                          <a:latin typeface="Meiryo UI"/>
                        </a:rPr>
                        <a:t>483,691</a:t>
                      </a:r>
                    </a:p>
                  </a:txBody>
                  <a:tcPr anchor="ctr" marL="36576" marR="36576" marT="0" marB="0">
                    <a:solidFill>
                      <a:srgbClr val="EEF3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1">
                          <a:solidFill>
                            <a:srgbClr val="1A6E1A"/>
                          </a:solidFill>
                          <a:latin typeface="Meiryo UI"/>
                        </a:rPr>
                        <a:t>130.1%</a:t>
                      </a:r>
                    </a:p>
                  </a:txBody>
                  <a:tcPr anchor="ctr" marL="36576" marR="36576" marT="0" marB="0">
                    <a:solidFill>
                      <a:srgbClr val="EEF3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1">
                          <a:solidFill>
                            <a:srgbClr val="1A6E1A"/>
                          </a:solidFill>
                          <a:latin typeface="Meiryo UI"/>
                        </a:rPr>
                        <a:t>111.5%</a:t>
                      </a:r>
                    </a:p>
                  </a:txBody>
                  <a:tcPr anchor="ctr" marL="36576" marR="36576" marT="0" marB="0">
                    <a:solidFill>
                      <a:srgbClr val="EEF3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100" b="1">
                          <a:solidFill>
                            <a:srgbClr val="D4820A"/>
                          </a:solidFill>
                          <a:latin typeface="Meiryo UI"/>
                        </a:rPr>
                        <a:t>150,215</a:t>
                      </a:r>
                    </a:p>
                  </a:txBody>
                  <a:tcPr anchor="ctr" marL="36576" marR="36576" marT="0" marB="0">
                    <a:solidFill>
                      <a:srgbClr val="EEF3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1">
                          <a:solidFill>
                            <a:srgbClr val="1A6E1A"/>
                          </a:solidFill>
                          <a:latin typeface="Meiryo UI"/>
                        </a:rPr>
                        <a:t>135.0%</a:t>
                      </a:r>
                    </a:p>
                  </a:txBody>
                  <a:tcPr anchor="ctr" marL="36576" marR="36576" marT="0" marB="0">
                    <a:solidFill>
                      <a:srgbClr val="EEF3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1">
                          <a:solidFill>
                            <a:srgbClr val="1A6E1A"/>
                          </a:solidFill>
                          <a:latin typeface="Meiryo UI"/>
                        </a:rPr>
                        <a:t>110.7%</a:t>
                      </a:r>
                    </a:p>
                  </a:txBody>
                  <a:tcPr anchor="ctr" marL="36576" marR="36576" marT="0" marB="0">
                    <a:solidFill>
                      <a:srgbClr val="EEF3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B2F4B"/>
                          </a:solidFill>
                          <a:latin typeface="Meiryo UI"/>
                        </a:rPr>
                        <a:t>31.1%</a:t>
                      </a:r>
                    </a:p>
                  </a:txBody>
                  <a:tcPr anchor="ctr" marL="36576" marR="36576" marT="0" marB="0">
                    <a:solidFill>
                      <a:srgbClr val="EEF3FA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l"/>
                      <a:r>
                        <a:rPr sz="1000" b="1">
                          <a:solidFill>
                            <a:srgbClr val="1B2F4B"/>
                          </a:solidFill>
                          <a:latin typeface="Meiryo UI"/>
                        </a:rPr>
                        <a:t>キョウワ</a:t>
                      </a:r>
                    </a:p>
                  </a:txBody>
                  <a:tcPr anchor="ctr" marL="36576" marR="36576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0">
                          <a:solidFill>
                            <a:srgbClr val="1B2F4B"/>
                          </a:solidFill>
                          <a:latin typeface="Meiryo UI"/>
                        </a:rPr>
                        <a:t>29,311</a:t>
                      </a:r>
                    </a:p>
                  </a:txBody>
                  <a:tcPr anchor="ctr" marL="36576" marR="36576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1">
                          <a:solidFill>
                            <a:srgbClr val="1A6E1A"/>
                          </a:solidFill>
                          <a:latin typeface="Meiryo UI"/>
                        </a:rPr>
                        <a:t>112.4%</a:t>
                      </a:r>
                    </a:p>
                  </a:txBody>
                  <a:tcPr anchor="ctr" marL="36576" marR="36576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1">
                          <a:solidFill>
                            <a:srgbClr val="1A6E1A"/>
                          </a:solidFill>
                          <a:latin typeface="Meiryo UI"/>
                        </a:rPr>
                        <a:t>112.4%</a:t>
                      </a:r>
                    </a:p>
                  </a:txBody>
                  <a:tcPr anchor="ctr" marL="36576" marR="36576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100" b="1">
                          <a:solidFill>
                            <a:srgbClr val="D4820A"/>
                          </a:solidFill>
                          <a:latin typeface="Meiryo UI"/>
                        </a:rPr>
                        <a:t>16,699</a:t>
                      </a:r>
                    </a:p>
                  </a:txBody>
                  <a:tcPr anchor="ctr" marL="36576" marR="36576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1">
                          <a:solidFill>
                            <a:srgbClr val="C55A11"/>
                          </a:solidFill>
                          <a:latin typeface="Meiryo UI"/>
                        </a:rPr>
                        <a:t>94.6%</a:t>
                      </a:r>
                    </a:p>
                  </a:txBody>
                  <a:tcPr anchor="ctr" marL="36576" marR="36576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1">
                          <a:solidFill>
                            <a:srgbClr val="1A6E1A"/>
                          </a:solidFill>
                          <a:latin typeface="Meiryo UI"/>
                        </a:rPr>
                        <a:t>110.0%</a:t>
                      </a:r>
                    </a:p>
                  </a:txBody>
                  <a:tcPr anchor="ctr" marL="36576" marR="36576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B2F4B"/>
                          </a:solidFill>
                          <a:latin typeface="Meiryo UI"/>
                        </a:rPr>
                        <a:t>57.0%</a:t>
                      </a:r>
                    </a:p>
                  </a:txBody>
                  <a:tcPr anchor="ctr" marL="36576" marR="36576" marT="0" marB="0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Meiryo UI"/>
                        </a:rPr>
                        <a:t>合　計</a:t>
                      </a:r>
                    </a:p>
                  </a:txBody>
                  <a:tcPr anchor="ctr" marL="36576" marR="36576" marT="0" marB="0">
                    <a:solidFill>
                      <a:srgbClr val="1B2F4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Meiryo UI"/>
                        </a:rPr>
                        <a:t>3,378,910</a:t>
                      </a:r>
                    </a:p>
                  </a:txBody>
                  <a:tcPr anchor="ctr" marL="36576" marR="36576" marT="0" marB="0">
                    <a:solidFill>
                      <a:srgbClr val="1B2F4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Meiryo UI"/>
                        </a:rPr>
                        <a:t>108.6%</a:t>
                      </a:r>
                    </a:p>
                  </a:txBody>
                  <a:tcPr anchor="ctr" marL="36576" marR="36576" marT="0" marB="0">
                    <a:solidFill>
                      <a:srgbClr val="1B2F4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Meiryo UI"/>
                        </a:rPr>
                        <a:t>100.8%</a:t>
                      </a:r>
                    </a:p>
                  </a:txBody>
                  <a:tcPr anchor="ctr" marL="36576" marR="36576" marT="0" marB="0">
                    <a:solidFill>
                      <a:srgbClr val="1B2F4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Meiryo UI"/>
                        </a:rPr>
                        <a:t>808,994</a:t>
                      </a:r>
                    </a:p>
                  </a:txBody>
                  <a:tcPr anchor="ctr" marL="36576" marR="36576" marT="0" marB="0">
                    <a:solidFill>
                      <a:srgbClr val="1B2F4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Meiryo UI"/>
                        </a:rPr>
                        <a:t>112.7%</a:t>
                      </a:r>
                    </a:p>
                  </a:txBody>
                  <a:tcPr anchor="ctr" marL="36576" marR="36576" marT="0" marB="0">
                    <a:solidFill>
                      <a:srgbClr val="1B2F4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Meiryo UI"/>
                        </a:rPr>
                        <a:t>103.8%</a:t>
                      </a:r>
                    </a:p>
                  </a:txBody>
                  <a:tcPr anchor="ctr" marL="36576" marR="36576" marT="0" marB="0">
                    <a:solidFill>
                      <a:srgbClr val="1B2F4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Meiryo UI"/>
                        </a:rPr>
                        <a:t>23.9%</a:t>
                      </a:r>
                    </a:p>
                  </a:txBody>
                  <a:tcPr anchor="ctr" marL="36576" marR="36576" marT="0" marB="0">
                    <a:solidFill>
                      <a:srgbClr val="1B2F4B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66928" y="4370832"/>
            <a:ext cx="8229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>
                <a:solidFill>
                  <a:srgbClr val="E07B39"/>
                </a:solidFill>
                <a:latin typeface="Meiryo UI"/>
              </a:rPr>
              <a:t>※ 期初来粗利益額808,994千円・前期比112.7%（売上108.6%）。粗利計画比103.8%と売上計画比100.8%を上回る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1B2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8229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>
                <a:solidFill>
                  <a:srgbClr val="1B2F4B"/>
                </a:solidFill>
                <a:latin typeface="Meiryo UI"/>
              </a:rPr>
              <a:t>粗利益額　前期比グラフ（3期間比較）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03504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64748B"/>
                </a:solidFill>
                <a:latin typeface="Meiryo UI"/>
              </a:rPr>
              <a:t>営業所別・単位: %　　100%を上回ると増益　　※主指標である粗利益額の前期比のみを表示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5074920"/>
            <a:ext cx="9144000" cy="64008"/>
          </a:xfrm>
          <a:prstGeom prst="rect">
            <a:avLst/>
          </a:prstGeom>
          <a:solidFill>
            <a:srgbClr val="1B2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4828032"/>
            <a:ext cx="8229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Meiryo UI"/>
              </a:rPr>
              <a:t>株式会社タカハシ包装センター | 令和8年8月実績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457200" y="960120"/>
          <a:ext cx="8229600" cy="32918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57200" y="4370832"/>
            <a:ext cx="8229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64748B"/>
                </a:solidFill>
                <a:latin typeface="Meiryo UI"/>
              </a:rPr>
              <a:t>全社の粗利益額前期比は 単月93.3%／下期118.4%／期初来112.7%。単月は境港のみ、下期は境港・キョウワ、期初来はキョウワのみ前期を下回る（境港期初来は100.0%）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1B2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8229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>
                <a:solidFill>
                  <a:srgbClr val="1B2F4B"/>
                </a:solidFill>
                <a:latin typeface="Meiryo UI"/>
              </a:rPr>
              <a:t>粗利益額　増減寄与（前期差）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03504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64748B"/>
                </a:solidFill>
                <a:latin typeface="Meiryo UI"/>
              </a:rPr>
              <a:t>営業所別・単位: 千円　　※期間が長いほど増減額は大きくなる点に留意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5074920"/>
            <a:ext cx="9144000" cy="64008"/>
          </a:xfrm>
          <a:prstGeom prst="rect">
            <a:avLst/>
          </a:prstGeom>
          <a:solidFill>
            <a:srgbClr val="1B2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4828032"/>
            <a:ext cx="8229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Meiryo UI"/>
              </a:rPr>
              <a:t>株式会社タカハシ包装センター | 令和8年8月実績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457200" y="960120"/>
          <a:ext cx="8229600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57200" y="4334256"/>
            <a:ext cx="8229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64748B"/>
                </a:solidFill>
                <a:latin typeface="Meiryo UI"/>
              </a:rPr>
              <a:t>8月単月の粗利は▲4,701千円。境港▲13,147（前期ニッスイサーモン向け機械大口の反動）を 広域+3,063・松江+2,227・キョウワ+973・水産部+972 の増益で大半を吸収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1B2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8229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>
                <a:solidFill>
                  <a:srgbClr val="1B2F4B"/>
                </a:solidFill>
                <a:latin typeface="Meiryo UI"/>
              </a:rPr>
              <a:t>特記事項：粗利益額の評価とリスク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03504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64748B"/>
                </a:solidFill>
                <a:latin typeface="Meiryo UI"/>
              </a:rPr>
              <a:t>単月・下期・期初来累計の3期間からの考察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5074920"/>
            <a:ext cx="9144000" cy="64008"/>
          </a:xfrm>
          <a:prstGeom prst="rect">
            <a:avLst/>
          </a:prstGeom>
          <a:solidFill>
            <a:srgbClr val="1B2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4828032"/>
            <a:ext cx="8229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Meiryo UI"/>
              </a:rPr>
              <a:t>株式会社タカハシ包装センター | 令和8年8月実績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896112"/>
            <a:ext cx="841248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65760" y="896112"/>
            <a:ext cx="73152" cy="1188720"/>
          </a:xfrm>
          <a:prstGeom prst="rect">
            <a:avLst/>
          </a:prstGeom>
          <a:solidFill>
            <a:srgbClr val="D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978408"/>
            <a:ext cx="8028431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D4820A"/>
                </a:solidFill>
                <a:latin typeface="Meiryo UI"/>
              </a:rPr>
              <a:t>粗利益額は前期比減も計画超過　～境港の前期特殊要因を除けば増益基調は継続～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280160"/>
            <a:ext cx="795527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Meiryo UI"/>
              </a:rPr>
              <a:t>・ 8月粗利益額 65,797千円（前期比93.3%・計画比106.5%）。売上は前期比82.2%・計画比99.7%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1545336"/>
            <a:ext cx="795527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Meiryo UI"/>
              </a:rPr>
              <a:t>・ 前期8月の境港はニッスイサーモン向け機械81,900千円を含む。境港除き6部門は売上110.4%・粗利117.2%・粗利計画比109.7%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1810512"/>
            <a:ext cx="795527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Meiryo UI"/>
              </a:rPr>
              <a:t>・ 粗利率は単月24.4%（前期21.5%）・下期24.7%（23.1%）・期初来23.9%（23.1%）と全期間で改善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2176272"/>
            <a:ext cx="8412480" cy="1188720"/>
          </a:xfrm>
          <a:prstGeom prst="rect">
            <a:avLst/>
          </a:prstGeom>
          <a:solidFill>
            <a:srgbClr val="FDECEA"/>
          </a:solidFill>
          <a:ln w="12700">
            <a:solidFill>
              <a:srgbClr val="7D1D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65760" y="2176272"/>
            <a:ext cx="73152" cy="1188720"/>
          </a:xfrm>
          <a:prstGeom prst="rect">
            <a:avLst/>
          </a:prstGeom>
          <a:solidFill>
            <a:srgbClr val="7D1D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" y="2258568"/>
            <a:ext cx="8028431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7D1D1D"/>
                </a:solidFill>
                <a:latin typeface="Meiryo UI"/>
              </a:rPr>
              <a:t>【警戒】石見の失速とナフサショック　～価格改定効果の一巡が数字に出始めた～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2560320"/>
            <a:ext cx="795527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5A2A2A"/>
                </a:solidFill>
                <a:latin typeface="Meiryo UI"/>
              </a:rPr>
              <a:t>・ 石見は売上計画比87.9%・前期比95.9%で下期初の減収。粗利前期比は4〜7月の2桁増から101.5%へ鈍化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2825496"/>
            <a:ext cx="795527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5A2A2A"/>
                </a:solidFill>
                <a:latin typeface="Meiryo UI"/>
              </a:rPr>
              <a:t>・ 全社粗利前期比は6月135.9%→7月114.0%→8月93.3%（境港除き117.2%）。売上計画比99.7%は下期初の計画割れ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3090672"/>
            <a:ext cx="795527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5A2A2A"/>
                </a:solidFill>
                <a:latin typeface="Meiryo UI"/>
              </a:rPr>
              <a:t>・ 原料再騰なら転嫁が追いつかず粗利率は急落しうる。価格改定効果剥落後の「実力の粗利益額」確保を最優先に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65760" y="3456432"/>
            <a:ext cx="8412480" cy="932688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65760" y="3456432"/>
            <a:ext cx="73152" cy="932688"/>
          </a:xfrm>
          <a:prstGeom prst="rect">
            <a:avLst/>
          </a:prstGeom>
          <a:solidFill>
            <a:srgbClr val="2E5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66928" y="3538727"/>
            <a:ext cx="8028431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2E5E8E"/>
                </a:solidFill>
                <a:latin typeface="Meiryo UI"/>
              </a:rPr>
              <a:t>営業所別の実態　～売上と粗利益額の乖離～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3840480"/>
            <a:ext cx="795527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Meiryo UI"/>
              </a:rPr>
              <a:t>・ 広域：粗利前期比150.3%（リンガーハット向け牽引）、松江：130.5%（岡田商店・JAしまね等）と粗利率改善を伴う増益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4105656"/>
            <a:ext cx="795527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Meiryo UI"/>
              </a:rPr>
              <a:t>・ キョウワ：売上3,950千円（前期比332.0%）と大幅増だが粗利率43.6%（前期63.0%）。下期粗利前期比96.3%は前期割れ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" y="4462272"/>
            <a:ext cx="8412480" cy="292608"/>
          </a:xfrm>
          <a:prstGeom prst="rect">
            <a:avLst/>
          </a:prstGeom>
          <a:solidFill>
            <a:srgbClr val="FEF3C7"/>
          </a:solidFill>
          <a:ln w="12700">
            <a:solidFill>
              <a:srgbClr val="D482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30352" y="4517136"/>
            <a:ext cx="81381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7D5A00"/>
                </a:solidFill>
                <a:latin typeface="Meiryo UI"/>
              </a:rPr>
              <a:t>最重要指標は粗利益額。境港の特殊要因を除けば増益だが、石見の失速と伸び率鈍化は価格改定効果一巡の兆候。粗利率の変調を月次で監視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