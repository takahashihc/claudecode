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単月8月</c:v>
                </c:pt>
              </c:strCache>
            </c:strRef>
          </c:tx>
          <c:spPr>
            <a:solidFill>
              <a:srgbClr val="D4820A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101.5</c:v>
                </c:pt>
                <c:pt idx="1">
                  <c:v>111.1</c:v>
                </c:pt>
                <c:pt idx="2">
                  <c:v>130.4</c:v>
                </c:pt>
                <c:pt idx="3">
                  <c:v>150.2</c:v>
                </c:pt>
                <c:pt idx="4">
                  <c:v>38.9</c:v>
                </c:pt>
                <c:pt idx="5">
                  <c:v>112.5</c:v>
                </c:pt>
                <c:pt idx="6">
                  <c:v>229.7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下期4〜8月</c:v>
                </c:pt>
              </c:strCache>
            </c:strRef>
          </c:tx>
          <c:spPr>
            <a:solidFill>
              <a:srgbClr val="2E5E8E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119.3</c:v>
                </c:pt>
                <c:pt idx="1">
                  <c:v>114.0</c:v>
                </c:pt>
                <c:pt idx="2">
                  <c:v>124.9</c:v>
                </c:pt>
                <c:pt idx="3">
                  <c:v>141.1</c:v>
                </c:pt>
                <c:pt idx="4">
                  <c:v>98.6</c:v>
                </c:pt>
                <c:pt idx="5">
                  <c:v>126.9</c:v>
                </c:pt>
                <c:pt idx="6">
                  <c:v>96.3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期初来10〜8月</c:v>
                </c:pt>
              </c:strCache>
            </c:strRef>
          </c:tx>
          <c:spPr>
            <a:solidFill>
              <a:srgbClr val="1B2F4B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109.9</c:v>
                </c:pt>
                <c:pt idx="1">
                  <c:v>106.1</c:v>
                </c:pt>
                <c:pt idx="2">
                  <c:v>118.1</c:v>
                </c:pt>
                <c:pt idx="3">
                  <c:v>117.1</c:v>
                </c:pt>
                <c:pt idx="4">
                  <c:v>100.0</c:v>
                </c:pt>
                <c:pt idx="5">
                  <c:v>135.0</c:v>
                </c:pt>
                <c:pt idx="6">
                  <c:v>94.6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 b="1">
                  <a:latin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B2F4B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>
          <c:spPr>
            <a:ln w="6350">
              <a:solidFill>
                <a:srgbClr val="CBD5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  <a:latin typeface="Meiryo UI"/>
              </a:defRPr>
            </a:pPr>
          </a:p>
        </c:txPr>
        <c:crossAx val="-2068027336"/>
        <c:crosses val="autoZero"/>
        <c:majorUnit val="25.0"/>
      </c:valAx>
    </c:plotArea>
    <c:legend>
      <c:legendPos val="t"/>
      <c:overlay val="0"/>
      <c:txPr>
        <a:bodyPr/>
        <a:lstStyle/>
        <a:p>
          <a:pPr>
            <a:defRPr sz="1000"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単月8月</c:v>
                </c:pt>
              </c:strCache>
            </c:strRef>
          </c:tx>
          <c:spPr>
            <a:solidFill>
              <a:srgbClr val="D4820A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290</c:v>
                </c:pt>
                <c:pt idx="1">
                  <c:v>921</c:v>
                </c:pt>
                <c:pt idx="2">
                  <c:v>2222</c:v>
                </c:pt>
                <c:pt idx="3">
                  <c:v>3060</c:v>
                </c:pt>
                <c:pt idx="4">
                  <c:v>-13147</c:v>
                </c:pt>
                <c:pt idx="5">
                  <c:v>972</c:v>
                </c:pt>
                <c:pt idx="6">
                  <c:v>973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下期4〜8月</c:v>
                </c:pt>
              </c:strCache>
            </c:strRef>
          </c:tx>
          <c:spPr>
            <a:solidFill>
              <a:srgbClr val="2E5E8E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17239</c:v>
                </c:pt>
                <c:pt idx="1">
                  <c:v>6248</c:v>
                </c:pt>
                <c:pt idx="2">
                  <c:v>9217</c:v>
                </c:pt>
                <c:pt idx="3">
                  <c:v>13087</c:v>
                </c:pt>
                <c:pt idx="4">
                  <c:v>-798</c:v>
                </c:pt>
                <c:pt idx="5">
                  <c:v>14718</c:v>
                </c:pt>
                <c:pt idx="6">
                  <c:v>-265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期初来10〜8月</c:v>
                </c:pt>
              </c:strCache>
            </c:strRef>
          </c:tx>
          <c:spPr>
            <a:solidFill>
              <a:srgbClr val="1B2F4B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19943</c:v>
                </c:pt>
                <c:pt idx="1">
                  <c:v>6254</c:v>
                </c:pt>
                <c:pt idx="2">
                  <c:v>15185</c:v>
                </c:pt>
                <c:pt idx="3">
                  <c:v>11876</c:v>
                </c:pt>
                <c:pt idx="4">
                  <c:v>-19</c:v>
                </c:pt>
                <c:pt idx="5">
                  <c:v>38916</c:v>
                </c:pt>
                <c:pt idx="6">
                  <c:v>-948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 b="1">
                  <a:latin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solidFill>
                  <a:srgbClr val="1B2F4B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BD5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  <a:latin typeface="Meiryo U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4820A"/>
                </a:solidFill>
                <a:latin typeface="Meiryo UI"/>
              </a:rPr>
              <a:t>株式会社タカハシ包装センター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 UI"/>
              </a:rPr>
              <a:t>令和8年8月　月次実績報告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CADCFC"/>
                </a:solidFill>
                <a:latin typeface="Meiryo UI"/>
              </a:rPr>
              <a:t>第51期下期 8月実績（下期5ヶ月目）　～粗利益額を主軸とした分析～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320040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7863840" cy="932688"/>
          </a:xfrm>
          <a:prstGeom prst="rect">
            <a:avLst/>
          </a:prstGeom>
          <a:solidFill>
            <a:srgbClr val="243954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2549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820A"/>
                </a:solidFill>
                <a:latin typeface="Meiryo UI"/>
              </a:rPr>
              <a:t>粗利益額: 8月 65,789千円（前期比93.3%・計画比106.5%）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・ 前期8月の境港機械大口（81,900千円）の反動で減収減益。境港除きは売上110.4%・粗利117.2%と増益継続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・ 粗利は計画比106.5%と計画超過、粗利率24.4%（前期21.5%）。増益は 広域+3,060・松江+2,222 が牽引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85615"/>
            <a:ext cx="7863840" cy="658368"/>
          </a:xfrm>
          <a:prstGeom prst="rect">
            <a:avLst/>
          </a:prstGeom>
          <a:solidFill>
            <a:srgbClr val="3A1F1F"/>
          </a:solidFill>
          <a:ln w="15875">
            <a:solidFill>
              <a:srgbClr val="7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77056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9E96"/>
                </a:solidFill>
                <a:latin typeface="Meiryo UI"/>
              </a:rPr>
              <a:t>【警戒】石見の失速とナフサショックの先行き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74980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・ 石見は売上計画比87.9%・前期比95.9%と下期初の減収、粗利前期比101.5%は下期最低。価格改定効果の一巡を注視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分析期間: 単月（8月）／下期（4〜8月）／期初来累計（令和7年10月〜令和8年8月）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Meiryo UI"/>
              </a:rPr>
              <a:t>作成日: 令和8年9月5日　　資料作成者: 高橋将史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全社実績ハイライト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3期間サマリー（単位: 千円）　※粗利益額を主指標／合計は6営業所＋キョウワ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8月 粗利益額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65,789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千円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前期比 93.3% / 計画比 106.5%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8月 売上高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269,896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千円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前期比 82.2% / 計画比 99.7%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8月 粗利率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24.4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 21.5% → 今期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粗利益額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382,091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118.4% / 計画比 113.3%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186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売上高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1,549,475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111.0% / 計画比 106.3%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21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粗利率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24.7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 23.1% → 今期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期初来 粗利益額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808,987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112.7% / 計画比 103.8%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89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期初来 売上高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186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3,378,910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86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108.6% / 計画比 100.8%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21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618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期初来 粗利率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18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23.9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 23.1% → 今期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8月単月実績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金色列＝粗利益額（主指標）　　色: 緑=100%以上／橙=90〜99%／赤=90%未満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932688"/>
          <a:ext cx="77266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051560"/>
                <a:gridCol w="822960"/>
                <a:gridCol w="822960"/>
                <a:gridCol w="1097280"/>
                <a:gridCol w="868680"/>
                <a:gridCol w="868680"/>
                <a:gridCol w="77724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64,244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95.9%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0392B"/>
                          </a:solidFill>
                          <a:latin typeface="Meiryo UI"/>
                        </a:rPr>
                        <a:t>87.9%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19,040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101.5%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98.3%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29.6%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44,275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112.7%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101.3%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9,189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111.1%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101.0%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33,114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103.2%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106.9%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9,525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130.4%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118.6%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28.8%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49,723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123.2%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110.5%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9,150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150.2%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134.4%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18.4%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41,885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0392B"/>
                          </a:solidFill>
                          <a:latin typeface="Meiryo UI"/>
                        </a:rPr>
                        <a:t>34.3%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0392B"/>
                          </a:solidFill>
                          <a:latin typeface="Meiryo UI"/>
                        </a:rPr>
                        <a:t>87.6%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8,386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0392B"/>
                          </a:solidFill>
                          <a:latin typeface="Meiryo UI"/>
                        </a:rPr>
                        <a:t>38.9%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0392B"/>
                          </a:solidFill>
                          <a:latin typeface="Meiryo UI"/>
                        </a:rPr>
                        <a:t>89.1%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32,704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123.1%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114.1%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8,776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112.5%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107.4%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26.8%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3,950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332.0%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290.5%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1,723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229.7%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195.8%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43.6%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合　計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269,896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82.2%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99.7%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65,789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93.3%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106.5%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24.4%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粗利益額65,789千円は前期比93.3%だが計画比106.5%。減益は前期に機械大口のあった境港（▲13,147）のみで、他6部門は全て増益（粗利計画比109.7%）。水産部は売上123.1%・粗利112.5%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下期（4〜8月）累計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第51期下期5ヶ月経過時点　　金色列＝粗利益額（主指標）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932688"/>
          <a:ext cx="77266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051560"/>
                <a:gridCol w="822960"/>
                <a:gridCol w="822960"/>
                <a:gridCol w="1097280"/>
                <a:gridCol w="868680"/>
                <a:gridCol w="868680"/>
                <a:gridCol w="77724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364,426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115.3%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101.6%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106,693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119.3%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112.3%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29.3%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245,560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113.8%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108.0%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50,958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114.0%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109.1%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173,090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105.5%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116.3%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46,206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124.9%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121.1%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26.7%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230,502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110.3%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104.3%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44,899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141.1%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135.9%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19.5%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289,233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95.4%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97.1%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56,927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98.6%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95.9%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19.7%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234,234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133.2%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121.4%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69,433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126.9%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117.8%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29.6%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12,429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108.2%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113.9%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6,975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96.3%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114.7%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56.1%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合　計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1,549,475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111.0%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106.3%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382,091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118.4%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113.3%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24.7%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下期粗利益額382,091千円・前期比118.4%（売上111.0%）。境港は前期比98.6%・計画比95.9%、キョウワは前期比96.3%と前期を下回る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期初来累計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令和7年10月〜令和8年8月（11ヶ月）　　金色列＝粗利益額（主指標）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932688"/>
          <a:ext cx="77266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051560"/>
                <a:gridCol w="822960"/>
                <a:gridCol w="822960"/>
                <a:gridCol w="1097280"/>
                <a:gridCol w="868680"/>
                <a:gridCol w="868680"/>
                <a:gridCol w="77724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36576" marR="36576" marT="0" marB="0">
                    <a:solidFill>
                      <a:srgbClr val="D4820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795,452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100.3%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221,703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109.9%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105.0%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27.9%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521,039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106.4%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96.3%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108,252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106.1%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97.1%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409,300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111.3%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108.5%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98,950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118.1%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24.2%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481,136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103.8%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94.1%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81,358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117.1%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105.0%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16.9%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658,980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98.1%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98.4%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131,810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100.0%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95.3%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483,691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130.1%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111.5%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150,215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135.0%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110.7%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31.1%</a:t>
                      </a:r>
                    </a:p>
                  </a:txBody>
                  <a:tcPr anchor="ctr" marL="36576" marR="36576" marT="0" marB="0"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29,311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112.4%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112.4%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16,699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C55A11"/>
                          </a:solidFill>
                          <a:latin typeface="Meiryo UI"/>
                        </a:rPr>
                        <a:t>94.6%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A6E1A"/>
                          </a:solidFill>
                          <a:latin typeface="Meiryo UI"/>
                        </a:rPr>
                        <a:t>110.0%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57.0%</a:t>
                      </a:r>
                    </a:p>
                  </a:txBody>
                  <a:tcPr anchor="ctr" marL="36576" marR="36576" marT="0" marB="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合　計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3,378,910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108.6%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100.8%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808,987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112.7%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103.8%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23.9%</a:t>
                      </a:r>
                    </a:p>
                  </a:txBody>
                  <a:tcPr anchor="ctr" marL="36576" marR="36576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期初来粗利益額808,987千円・前期比112.7%（売上108.6%）。粗利計画比103.8%と売上計画比100.8%を上回る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粗利益額　前期比グラフ（3期間比較）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営業所別・単位: %　　100%を上回ると増益　　※主指標である粗利益額の前期比のみを表示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960120"/>
          <a:ext cx="8229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全社の粗利益額前期比は 単月93.3%／下期118.4%／期初来112.7%。単月は境港のみ、下期は境港・キョウワ、期初来はキョウワのみ前期を下回る（境港期初来は100.0%）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粗利益額　増減寄与（前期差）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営業所別・単位: 千円　　※期間が長いほど増減額は大きくなる点に留意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960120"/>
          <a:ext cx="82296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3425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8月単月の粗利は▲4,709千円。境港▲13,147（前期ニッスイサーモン向け機械大口の反動）を 広域+3,060・松江+2,222・キョウワ+973・水産部+972 の増益で大半を吸収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特記事項：粗利益額の評価とリスク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単月・下期・期初来累計の3期間からの考察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令和8年8月実績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9611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96112"/>
            <a:ext cx="73152" cy="1188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78408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820A"/>
                </a:solidFill>
                <a:latin typeface="Meiryo UI"/>
              </a:rPr>
              <a:t>粗利益額は前期比減も計画超過　～境港の前期特殊要因を除けば増益基調は継続～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8月粗利益額 65,789千円（前期比93.3%・計画比106.5%）。売上は前期比82.2%・計画比99.7%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前期8月の境港はニッスイサーモン向け機械81,900千円を含む。境港除き6部門は売上110.4%・粗利117.2%・粗利計画比109.7%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粗利率は単月24.4%（前期21.5%）・下期24.7%（23.1%）・期初来23.9%（23.1%）と全期間で改善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8412480" cy="1188720"/>
          </a:xfrm>
          <a:prstGeom prst="rect">
            <a:avLst/>
          </a:prstGeom>
          <a:solidFill>
            <a:srgbClr val="FDECEA"/>
          </a:solidFill>
          <a:ln w="12700">
            <a:solidFill>
              <a:srgbClr val="7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73152" cy="1188720"/>
          </a:xfrm>
          <a:prstGeom prst="rect">
            <a:avLst/>
          </a:prstGeom>
          <a:solidFill>
            <a:srgbClr val="7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58568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1D1D"/>
                </a:solidFill>
                <a:latin typeface="Meiryo UI"/>
              </a:rPr>
              <a:t>【警戒】石見の失速とナフサショック　～価格改定効果の一巡が数字に出始めた～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石見は売上計画比87.9%・前期比95.9%で下期初の減収。粗利前期比は4〜7月の2桁増から101.5%へ鈍化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2549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全社粗利前期比は6月135.9%→7月114.0%→8月93.3%（境港除き117.2%）。売上計画比99.7%は下期初の計画割れ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原料再騰なら転嫁が追いつかず粗利率は急落しうる。価格改定効果剥落後の「実力の粗利益額」確保を最優先に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56432"/>
            <a:ext cx="8412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56432"/>
            <a:ext cx="73152" cy="932688"/>
          </a:xfrm>
          <a:prstGeom prst="rect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38727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E8E"/>
                </a:solidFill>
                <a:latin typeface="Meiryo UI"/>
              </a:rPr>
              <a:t>営業所別の実態　～売上と粗利益額の乖離～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広域：粗利前期比150.2%（リンガーハット向け牽引）、松江：130.4%（岡田商店・JAしまね等）と粗利率改善を伴う増益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0565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キョウワ：売上3,950千円（前期比332.0%）と大幅増だが粗利率43.6%（前期63.0%）。下期粗利前期比96.3%は前期割れ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4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17136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D5A00"/>
                </a:solidFill>
                <a:latin typeface="Meiryo UI"/>
              </a:rPr>
              <a:t>最重要指標は粗利益額。境港の特殊要因を除けば増益だが、石見の失速と伸び率鈍化は価格改定効果一巡の兆候。粗利率の変調を月次で監視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