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114.0</c:v>
                </c:pt>
                <c:pt idx="1">
                  <c:v>118.0</c:v>
                </c:pt>
                <c:pt idx="2">
                  <c:v>139.7</c:v>
                </c:pt>
                <c:pt idx="3">
                  <c:v>153.1</c:v>
                </c:pt>
                <c:pt idx="4">
                  <c:v>68.6</c:v>
                </c:pt>
                <c:pt idx="5">
                  <c:v>104.0</c:v>
                </c:pt>
                <c:pt idx="6">
                  <c:v>107.9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118.4</c:v>
                </c:pt>
                <c:pt idx="1">
                  <c:v>114.7</c:v>
                </c:pt>
                <c:pt idx="2">
                  <c:v>127.6</c:v>
                </c:pt>
                <c:pt idx="3">
                  <c:v>142.8</c:v>
                </c:pt>
                <c:pt idx="4">
                  <c:v>91.1</c:v>
                </c:pt>
                <c:pt idx="5">
                  <c:v>122.0</c:v>
                </c:pt>
                <c:pt idx="6">
                  <c:v>97.7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110.2</c:v>
                </c:pt>
                <c:pt idx="1">
                  <c:v>107.1</c:v>
                </c:pt>
                <c:pt idx="2">
                  <c:v>119.9</c:v>
                </c:pt>
                <c:pt idx="3">
                  <c:v>119.9</c:v>
                </c:pt>
                <c:pt idx="4">
                  <c:v>96.0</c:v>
                </c:pt>
                <c:pt idx="5">
                  <c:v>131.4</c:v>
                </c:pt>
                <c:pt idx="6">
                  <c:v>95.3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  <c:majorUnit val="25.0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2617</c:v>
                </c:pt>
                <c:pt idx="1">
                  <c:v>1663</c:v>
                </c:pt>
                <c:pt idx="2">
                  <c:v>2685</c:v>
                </c:pt>
                <c:pt idx="3">
                  <c:v>3250</c:v>
                </c:pt>
                <c:pt idx="4">
                  <c:v>-6089</c:v>
                </c:pt>
                <c:pt idx="5">
                  <c:v>545</c:v>
                </c:pt>
                <c:pt idx="6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19856</c:v>
                </c:pt>
                <c:pt idx="1">
                  <c:v>7911</c:v>
                </c:pt>
                <c:pt idx="2">
                  <c:v>12081</c:v>
                </c:pt>
                <c:pt idx="3">
                  <c:v>16229</c:v>
                </c:pt>
                <c:pt idx="4">
                  <c:v>-6887</c:v>
                </c:pt>
                <c:pt idx="5">
                  <c:v>15050</c:v>
                </c:pt>
                <c:pt idx="6">
                  <c:v>-190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22560</c:v>
                </c:pt>
                <c:pt idx="1">
                  <c:v>7917</c:v>
                </c:pt>
                <c:pt idx="2">
                  <c:v>18049</c:v>
                </c:pt>
                <c:pt idx="3">
                  <c:v>15018</c:v>
                </c:pt>
                <c:pt idx="4">
                  <c:v>-6108</c:v>
                </c:pt>
                <c:pt idx="5">
                  <c:v>39248</c:v>
                </c:pt>
                <c:pt idx="6">
                  <c:v>-873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820A"/>
                </a:solidFill>
                <a:latin typeface="Meiryo UI"/>
              </a:rPr>
              <a:t>株式会社タカハシ包装センター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eiryo UI"/>
              </a:rPr>
              <a:t>令和8年9月　月次実績報告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CADCFC"/>
                </a:solidFill>
                <a:latin typeface="Meiryo UI"/>
              </a:rPr>
              <a:t>第51期下期 9月実績（下期6ヶ月目・第51期通期確定）　～粗利益額を主軸とした分析～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87168"/>
            <a:ext cx="320040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7863840" cy="932688"/>
          </a:xfrm>
          <a:prstGeom prst="rect">
            <a:avLst/>
          </a:prstGeom>
          <a:solidFill>
            <a:srgbClr val="243954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粗利益額: 9月 79,515千円（前期比106.3%・計画比106.6%）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第51期通期は売上107.8%・粗利112.1%（計画比104.1%）で増収増益着地。下期粗利は前期比116.1%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9月は境港▲6,089（前期機械大口の反動）を 広域+3,250・松江+2,685・石見+2,617 が吸収し増益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7863840" cy="658368"/>
          </a:xfrm>
          <a:prstGeom prst="rect">
            <a:avLst/>
          </a:prstGeom>
          <a:solidFill>
            <a:srgbClr val="3A1F1F"/>
          </a:solidFill>
          <a:ln w="15875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77056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9E96"/>
                </a:solidFill>
                <a:latin typeface="Meiryo UI"/>
              </a:rPr>
              <a:t>【警戒】境港の通期減益と水産部・キョウワの粗利率低下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境港は通期粗利前期比96.0%・計画比94.7%と唯一の減益。水産部は9月粗利率28.2%（前期30.7%）と低下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分析期間: 単月（9月）／下期（4〜9月）／期初来累計（令和7年10月〜令和8年9月＝第51期通期）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8899AA"/>
                </a:solidFill>
                <a:latin typeface="Meiryo UI"/>
              </a:rPr>
              <a:t>作成日: 令和8年10月7日　　資料作成者: 高橋将史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全社実績ハイライト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3期間サマリー（単位: 千円）　※粗利益額を主指標／合計は6営業所＋キョウワ／通期＝第51期（令和7年10月〜令和8年9月）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粗利益額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79,515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106.3% / 計画比 106.6%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売上高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328,094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100.5% / 計画比 100.5%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24.2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 22.9% → 今期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粗利益額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461,463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116.1% / 計画比 112.0%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86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売上高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1,877,406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109.0% / 計画比 105.2%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粗利益額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888,359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112.1% / 計画比 104.1%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9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売上高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86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3,706,841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107.8% / 計画比 100.8%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521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618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618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9月単月実績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金色列＝粗利益額（主指標）　　色: 緑=100%以上／橙=90〜99%／赤=90%未満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73,710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21,264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50,712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89.6%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10,878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38,518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9,456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127.6%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50,066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120.1%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9,371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153.1%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18.7%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62,877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70.3%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87.5%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13,282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68.6%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88.5%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50,477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14,239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104.0%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1,734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128.4%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1,025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59.1%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328,094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79,515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106.3%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粗利益額79,515千円は前期比106.3%・計画比106.6%。減益は前期に機械大口（岡野農場向け29,400千円）のあった境港（▲6,089）のみで、他6部門は全て増益。境港除きは売上111.9%・粗利119.6%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下期（4〜9月）累計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第51期下期（4〜9月）確定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438,136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100.6%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127,956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296,271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104.3%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61,836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211,649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55,841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127.6%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122.5%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26.4%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280,568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54,162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142.8%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136.2%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352,111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70,209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284,508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129.0%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83,459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122.0%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116.0%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14,164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8,000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56.5%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1,877,406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109.0%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461,463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116.1%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112.0%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24.6%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下期粗利益額461,463千円・前期比116.1%・計画比112.0%（売上109.0%・105.2%）。境港は前期比91.1%・計画比94.4%、キョウワは前期比97.7%と前期を下回る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期初来累計（第51期通期）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令和7年10月〜令和8年9月（12ヶ月・第51期通期）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869,162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242,966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571,750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119,130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447,859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108,585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531,202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90,621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721,858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145,092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533,965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128.2%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164,241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131.4%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30.8%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31,046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17,724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57.1%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3,706,841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107.8%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888,359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112.1%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104.1%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第51期通期の粗利益額888,359千円・前期比112.1%・計画比104.1%（売上107.8%・計画比100.8%）。境港（96.0%）・キョウワ（95.3%）以外の5部門が増益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前期比グラフ（3期間比較）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%　　100%を上回ると増益　　※主指標である粗利益額の前期比のみを表示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全社の粗利益額前期比は 単月106.3%／下期116.1%／通期112.1%。単月は境港のみ、下期・通期は境港とキョウワが前期を下回る（境港通期96.0%・キョウワ通期95.3%）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増減寄与（前期差）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千円　　※期間が長いほど増減額は大きくなる点に留意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3425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9月単月の粗利は+4,747千円。境港▲6,089（前期岡野農場向け機械大口の反動）を 広域+3,250・松江+2,685・石見+2,617・下関+1,663 の増益で吸収。通期では水産部+39,248が最大の寄与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特記事項：粗利益額の評価とリスク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単月・下期・期初来累計の3期間からの考察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96112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96112"/>
            <a:ext cx="73152" cy="1188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7840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第51期通期は粗利益額 前期比112.1%・計画比104.1%で増益着地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9月粗利益額 79,515千円（前期比106.3%・計画比106.6%）。売上は前期比100.5%・計画比100.5%と横ばいで、増益は粗利率改善による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4533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通期売上3,706,841千円（前期比107.8%）・粗利888,359千円（112.1%）。下期粗利は前期比116.1%と上期から加速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粗利率は単月24.2%（前期22.9%）・下期24.6%（23.1%）・通期24.0%（23.1%）と全期間で改善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76272"/>
            <a:ext cx="8412480" cy="1188720"/>
          </a:xfrm>
          <a:prstGeom prst="rect">
            <a:avLst/>
          </a:prstGeom>
          <a:solidFill>
            <a:srgbClr val="FDECEA"/>
          </a:solidFill>
          <a:ln w="12700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76272"/>
            <a:ext cx="73152" cy="1188720"/>
          </a:xfrm>
          <a:prstGeom prst="rect">
            <a:avLst/>
          </a:prstGeom>
          <a:solidFill>
            <a:srgbClr val="7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5856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D1D1D"/>
                </a:solidFill>
                <a:latin typeface="Meiryo UI"/>
              </a:rPr>
              <a:t>【警戒】境港の通期減益と、売上増でも粗利率が低下した部門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境港は9月粗利前期比68.6%（前期の岡野農場向け機械大口の反動）。通期も売上94.9%・粗利96.0%・計画比94.7%と唯一の減収減益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254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全社粗利前期比は7月113.9%→8月93.3%→9月106.3%。石見は粗利114.0%へ回復も売上計画比95.8%と未達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9067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水産部は9月粗利率28.2%（前期30.7%）、キョウワは通期粗利95.3%。売上増でも利幅が落ちる先は値決めを点検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56432"/>
            <a:ext cx="84124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456432"/>
            <a:ext cx="73152" cy="932688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538727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E8E"/>
                </a:solidFill>
                <a:latin typeface="Meiryo UI"/>
              </a:rPr>
              <a:t>営業所別の実態　～9月の増益はどこから来たか～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広域：粗利前期比153.1%（リンガーハット東京本社 粗利7,652千円・前期4,401）、松江：139.7%（コクヨー・岡田商店・ヤマダヤ）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0565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石見+2,617（キヌヤ+1,667）、下関+1,663（フクシン・もずくセンター）。境港を除く6部門が増益、粗利率も全社で+1.3pt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62272"/>
            <a:ext cx="8412480" cy="292608"/>
          </a:xfrm>
          <a:prstGeom prst="rect">
            <a:avLst/>
          </a:prstGeom>
          <a:solidFill>
            <a:srgbClr val="FEF3C7"/>
          </a:solidFill>
          <a:ln w="12700">
            <a:solidFill>
              <a:srgbClr val="D4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17136"/>
            <a:ext cx="8138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D5A00"/>
                </a:solidFill>
                <a:latin typeface="Meiryo UI"/>
              </a:rPr>
              <a:t>第51期は粗利益額888,359千円で増益着地。第52期は境港の立て直しと、価格改定効果一巡後の粗利率維持が焦点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