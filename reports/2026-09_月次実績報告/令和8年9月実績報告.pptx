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単月9月</c:v>
                </c:pt>
              </c:strCache>
            </c:strRef>
          </c:tx>
          <c:spPr>
            <a:solidFill>
              <a:srgbClr val="D4820A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114.0</c:v>
                </c:pt>
                <c:pt idx="1">
                  <c:v>118.0</c:v>
                </c:pt>
                <c:pt idx="2">
                  <c:v>139.7</c:v>
                </c:pt>
                <c:pt idx="3">
                  <c:v>153.1</c:v>
                </c:pt>
                <c:pt idx="4">
                  <c:v>68.6</c:v>
                </c:pt>
                <c:pt idx="5">
                  <c:v>104.0</c:v>
                </c:pt>
                <c:pt idx="6">
                  <c:v>107.9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下期4〜9月</c:v>
                </c:pt>
              </c:strCache>
            </c:strRef>
          </c:tx>
          <c:spPr>
            <a:solidFill>
              <a:srgbClr val="2E5E8E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118.4</c:v>
                </c:pt>
                <c:pt idx="1">
                  <c:v>114.7</c:v>
                </c:pt>
                <c:pt idx="2">
                  <c:v>127.6</c:v>
                </c:pt>
                <c:pt idx="3">
                  <c:v>142.8</c:v>
                </c:pt>
                <c:pt idx="4">
                  <c:v>91.1</c:v>
                </c:pt>
                <c:pt idx="5">
                  <c:v>122.0</c:v>
                </c:pt>
                <c:pt idx="6">
                  <c:v>97.7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通期10〜9月</c:v>
                </c:pt>
              </c:strCache>
            </c:strRef>
          </c:tx>
          <c:spPr>
            <a:solidFill>
              <a:srgbClr val="1B2F4B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110.2</c:v>
                </c:pt>
                <c:pt idx="1">
                  <c:v>107.1</c:v>
                </c:pt>
                <c:pt idx="2">
                  <c:v>119.9</c:v>
                </c:pt>
                <c:pt idx="3">
                  <c:v>119.9</c:v>
                </c:pt>
                <c:pt idx="4">
                  <c:v>96.0</c:v>
                </c:pt>
                <c:pt idx="5">
                  <c:v>131.4</c:v>
                </c:pt>
                <c:pt idx="6">
                  <c:v>95.3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 b="1">
                  <a:latin typeface="Meiryo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1B2F4B"/>
                </a:solidFill>
                <a:latin typeface="Meiryo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 val="0"/>
        <c:axPos val="l"/>
        <c:majorGridlines>
          <c:spPr>
            <a:ln w="6350">
              <a:solidFill>
                <a:srgbClr val="CBD5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4748B"/>
                </a:solidFill>
                <a:latin typeface="Meiryo UI"/>
              </a:defRPr>
            </a:pPr>
          </a:p>
        </c:txPr>
        <c:crossAx val="-2068027336"/>
        <c:crosses val="autoZero"/>
        <c:majorUnit val="25.0"/>
      </c:valAx>
    </c:plotArea>
    <c:legend>
      <c:legendPos val="t"/>
      <c:overlay val="0"/>
      <c:txPr>
        <a:bodyPr/>
        <a:lstStyle/>
        <a:p>
          <a:pPr>
            <a:defRPr sz="1000">
              <a:latin typeface="Meiryo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単月9月</c:v>
                </c:pt>
              </c:strCache>
            </c:strRef>
          </c:tx>
          <c:spPr>
            <a:solidFill>
              <a:srgbClr val="D4820A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2617</c:v>
                </c:pt>
                <c:pt idx="1">
                  <c:v>1663</c:v>
                </c:pt>
                <c:pt idx="2">
                  <c:v>2685</c:v>
                </c:pt>
                <c:pt idx="3">
                  <c:v>3250</c:v>
                </c:pt>
                <c:pt idx="4">
                  <c:v>-6089</c:v>
                </c:pt>
                <c:pt idx="5">
                  <c:v>545</c:v>
                </c:pt>
                <c:pt idx="6">
                  <c:v>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下期4〜9月</c:v>
                </c:pt>
              </c:strCache>
            </c:strRef>
          </c:tx>
          <c:spPr>
            <a:solidFill>
              <a:srgbClr val="2E5E8E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19856</c:v>
                </c:pt>
                <c:pt idx="1">
                  <c:v>7911</c:v>
                </c:pt>
                <c:pt idx="2">
                  <c:v>12081</c:v>
                </c:pt>
                <c:pt idx="3">
                  <c:v>16229</c:v>
                </c:pt>
                <c:pt idx="4">
                  <c:v>-6887</c:v>
                </c:pt>
                <c:pt idx="5">
                  <c:v>15050</c:v>
                </c:pt>
                <c:pt idx="6">
                  <c:v>-190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通期10〜9月</c:v>
                </c:pt>
              </c:strCache>
            </c:strRef>
          </c:tx>
          <c:spPr>
            <a:solidFill>
              <a:srgbClr val="1B2F4B"/>
            </a:solidFill>
          </c:spPr>
          <c:cat>
            <c:strRef>
              <c:f>Sheet1!$A$2:$A$8</c:f>
              <c:strCache>
                <c:ptCount val="7"/>
                <c:pt idx="0">
                  <c:v>石見</c:v>
                </c:pt>
                <c:pt idx="1">
                  <c:v>下関</c:v>
                </c:pt>
                <c:pt idx="2">
                  <c:v>松江</c:v>
                </c:pt>
                <c:pt idx="3">
                  <c:v>広域</c:v>
                </c:pt>
                <c:pt idx="4">
                  <c:v>境港</c:v>
                </c:pt>
                <c:pt idx="5">
                  <c:v>水産部</c:v>
                </c:pt>
                <c:pt idx="6">
                  <c:v>キョウワ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22560</c:v>
                </c:pt>
                <c:pt idx="1">
                  <c:v>7917</c:v>
                </c:pt>
                <c:pt idx="2">
                  <c:v>18049</c:v>
                </c:pt>
                <c:pt idx="3">
                  <c:v>15018</c:v>
                </c:pt>
                <c:pt idx="4">
                  <c:v>-6108</c:v>
                </c:pt>
                <c:pt idx="5">
                  <c:v>39248</c:v>
                </c:pt>
                <c:pt idx="6">
                  <c:v>-873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 b="1">
                  <a:latin typeface="Meiryo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1000">
                <a:solidFill>
                  <a:srgbClr val="1B2F4B"/>
                </a:solidFill>
                <a:latin typeface="Meiryo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CBD5E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4748B"/>
                </a:solidFill>
                <a:latin typeface="Meiryo U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latin typeface="Meiryo U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F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4820A"/>
                </a:solidFill>
                <a:latin typeface="Meiryo UI"/>
              </a:rPr>
              <a:t>株式会社タカハシ包装センター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eiryo UI"/>
              </a:rPr>
              <a:t>令和8年9月　月次実績報告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38528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CADCFC"/>
                </a:solidFill>
                <a:latin typeface="Meiryo UI"/>
              </a:rPr>
              <a:t>第51期下期 9月実績（第51期通期確定）　～粗利益額を主軸とした分析～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87168"/>
            <a:ext cx="3200400" cy="45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7863840" cy="932688"/>
          </a:xfrm>
          <a:prstGeom prst="rect">
            <a:avLst/>
          </a:prstGeom>
          <a:solidFill>
            <a:srgbClr val="243954"/>
          </a:solidFill>
          <a:ln w="12700">
            <a:solidFill>
              <a:srgbClr val="4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25496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4820A"/>
                </a:solidFill>
                <a:latin typeface="Meiryo UI"/>
              </a:rPr>
              <a:t>粗利益額（キョウワ含む）: 9月 79,515千円（前期比106.3%・計画比106.6%）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27248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iryo UI"/>
              </a:rPr>
              <a:t>・ 第51期通期は売上107.8%・粗利112.1%（計画比104.1%）で増収増益着地。下期粗利は前期比116.1%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iryo UI"/>
              </a:rPr>
              <a:t>・ 9月は境港▲6,089（前期機械大口の反動）を 広域+3,250・松江+2,685・石見+2,617 が吸収し増益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CADCFC"/>
                </a:solidFill>
                <a:latin typeface="Meiryo UI"/>
              </a:rPr>
              <a:t>分析期間: 単月（9月）／下期（4〜9月）／期初来累計（令和7年10月〜令和8年9月＝第51期通期）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939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899AA"/>
                </a:solidFill>
                <a:latin typeface="Meiryo UI"/>
              </a:rPr>
              <a:t>作成日: 令和8年10月7日　　資料作成者: 高橋将史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全社実績ハイライト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3期間サマリー（単位: 千円）　※粗利益額を主指標／上段＝タカハシ包装＋キョウワ、下段＝タカハシ包装のみ／通期＝第51期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令和8年9月実績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560320" cy="1133856"/>
          </a:xfrm>
          <a:prstGeom prst="rect">
            <a:avLst/>
          </a:prstGeom>
          <a:solidFill>
            <a:srgbClr val="1B2F4B"/>
          </a:solidFill>
          <a:ln w="12700">
            <a:solidFill>
              <a:srgbClr val="4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2560320" cy="45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078992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9月 粗利益額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289304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4820A"/>
                </a:solidFill>
                <a:latin typeface="Meiryo UI"/>
              </a:rPr>
              <a:t>79,515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7373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ADCFC"/>
                </a:solidFill>
                <a:latin typeface="Meiryo UI"/>
              </a:rPr>
              <a:t>千円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BE0A6"/>
                </a:solidFill>
                <a:latin typeface="Meiryo UI"/>
              </a:rPr>
              <a:t>前期比 106.3% / 計画比 106.6%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960120"/>
            <a:ext cx="2560320" cy="1133856"/>
          </a:xfrm>
          <a:prstGeom prst="rect">
            <a:avLst/>
          </a:prstGeom>
          <a:solidFill>
            <a:srgbClr val="1B2F4B"/>
          </a:solidFill>
          <a:ln w="12700">
            <a:solidFill>
              <a:srgbClr val="4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960120"/>
            <a:ext cx="2560320" cy="45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1078992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9月 売上高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289304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4820A"/>
                </a:solidFill>
                <a:latin typeface="Meiryo UI"/>
              </a:rPr>
              <a:t>328,094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17373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ADCFC"/>
                </a:solidFill>
                <a:latin typeface="Meiryo UI"/>
              </a:rPr>
              <a:t>千円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737360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BE0A6"/>
                </a:solidFill>
                <a:latin typeface="Meiryo UI"/>
              </a:rPr>
              <a:t>前期比 100.5% / 計画比 100.5%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960120"/>
            <a:ext cx="2560320" cy="1133856"/>
          </a:xfrm>
          <a:prstGeom prst="rect">
            <a:avLst/>
          </a:prstGeom>
          <a:solidFill>
            <a:srgbClr val="1B2F4B"/>
          </a:solidFill>
          <a:ln w="12700">
            <a:solidFill>
              <a:srgbClr val="4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960120"/>
            <a:ext cx="2560320" cy="45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61888" y="1078992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</a:rPr>
              <a:t>9月 粗利率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1289304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D4820A"/>
                </a:solidFill>
                <a:latin typeface="Meiryo UI"/>
              </a:rPr>
              <a:t>24.2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173736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CADCFC"/>
                </a:solidFill>
                <a:latin typeface="Meiryo UI"/>
              </a:rPr>
              <a:t>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737360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7BE0A6"/>
                </a:solidFill>
                <a:latin typeface="Meiryo UI"/>
              </a:rPr>
              <a:t>前期 22.9% → 今期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212848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212848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2331720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下期 粗利益額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2542032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461,463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2990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千円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2990088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前期比 116.1% / 計画比 112.0%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212848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8960" y="2212848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18688" y="2331720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下期 売上高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18688" y="2542032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1,877,406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18688" y="2990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千円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2990088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前期比 109.0% / 計画比 105.2%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2212848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52160" y="2212848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1888" y="2331720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下期 粗利率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2542032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24.6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1888" y="299008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990088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 23.1% → 今期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465576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3465576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3584448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通期 粗利益額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3794760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888,359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2428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千円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4242816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前期比 112.1% / 計画比 104.1%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3465576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08960" y="3465576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18688" y="3584448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通期 売上高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18688" y="3794760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3,706,841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18688" y="42428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千円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11880" y="4242816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前期比 107.8% / 計画比 100.8%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52160" y="3465576"/>
            <a:ext cx="25603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52160" y="3465576"/>
            <a:ext cx="2560320" cy="45720"/>
          </a:xfrm>
          <a:prstGeom prst="rect">
            <a:avLst/>
          </a:prstGeom>
          <a:solidFill>
            <a:srgbClr val="4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61888" y="3584448"/>
            <a:ext cx="2340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5E8E"/>
                </a:solidFill>
                <a:latin typeface="Meiryo UI"/>
              </a:rPr>
              <a:t>通期 粗利率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61888" y="3794760"/>
            <a:ext cx="234086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E5E8E"/>
                </a:solidFill>
                <a:latin typeface="Meiryo UI"/>
              </a:rPr>
              <a:t>24.0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61888" y="424281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4242816"/>
            <a:ext cx="19476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1">
                <a:solidFill>
                  <a:srgbClr val="1A6E1A"/>
                </a:solidFill>
                <a:latin typeface="Meiryo UI"/>
              </a:rPr>
              <a:t>前期 23.1% → 今期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1911096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7BE0A6"/>
                </a:solidFill>
                <a:latin typeface="Meiryo UI"/>
              </a:rPr>
              <a:t>タカハシ包装のみ 78,490（前期比106.3%）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63824" y="1911096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7BE0A6"/>
                </a:solidFill>
                <a:latin typeface="Meiryo UI"/>
              </a:rPr>
              <a:t>タカハシ包装のみ 326,360（前期比100.4%）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1911096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7BE0A6"/>
                </a:solidFill>
                <a:latin typeface="Meiryo UI"/>
              </a:rPr>
              <a:t>タカハシ包装のみ 24.1%（前期22.7%）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" y="316382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1A6E1A"/>
                </a:solidFill>
                <a:latin typeface="Meiryo UI"/>
              </a:rPr>
              <a:t>タカハシ包装のみ 453,463（前期比116.5%）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63824" y="316382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1A6E1A"/>
                </a:solidFill>
                <a:latin typeface="Meiryo UI"/>
              </a:rPr>
              <a:t>タカハシ包装のみ 1,863,242（前期比109.0%）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07024" y="3163824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1A6E1A"/>
                </a:solidFill>
                <a:latin typeface="Meiryo UI"/>
              </a:rPr>
              <a:t>タカハシ包装のみ 24.3%（前期22.8%）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" y="4416552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1A6E1A"/>
                </a:solidFill>
                <a:latin typeface="Meiryo UI"/>
              </a:rPr>
              <a:t>タカハシ包装のみ 870,635（前期比112.5%）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63824" y="4416552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1A6E1A"/>
                </a:solidFill>
                <a:latin typeface="Meiryo UI"/>
              </a:rPr>
              <a:t>タカハシ包装のみ 3,675,795（前期比107.8%）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07024" y="4416552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>
                <a:solidFill>
                  <a:srgbClr val="1A6E1A"/>
                </a:solidFill>
                <a:latin typeface="Meiryo UI"/>
              </a:rPr>
              <a:t>タカハシ包装のみ 23.7%（前期22.7%）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営業所別　9月単月実績　～売上・粗利益額～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単位: 千円　　金色列＝粗利益額（主指標）　　色: 緑=100%以上／橙=90〜99%／赤=90%未満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令和8年9月実績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932688"/>
          <a:ext cx="882396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850392"/>
                <a:gridCol w="530352"/>
                <a:gridCol w="713232"/>
                <a:gridCol w="530352"/>
                <a:gridCol w="713232"/>
                <a:gridCol w="713232"/>
                <a:gridCol w="530352"/>
                <a:gridCol w="713232"/>
                <a:gridCol w="530352"/>
                <a:gridCol w="713232"/>
                <a:gridCol w="502920"/>
              </a:tblGrid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営業所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売上実績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前期差額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計画差額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粗利益額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前期差額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計画差額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粗利率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石見営業所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73,710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107.2%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+4,956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95.8%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▲3,210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21,264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114.0%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+2,617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105.2%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+1,044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28.8%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下関営業所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50,712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111.8%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+5,348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89.6%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▲5,888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10,878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118.0%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+1,663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96.2%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▲432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21.5%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松江営業所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38,518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109.1%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+3,217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139.3%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+10,858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9,456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139.7%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+2,685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127.6%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+2,046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24.5%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広域営業部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50,066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120.1%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+8,388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109.6%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+4,366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9,371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153.1%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+3,250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139.7%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+2,661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18.7%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境港営業所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62,877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70.3%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▲26,501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87.5%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▲9,003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13,282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68.6%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▲6,089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88.5%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▲1,718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21.1%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水産部（計）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50,477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113.0%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+5,806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109.3%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+4,297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14,239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104.0%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+545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109.2%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+1,199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28.2%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タカハシ包装合計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326,360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100.4%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+1,214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100.4%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+1,420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78,490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106.3%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+4,672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106.5%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+4,800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24.1%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キョウワ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1,734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128.4%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+384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114.8%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+224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1,025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107.9%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+75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113.9%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+125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59.1%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タカハシ包装＋キョウワ合計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328,094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100.5%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+1,598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100.5%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+1,644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79,515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106.3%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+4,747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106.6%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+4,925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24.2%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3708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7B39"/>
                </a:solidFill>
                <a:latin typeface="Meiryo UI"/>
              </a:rPr>
              <a:t>※ 粗利益額79,515千円は前期比106.3%・計画比106.6%。減益は前期に機械大口（岡野農場向け29,400千円）のあった境港（▲6,089）のみで、他6部門は全て増益。境港除きは売上111.9%・粗利119.6%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営業所別　下期（4〜9月）累計　～売上・粗利益額～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単位: 千円　　第51期下期（4〜9月）確定　　金色列＝粗利益額（主指標）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令和8年9月実績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932688"/>
          <a:ext cx="882396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850392"/>
                <a:gridCol w="530352"/>
                <a:gridCol w="713232"/>
                <a:gridCol w="530352"/>
                <a:gridCol w="713232"/>
                <a:gridCol w="713232"/>
                <a:gridCol w="530352"/>
                <a:gridCol w="713232"/>
                <a:gridCol w="530352"/>
                <a:gridCol w="713232"/>
                <a:gridCol w="502920"/>
              </a:tblGrid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営業所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売上実績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前期差額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計画差額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粗利益額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前期差額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計画差額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粗利率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石見営業所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438,136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113.8%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+53,184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100.6%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+2,566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127,956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118.4%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+19,856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111.1%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+12,766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29.2%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下関営業所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296,271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113.5%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+35,171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104.3%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+12,271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61,836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114.7%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+7,911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106.6%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+3,816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20.9%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松江営業所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211,649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106.2%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+12,320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119.9%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+35,149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55,841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127.6%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+12,081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122.5%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+10,261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26.4%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広域営業部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280,568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111.9%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+29,832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105.2%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+13,848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54,162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142.8%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+16,229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136.2%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+14,402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19.3%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境港営業所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352,111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89.7%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Meiryo UI"/>
                        </a:rPr>
                        <a:t>▲40,548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95.2%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▲17,739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70,209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91.1%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▲6,887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94.4%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▲4,131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19.9%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水産部（計）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284,508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129.0%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+63,968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119.0%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+45,458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83,459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122.0%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+15,050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116.0%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+11,489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29.3%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タカハシ包装合計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1,863,242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109.0%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+153,927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105.2%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+91,552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453,463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116.5%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+64,240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112.0%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+48,603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24.3%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キョウワ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14,164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110.3%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+1,324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114.0%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+1,744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8,000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97.7%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▲190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114.6%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+1,020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56.5%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タカハシ包装＋キョウワ合計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1,877,406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109.0%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+155,251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105.2%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+93,296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461,463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116.1%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+64,050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112.0%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+49,623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24.6%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3708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7B39"/>
                </a:solidFill>
                <a:latin typeface="Meiryo UI"/>
              </a:rPr>
              <a:t>※ 下期粗利益額461,463千円・前期比116.1%・計画比112.0%（売上109.0%・105.2%）。境港は前期比91.1%・計画比94.4%、キョウワは前期比97.7%と前期を下回る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営業所別　期初来累計（第51期通期）　～売上・粗利益額～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単位: 千円　　令和7年10月〜令和8年9月（12ヶ月・第51期通期）　　金色列＝粗利益額（主指標）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令和8年9月実績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932688"/>
          <a:ext cx="882396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850392"/>
                <a:gridCol w="530352"/>
                <a:gridCol w="713232"/>
                <a:gridCol w="530352"/>
                <a:gridCol w="713232"/>
                <a:gridCol w="713232"/>
                <a:gridCol w="530352"/>
                <a:gridCol w="713232"/>
                <a:gridCol w="530352"/>
                <a:gridCol w="713232"/>
                <a:gridCol w="502920"/>
              </a:tblGrid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営業所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売上実績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前期差額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売上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計画差額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粗利益額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前期比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前期差額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計画比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粗利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計画差額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粗利率</a:t>
                      </a:r>
                    </a:p>
                  </a:txBody>
                  <a:tcPr anchor="ctr" marL="22860" marR="22860" marT="0" marB="0">
                    <a:solidFill>
                      <a:srgbClr val="D4820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石見営業所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869,162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110.1%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+79,786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99.9%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▲508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242,966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110.2%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+22,560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105.1%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+11,696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28.0%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下関営業所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571,750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106.9%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+36,767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95.7%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▲25,750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119,130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107.1%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+7,917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97.0%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▲3,690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20.8%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松江営業所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447,859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111.1%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+44,911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110.6%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+42,899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108,585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119.9%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+18,049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111.6%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+11,285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24.2%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広域営業部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531,202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105.1%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+25,856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95.4%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▲25,688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90,621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119.9%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+15,018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107.6%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+6,431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17.1%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境港営業所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721,858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94.9%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▲39,166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97.3%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▲20,032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145,092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96.0%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▲6,108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94.7%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▲8,178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20.1%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水産部（計）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533,965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128.2%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+117,612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111.2%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+53,865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164,241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131.4%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+39,248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110.4%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+15,491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30.8%</a:t>
                      </a:r>
                    </a:p>
                  </a:txBody>
                  <a:tcPr anchor="ctr" marL="22860" marR="22860" marT="0" marB="0">
                    <a:solidFill>
                      <a:srgbClr val="EEF3FA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タカハシ包装合計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3,675,795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107.8%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+265,766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100.7%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+24,785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870,635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112.5%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+96,684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103.9%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+33,035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23.7%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2F4B"/>
                          </a:solidFill>
                          <a:latin typeface="Meiryo UI"/>
                        </a:rPr>
                        <a:t>キョウワ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B2F4B"/>
                          </a:solidFill>
                          <a:latin typeface="Meiryo UI"/>
                        </a:rPr>
                        <a:t>31,046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113.2%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+3,621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112.5%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+3,456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D4820A"/>
                          </a:solidFill>
                          <a:latin typeface="Meiryo UI"/>
                        </a:rPr>
                        <a:t>17,724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95.3%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C55A11"/>
                          </a:solidFill>
                          <a:latin typeface="Meiryo UI"/>
                        </a:rPr>
                        <a:t>▲873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110.2%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A6E1A"/>
                          </a:solidFill>
                          <a:latin typeface="Meiryo UI"/>
                        </a:rPr>
                        <a:t>+1,644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B2F4B"/>
                          </a:solidFill>
                          <a:latin typeface="Meiryo UI"/>
                        </a:rPr>
                        <a:t>57.1%</a:t>
                      </a:r>
                    </a:p>
                  </a:txBody>
                  <a:tcPr anchor="ctr" marL="22860" marR="22860" marT="0" marB="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タカハシ包装＋キョウワ合計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3,706,841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107.8%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+269,387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100.8%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+28,241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</a:rPr>
                        <a:t>888,359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112.1%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+95,811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104.1%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eiryo UI"/>
                        </a:rPr>
                        <a:t>+34,679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24.0%</a:t>
                      </a:r>
                    </a:p>
                  </a:txBody>
                  <a:tcPr anchor="ctr" marL="22860" marR="22860" marT="0" marB="0">
                    <a:solidFill>
                      <a:srgbClr val="1B2F4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3708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E07B39"/>
                </a:solidFill>
                <a:latin typeface="Meiryo UI"/>
              </a:rPr>
              <a:t>※ 第51期通期の粗利益額888,359千円・前期比112.1%・計画比104.1%（売上107.8%・計画比100.8%）。境港（96.0%）・キョウワ（95.3%）以外の5部門が増益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粗利益額　前期比グラフ（3期間比較）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営業所別・単位: %　　100%を上回ると増益　　※主指標である粗利益額の前期比のみを表示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令和8年9月実績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960120"/>
          <a:ext cx="82296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全社の粗利益額前期比は 単月106.3%／下期116.1%／通期112.1%。単月は境港のみ、下期・通期は境港とキョウワが前期を下回る（境港通期96.0%・キョウワ通期95.3%）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粗利益額　増減寄与（前期差）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営業所別・単位: 千円　　※期間が長いほど増減額は大きくなる点に留意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令和8年9月実績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960120"/>
          <a:ext cx="822960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34256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Meiryo UI"/>
              </a:rPr>
              <a:t>9月単月の粗利は+4,747千円。境港▲6,089（前期岡野農場向け機械大口の反動）を 広域+3,250・松江+2,685・石見+2,617・下関+1,663 の増益で吸収。通期では水産部+39,248が最大の寄与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F4B"/>
                </a:solidFill>
                <a:latin typeface="Meiryo UI"/>
              </a:rPr>
              <a:t>特記事項：粗利益額の評価とリスク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eiryo UI"/>
              </a:rPr>
              <a:t>単月・下期・期初来累計の3期間からの考察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eiryo UI"/>
              </a:rPr>
              <a:t>株式会社タカハシ包装センター | 令和8年9月実績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896112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896112"/>
            <a:ext cx="73152" cy="1188720"/>
          </a:xfrm>
          <a:prstGeom prst="rect">
            <a:avLst/>
          </a:prstGeom>
          <a:solidFill>
            <a:srgbClr val="D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978408"/>
            <a:ext cx="80284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4820A"/>
                </a:solidFill>
                <a:latin typeface="Meiryo UI"/>
              </a:rPr>
              <a:t>第51期通期は粗利益額 前期比112.1%・計画比104.1%で増益着地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eiryo UI"/>
              </a:rPr>
              <a:t>・ 9月粗利益額79,515千円（前期比106.3%・計画比106.6%）。売上は横ばい、増益は粗利率改善による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4533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eiryo UI"/>
              </a:rPr>
              <a:t>・ 通期売上3,706,841千円（前期比107.8%）・粗利888,359千円（112.1%）。下期粗利は前期比116.1%と上期から加速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eiryo UI"/>
              </a:rPr>
              <a:t>・ 粗利率は単月24.2%（前期22.9%）・下期24.6%（23.1%）・通期24.0%（23.1%）と全期間で改善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8412480" cy="1188720"/>
          </a:xfrm>
          <a:prstGeom prst="rect">
            <a:avLst/>
          </a:prstGeom>
          <a:solidFill>
            <a:srgbClr val="FDECEA"/>
          </a:solidFill>
          <a:ln w="12700">
            <a:solidFill>
              <a:srgbClr val="7D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76272"/>
            <a:ext cx="73152" cy="1188720"/>
          </a:xfrm>
          <a:prstGeom prst="rect">
            <a:avLst/>
          </a:prstGeom>
          <a:solidFill>
            <a:srgbClr val="7D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258568"/>
            <a:ext cx="80284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D1D1D"/>
                </a:solidFill>
                <a:latin typeface="Meiryo UI"/>
              </a:rPr>
              <a:t>【警戒】価格改定の検証　～数量の落ち込みはないか～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2A2A"/>
                </a:solidFill>
                <a:latin typeface="Meiryo UI"/>
              </a:rPr>
              <a:t>・ 継続取扱品の単価は前年比+19.2%、数量は98.6%。増益は価格改定の効果が主因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2549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2A2A"/>
                </a:solidFill>
                <a:latin typeface="Meiryo UI"/>
              </a:rPr>
              <a:t>・ 石見は単価+17.1%に対し数量90.8%と減少。スチロール成形品の積水化成品西部向け等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90672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A2A2A"/>
                </a:solidFill>
                <a:latin typeface="Meiryo UI"/>
              </a:rPr>
              <a:t>・ 継続取引先597先中203先は、値上げ後も売上が前年比10%超減。数量を要確認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56432"/>
            <a:ext cx="841248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456432"/>
            <a:ext cx="73152" cy="932688"/>
          </a:xfrm>
          <a:prstGeom prst="rect">
            <a:avLst/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38727"/>
            <a:ext cx="802843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E5E8E"/>
                </a:solidFill>
                <a:latin typeface="Meiryo UI"/>
              </a:rPr>
              <a:t>営業所別の実態　～9月の増益はどこから来たか～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eiryo UI"/>
              </a:rPr>
              <a:t>・ 広域：粗利153.1%（リンガーハット東京本社+3,250）、松江：139.7%（コクヨー・岡田商店等）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05656"/>
            <a:ext cx="7955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eiryo UI"/>
              </a:rPr>
              <a:t>・ 石見+2,617（キヌヤ）、下関+1,663（フクシン等）。境港除く6部門が増益、粗利率も全社で+1.3pt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62272"/>
            <a:ext cx="841248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4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517136"/>
            <a:ext cx="8138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D5A00"/>
                </a:solidFill>
                <a:latin typeface="Meiryo UI"/>
              </a:rPr>
              <a:t>第51期は粗利益額888,359千円で増益着地。第52期は価格改定後の数量（特に石見）の確認と粗利率の維持が焦点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