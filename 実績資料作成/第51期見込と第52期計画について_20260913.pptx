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.xml" ContentType="application/vnd.openxmlformats-officedocument.presentationml.notesSlide+xml"/>
  <Override PartName="/ppt/charts/chart5.xml" ContentType="application/vnd.openxmlformats-officedocument.drawingml.chart+xml"/>
  <Override PartName="/ppt/notesSlides/notesSlide2.xml" ContentType="application/vnd.openxmlformats-officedocument.presentationml.notesSlide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312" r:id="rId2"/>
    <p:sldId id="376" r:id="rId3"/>
    <p:sldId id="365" r:id="rId4"/>
    <p:sldId id="343" r:id="rId5"/>
    <p:sldId id="345" r:id="rId6"/>
    <p:sldId id="419" r:id="rId22"/>
    <p:sldId id="409" r:id="rId7"/>
    <p:sldId id="410" r:id="rId8"/>
    <p:sldId id="411" r:id="rId9"/>
    <p:sldId id="415" r:id="rId10"/>
    <p:sldId id="412" r:id="rId11"/>
    <p:sldId id="418" r:id="rId12"/>
    <p:sldId id="402" r:id="rId13"/>
    <p:sldId id="382" r:id="rId14"/>
    <p:sldId id="379" r:id="rId15"/>
    <p:sldId id="38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8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22" Type="http://schemas.openxmlformats.org/officeDocument/2006/relationships/slide" Target="slides/slide16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単価寄与</c:v>
                </c:pt>
              </c:strCache>
            </c:strRef>
          </c:tx>
          <c:spPr>
            <a:solidFill>
              <a:srgbClr val="B8860B"/>
            </a:solidFill>
            <a:ln>
              <a:noFill/>
            </a:ln>
          </c:spPr>
          <c:invertIfNegative val="0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ABD-495E-ABEE-D7FEC7119441}"/>
                </c:ext>
              </c:extLst>
            </c:dLbl>
            <c:numFmt formatCode="\+0.0%;\-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0.0%</c:formatCode>
                <c:ptCount val="8"/>
                <c:pt idx="0">
                  <c:v>3.2000000000000001E-2</c:v>
                </c:pt>
                <c:pt idx="1">
                  <c:v>0.03</c:v>
                </c:pt>
                <c:pt idx="2">
                  <c:v>4.2000000000000003E-2</c:v>
                </c:pt>
                <c:pt idx="3">
                  <c:v>2.1999999999999999E-2</c:v>
                </c:pt>
                <c:pt idx="4">
                  <c:v>7.0000000000000007E-2</c:v>
                </c:pt>
                <c:pt idx="5">
                  <c:v>0.1</c:v>
                </c:pt>
                <c:pt idx="6">
                  <c:v>0.19</c:v>
                </c:pt>
                <c:pt idx="7">
                  <c:v>0.19550000000000001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50-42FC-ACE7-F062D7C751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数量寄与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ABD-495E-ABEE-D7FEC7119441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ABD-495E-ABEE-D7FEC7119441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ABD-495E-ABEE-D7FEC711944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ABD-495E-ABEE-D7FEC7119441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ABD-495E-ABEE-D7FEC7119441}"/>
                </c:ext>
              </c:extLst>
            </c:dLbl>
            <c:numFmt formatCode="\+0.0%;\-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Sheet1!$C$2:$C$9</c:f>
              <c:numCache>
                <c:formatCode>0.0%</c:formatCode>
                <c:ptCount val="8"/>
                <c:pt idx="0">
                  <c:v>-8.1000000000000003E-2</c:v>
                </c:pt>
                <c:pt idx="1">
                  <c:v>-2.8000000000000001E-2</c:v>
                </c:pt>
                <c:pt idx="2">
                  <c:v>1.0999999999999999E-2</c:v>
                </c:pt>
                <c:pt idx="3">
                  <c:v>0.105</c:v>
                </c:pt>
                <c:pt idx="4">
                  <c:v>1.4999999999999999E-2</c:v>
                </c:pt>
                <c:pt idx="5">
                  <c:v>6.6000000000000003E-2</c:v>
                </c:pt>
                <c:pt idx="6">
                  <c:v>-1.2E-2</c:v>
                </c:pt>
                <c:pt idx="7">
                  <c:v>-2.5399999999999999E-2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50-42FC-ACE7-F062D7C751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404040"/>
                </a:solidFill>
                <a:latin typeface="游ゴシック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ja-JP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>
              <a:latin typeface="游ゴシック"/>
            </a:defRPr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v>単価寄与</c:v>
          </c:tx>
          <c:spPr>
            <a:solidFill>
              <a:srgbClr val="B8860B"/>
            </a:solidFill>
            <a:ln>
              <a:noFill/>
            </a:ln>
          </c:spPr>
          <c:invertIfNegative val="0"/>
          <c:dLbls>
            <c:numFmt formatCode="\+0.0%;\-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1月</c:v>
              </c:pt>
              <c:pt idx="1">
                <c:v>2月</c:v>
              </c:pt>
              <c:pt idx="2">
                <c:v>3月</c:v>
              </c:pt>
              <c:pt idx="3">
                <c:v>4月</c:v>
              </c:pt>
              <c:pt idx="4">
                <c:v>5月</c:v>
              </c:pt>
              <c:pt idx="5">
                <c:v>6月</c:v>
              </c:pt>
              <c:pt idx="6">
                <c:v>7月</c:v>
              </c:pt>
              <c:pt idx="7">
                <c:v>8月</c:v>
              </c:pt>
            </c:strLit>
          </c:cat>
          <c:val>
            <c:numLit>
              <c:formatCode>0.0%</c:formatCode>
              <c:ptCount val="8"/>
              <c:pt idx="0">
                <c:v>-2.3E-2</c:v>
              </c:pt>
              <c:pt idx="1">
                <c:v>3.2000000000000001E-2</c:v>
              </c:pt>
              <c:pt idx="2">
                <c:v>5.8999999999999997E-2</c:v>
              </c:pt>
              <c:pt idx="3">
                <c:v>0.111</c:v>
              </c:pt>
              <c:pt idx="4">
                <c:v>-6.3E-2</c:v>
              </c:pt>
              <c:pt idx="5">
                <c:v>0.23799999999999999</c:v>
              </c:pt>
              <c:pt idx="6">
                <c:v>0.108</c:v>
              </c:pt>
              <c:pt idx="7">
                <c:v>0.20799999999999999</c:v>
              </c:pt>
            </c:numLit>
          </c:val>
          <c:extLst>
            <c:ext xmlns:c16="http://schemas.microsoft.com/office/drawing/2014/chart" uri="{C3380CC4-5D6E-409C-BE32-E72D297353CC}">
              <c16:uniqueId val="{00000000-F250-42FC-ACE7-F062D7C75116}"/>
            </c:ext>
          </c:extLst>
        </c:ser>
        <c:ser>
          <c:idx val="1"/>
          <c:order val="1"/>
          <c:tx>
            <c:v>数量寄与</c:v>
          </c:tx>
          <c:spPr>
            <a:solidFill>
              <a:srgbClr val="4472C4"/>
            </a:solidFill>
            <a:ln>
              <a:noFill/>
            </a:ln>
          </c:spPr>
          <c:invertIfNegative val="0"/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FA-4ABA-8205-86395DAF5615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3FA-4ABA-8205-86395DAF5615}"/>
                </c:ext>
              </c:extLst>
            </c:dLbl>
            <c:numFmt formatCode="\+0.0%;\-0.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1月</c:v>
              </c:pt>
              <c:pt idx="1">
                <c:v>2月</c:v>
              </c:pt>
              <c:pt idx="2">
                <c:v>3月</c:v>
              </c:pt>
              <c:pt idx="3">
                <c:v>4月</c:v>
              </c:pt>
              <c:pt idx="4">
                <c:v>5月</c:v>
              </c:pt>
              <c:pt idx="5">
                <c:v>6月</c:v>
              </c:pt>
              <c:pt idx="6">
                <c:v>7月</c:v>
              </c:pt>
              <c:pt idx="7">
                <c:v>8月</c:v>
              </c:pt>
            </c:strLit>
          </c:cat>
          <c:val>
            <c:numLit>
              <c:formatCode>0.0%</c:formatCode>
              <c:ptCount val="8"/>
              <c:pt idx="0">
                <c:v>7.0999999999999994E-2</c:v>
              </c:pt>
              <c:pt idx="1">
                <c:v>4.5999999999999999E-2</c:v>
              </c:pt>
              <c:pt idx="2">
                <c:v>-1.7999999999999999E-2</c:v>
              </c:pt>
              <c:pt idx="3">
                <c:v>3.6999999999999998E-2</c:v>
              </c:pt>
              <c:pt idx="4">
                <c:v>0.20599999999999999</c:v>
              </c:pt>
              <c:pt idx="5">
                <c:v>-8.9999999999999993E-3</c:v>
              </c:pt>
              <c:pt idx="6">
                <c:v>3.4000000000000002E-2</c:v>
              </c:pt>
              <c:pt idx="7">
                <c:v>-0.13300000000000001</c:v>
              </c:pt>
            </c:numLit>
          </c:val>
          <c:extLst>
            <c:ext xmlns:c16="http://schemas.microsoft.com/office/drawing/2014/chart" uri="{C3380CC4-5D6E-409C-BE32-E72D297353CC}">
              <c16:uniqueId val="{00000004-F250-42FC-ACE7-F062D7C7511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404040"/>
                </a:solidFill>
                <a:latin typeface="游ゴシック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ja-JP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>
              <a:latin typeface="游ゴシック"/>
            </a:defRPr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Sheet1!$C$1</c:f>
              <c:strCache>
                <c:ptCount val="1"/>
                <c:pt idx="0">
                  <c:v>単価寄与</c:v>
                </c:pt>
              </c:strCache>
            </c:strRef>
          </c:tx>
          <c:spPr>
            <a:solidFill>
              <a:srgbClr val="B8860B"/>
            </a:solidFill>
            <a:ln>
              <a:noFill/>
            </a:ln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193-4A49-949E-3FE34C332216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193-4A49-949E-3FE34C332216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193-4A49-949E-3FE34C332216}"/>
                </c:ext>
              </c:extLst>
            </c:dLbl>
            <c:numFmt formatCode="\+0%;\-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Sheet1!$A$2:$B$31</c:f>
              <c:multiLvlStrCache>
                <c:ptCount val="30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4月</c:v>
                  </c:pt>
                  <c:pt idx="6">
                    <c:v>5月</c:v>
                  </c:pt>
                  <c:pt idx="7">
                    <c:v>6月</c:v>
                  </c:pt>
                  <c:pt idx="8">
                    <c:v>7月</c:v>
                  </c:pt>
                  <c:pt idx="9">
                    <c:v>8月</c:v>
                  </c:pt>
                  <c:pt idx="10">
                    <c:v>4月</c:v>
                  </c:pt>
                  <c:pt idx="11">
                    <c:v>5月</c:v>
                  </c:pt>
                  <c:pt idx="12">
                    <c:v>6月</c:v>
                  </c:pt>
                  <c:pt idx="13">
                    <c:v>7月</c:v>
                  </c:pt>
                  <c:pt idx="14">
                    <c:v>8月</c:v>
                  </c:pt>
                  <c:pt idx="15">
                    <c:v>4月</c:v>
                  </c:pt>
                  <c:pt idx="16">
                    <c:v>5月</c:v>
                  </c:pt>
                  <c:pt idx="17">
                    <c:v>6月</c:v>
                  </c:pt>
                  <c:pt idx="18">
                    <c:v>7月</c:v>
                  </c:pt>
                  <c:pt idx="19">
                    <c:v>8月</c:v>
                  </c:pt>
                  <c:pt idx="20">
                    <c:v>4月</c:v>
                  </c:pt>
                  <c:pt idx="21">
                    <c:v>5月</c:v>
                  </c:pt>
                  <c:pt idx="22">
                    <c:v>6月</c:v>
                  </c:pt>
                  <c:pt idx="23">
                    <c:v>7月</c:v>
                  </c:pt>
                  <c:pt idx="24">
                    <c:v>8月</c:v>
                  </c:pt>
                  <c:pt idx="25">
                    <c:v>4月</c:v>
                  </c:pt>
                  <c:pt idx="26">
                    <c:v>5月</c:v>
                  </c:pt>
                  <c:pt idx="27">
                    <c:v>6月</c:v>
                  </c:pt>
                  <c:pt idx="28">
                    <c:v>7月</c:v>
                  </c:pt>
                  <c:pt idx="29">
                    <c:v>8月</c:v>
                  </c:pt>
                </c:lvl>
                <c:lvl>
                  <c:pt idx="0">
                    <c:v>食品容器</c:v>
                  </c:pt>
                  <c:pt idx="5">
                    <c:v>フィルム・袋・ラミネート</c:v>
                  </c:pt>
                  <c:pt idx="10">
                    <c:v>紙箱・紙製品・ラベル・段ボール</c:v>
                  </c:pt>
                  <c:pt idx="15">
                    <c:v>消耗品</c:v>
                  </c:pt>
                  <c:pt idx="20">
                    <c:v>荷役</c:v>
                  </c:pt>
                  <c:pt idx="25">
                    <c:v>その他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0.0%</c:formatCode>
                <c:ptCount val="30"/>
                <c:pt idx="0">
                  <c:v>2.3999999999999998E-3</c:v>
                </c:pt>
                <c:pt idx="1">
                  <c:v>2.4899999999999999E-2</c:v>
                </c:pt>
                <c:pt idx="2">
                  <c:v>6.5100000000000005E-2</c:v>
                </c:pt>
                <c:pt idx="3">
                  <c:v>0.22939999999999999</c:v>
                </c:pt>
                <c:pt idx="4">
                  <c:v>0.2392</c:v>
                </c:pt>
                <c:pt idx="5">
                  <c:v>8.3000000000000001E-3</c:v>
                </c:pt>
                <c:pt idx="6">
                  <c:v>0.16889999999999999</c:v>
                </c:pt>
                <c:pt idx="7">
                  <c:v>0.19919999999999999</c:v>
                </c:pt>
                <c:pt idx="8">
                  <c:v>0.24970000000000001</c:v>
                </c:pt>
                <c:pt idx="9">
                  <c:v>0.25919999999999999</c:v>
                </c:pt>
                <c:pt idx="10">
                  <c:v>1.8700000000000001E-2</c:v>
                </c:pt>
                <c:pt idx="11">
                  <c:v>3.4599999999999999E-2</c:v>
                </c:pt>
                <c:pt idx="12">
                  <c:v>6.3600000000000004E-2</c:v>
                </c:pt>
                <c:pt idx="13">
                  <c:v>6.4399999999999999E-2</c:v>
                </c:pt>
                <c:pt idx="14">
                  <c:v>7.9100000000000004E-2</c:v>
                </c:pt>
                <c:pt idx="15">
                  <c:v>2.8299999999999999E-2</c:v>
                </c:pt>
                <c:pt idx="16">
                  <c:v>5.1200000000000002E-2</c:v>
                </c:pt>
                <c:pt idx="17">
                  <c:v>8.3799999999999999E-2</c:v>
                </c:pt>
                <c:pt idx="18">
                  <c:v>0.1017</c:v>
                </c:pt>
                <c:pt idx="19">
                  <c:v>0.1144</c:v>
                </c:pt>
                <c:pt idx="20">
                  <c:v>0.34799999999999998</c:v>
                </c:pt>
                <c:pt idx="21">
                  <c:v>7.9500000000000001E-2</c:v>
                </c:pt>
                <c:pt idx="22">
                  <c:v>0.1085</c:v>
                </c:pt>
                <c:pt idx="23">
                  <c:v>0.1082</c:v>
                </c:pt>
                <c:pt idx="24">
                  <c:v>-7.51E-2</c:v>
                </c:pt>
                <c:pt idx="25">
                  <c:v>2.8199999999999999E-2</c:v>
                </c:pt>
                <c:pt idx="26">
                  <c:v>6.7599999999999993E-2</c:v>
                </c:pt>
                <c:pt idx="27">
                  <c:v>7.7399999999999997E-2</c:v>
                </c:pt>
                <c:pt idx="28">
                  <c:v>0.18140000000000001</c:v>
                </c:pt>
                <c:pt idx="29">
                  <c:v>0.18590000000000001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193-4A49-949E-3FE34C332216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数量寄与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193-4A49-949E-3FE34C332216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193-4A49-949E-3FE34C332216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193-4A49-949E-3FE34C332216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193-4A49-949E-3FE34C332216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193-4A49-949E-3FE34C332216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193-4A49-949E-3FE34C332216}"/>
                </c:ext>
              </c:extLst>
            </c:dLbl>
            <c:numFmt formatCode="\+0%;\-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Sheet1!$A$2:$B$31</c:f>
              <c:multiLvlStrCache>
                <c:ptCount val="30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4月</c:v>
                  </c:pt>
                  <c:pt idx="6">
                    <c:v>5月</c:v>
                  </c:pt>
                  <c:pt idx="7">
                    <c:v>6月</c:v>
                  </c:pt>
                  <c:pt idx="8">
                    <c:v>7月</c:v>
                  </c:pt>
                  <c:pt idx="9">
                    <c:v>8月</c:v>
                  </c:pt>
                  <c:pt idx="10">
                    <c:v>4月</c:v>
                  </c:pt>
                  <c:pt idx="11">
                    <c:v>5月</c:v>
                  </c:pt>
                  <c:pt idx="12">
                    <c:v>6月</c:v>
                  </c:pt>
                  <c:pt idx="13">
                    <c:v>7月</c:v>
                  </c:pt>
                  <c:pt idx="14">
                    <c:v>8月</c:v>
                  </c:pt>
                  <c:pt idx="15">
                    <c:v>4月</c:v>
                  </c:pt>
                  <c:pt idx="16">
                    <c:v>5月</c:v>
                  </c:pt>
                  <c:pt idx="17">
                    <c:v>6月</c:v>
                  </c:pt>
                  <c:pt idx="18">
                    <c:v>7月</c:v>
                  </c:pt>
                  <c:pt idx="19">
                    <c:v>8月</c:v>
                  </c:pt>
                  <c:pt idx="20">
                    <c:v>4月</c:v>
                  </c:pt>
                  <c:pt idx="21">
                    <c:v>5月</c:v>
                  </c:pt>
                  <c:pt idx="22">
                    <c:v>6月</c:v>
                  </c:pt>
                  <c:pt idx="23">
                    <c:v>7月</c:v>
                  </c:pt>
                  <c:pt idx="24">
                    <c:v>8月</c:v>
                  </c:pt>
                  <c:pt idx="25">
                    <c:v>4月</c:v>
                  </c:pt>
                  <c:pt idx="26">
                    <c:v>5月</c:v>
                  </c:pt>
                  <c:pt idx="27">
                    <c:v>6月</c:v>
                  </c:pt>
                  <c:pt idx="28">
                    <c:v>7月</c:v>
                  </c:pt>
                  <c:pt idx="29">
                    <c:v>8月</c:v>
                  </c:pt>
                </c:lvl>
                <c:lvl>
                  <c:pt idx="0">
                    <c:v>食品容器</c:v>
                  </c:pt>
                  <c:pt idx="5">
                    <c:v>フィルム・袋・ラミネート</c:v>
                  </c:pt>
                  <c:pt idx="10">
                    <c:v>紙箱・紙製品・ラベル・段ボール</c:v>
                  </c:pt>
                  <c:pt idx="15">
                    <c:v>消耗品</c:v>
                  </c:pt>
                  <c:pt idx="20">
                    <c:v>荷役</c:v>
                  </c:pt>
                  <c:pt idx="25">
                    <c:v>その他</c:v>
                  </c:pt>
                </c:lvl>
              </c:multiLvlStrCache>
            </c:multiLvlStrRef>
          </c:cat>
          <c:val>
            <c:numRef>
              <c:f>Sheet1!$D$2:$D$31</c:f>
              <c:numCache>
                <c:formatCode>0.0%</c:formatCode>
                <c:ptCount val="30"/>
                <c:pt idx="0">
                  <c:v>0.1731</c:v>
                </c:pt>
                <c:pt idx="1">
                  <c:v>6.7999999999999996E-3</c:v>
                </c:pt>
                <c:pt idx="2">
                  <c:v>0.17050000000000001</c:v>
                </c:pt>
                <c:pt idx="3">
                  <c:v>-4.87E-2</c:v>
                </c:pt>
                <c:pt idx="4">
                  <c:v>-7.6200000000000004E-2</c:v>
                </c:pt>
                <c:pt idx="5">
                  <c:v>0.1201</c:v>
                </c:pt>
                <c:pt idx="6">
                  <c:v>4.0099999999999997E-2</c:v>
                </c:pt>
                <c:pt idx="7">
                  <c:v>2.8799999999999999E-2</c:v>
                </c:pt>
                <c:pt idx="8">
                  <c:v>1.5900000000000001E-2</c:v>
                </c:pt>
                <c:pt idx="9">
                  <c:v>2.64E-2</c:v>
                </c:pt>
                <c:pt idx="10">
                  <c:v>-1.3899999999999999E-2</c:v>
                </c:pt>
                <c:pt idx="11">
                  <c:v>-3.7100000000000001E-2</c:v>
                </c:pt>
                <c:pt idx="12">
                  <c:v>4.07E-2</c:v>
                </c:pt>
                <c:pt idx="13">
                  <c:v>6.4600000000000005E-2</c:v>
                </c:pt>
                <c:pt idx="14">
                  <c:v>1.4200000000000001E-2</c:v>
                </c:pt>
                <c:pt idx="15">
                  <c:v>4.8599999999999997E-2</c:v>
                </c:pt>
                <c:pt idx="16">
                  <c:v>8.5699999999999998E-2</c:v>
                </c:pt>
                <c:pt idx="17">
                  <c:v>3.9800000000000002E-2</c:v>
                </c:pt>
                <c:pt idx="18">
                  <c:v>-6.2199999999999998E-2</c:v>
                </c:pt>
                <c:pt idx="19">
                  <c:v>-8.5300000000000001E-2</c:v>
                </c:pt>
                <c:pt idx="20">
                  <c:v>-9.8299999999999998E-2</c:v>
                </c:pt>
                <c:pt idx="21">
                  <c:v>0.1076</c:v>
                </c:pt>
                <c:pt idx="22">
                  <c:v>-0.2107</c:v>
                </c:pt>
                <c:pt idx="23">
                  <c:v>-0.11269999999999999</c:v>
                </c:pt>
                <c:pt idx="24">
                  <c:v>-2.3599999999999999E-2</c:v>
                </c:pt>
                <c:pt idx="25">
                  <c:v>8.7499999999999994E-2</c:v>
                </c:pt>
                <c:pt idx="26">
                  <c:v>3.1E-2</c:v>
                </c:pt>
                <c:pt idx="27">
                  <c:v>-1.17E-2</c:v>
                </c:pt>
                <c:pt idx="28">
                  <c:v>-2.1299999999999999E-2</c:v>
                </c:pt>
                <c:pt idx="29">
                  <c:v>-6.0000000000000001E-3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193-4A49-949E-3FE34C3322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游ゴシック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ja-JP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100">
              <a:latin typeface="游ゴシック"/>
            </a:defRPr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Sheet1!$C$1</c:f>
              <c:strCache>
                <c:ptCount val="1"/>
                <c:pt idx="0">
                  <c:v>単価寄与</c:v>
                </c:pt>
              </c:strCache>
            </c:strRef>
          </c:tx>
          <c:spPr>
            <a:solidFill>
              <a:srgbClr val="B8860B"/>
            </a:solidFill>
            <a:ln>
              <a:noFill/>
            </a:ln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0A8-4C6A-8E0F-5F6D43B5025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0A8-4C6A-8E0F-5F6D43B5025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0A8-4C6A-8E0F-5F6D43B5025F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0A8-4C6A-8E0F-5F6D43B5025F}"/>
                </c:ext>
              </c:extLst>
            </c:dLbl>
            <c:numFmt formatCode="\+0%;\-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Sheet1!$A$2:$B$31</c:f>
              <c:multiLvlStrCache>
                <c:ptCount val="30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4月</c:v>
                  </c:pt>
                  <c:pt idx="6">
                    <c:v>5月</c:v>
                  </c:pt>
                  <c:pt idx="7">
                    <c:v>6月</c:v>
                  </c:pt>
                  <c:pt idx="8">
                    <c:v>7月</c:v>
                  </c:pt>
                  <c:pt idx="9">
                    <c:v>8月</c:v>
                  </c:pt>
                  <c:pt idx="10">
                    <c:v>4月</c:v>
                  </c:pt>
                  <c:pt idx="11">
                    <c:v>5月</c:v>
                  </c:pt>
                  <c:pt idx="12">
                    <c:v>6月</c:v>
                  </c:pt>
                  <c:pt idx="13">
                    <c:v>7月</c:v>
                  </c:pt>
                  <c:pt idx="14">
                    <c:v>8月</c:v>
                  </c:pt>
                  <c:pt idx="15">
                    <c:v>4月</c:v>
                  </c:pt>
                  <c:pt idx="16">
                    <c:v>5月</c:v>
                  </c:pt>
                  <c:pt idx="17">
                    <c:v>6月</c:v>
                  </c:pt>
                  <c:pt idx="18">
                    <c:v>7月</c:v>
                  </c:pt>
                  <c:pt idx="19">
                    <c:v>8月</c:v>
                  </c:pt>
                  <c:pt idx="20">
                    <c:v>4月</c:v>
                  </c:pt>
                  <c:pt idx="21">
                    <c:v>5月</c:v>
                  </c:pt>
                  <c:pt idx="22">
                    <c:v>6月</c:v>
                  </c:pt>
                  <c:pt idx="23">
                    <c:v>7月</c:v>
                  </c:pt>
                  <c:pt idx="24">
                    <c:v>8月</c:v>
                  </c:pt>
                  <c:pt idx="25">
                    <c:v>4月</c:v>
                  </c:pt>
                  <c:pt idx="26">
                    <c:v>5月</c:v>
                  </c:pt>
                  <c:pt idx="27">
                    <c:v>6月</c:v>
                  </c:pt>
                  <c:pt idx="28">
                    <c:v>7月</c:v>
                  </c:pt>
                  <c:pt idx="29">
                    <c:v>8月</c:v>
                  </c:pt>
                </c:lvl>
                <c:lvl>
                  <c:pt idx="0">
                    <c:v>食品容器</c:v>
                  </c:pt>
                  <c:pt idx="5">
                    <c:v>フィルム・袋・ラミネート</c:v>
                  </c:pt>
                  <c:pt idx="10">
                    <c:v>紙箱・紙製品・ラベル・段ボール</c:v>
                  </c:pt>
                  <c:pt idx="15">
                    <c:v>消耗品</c:v>
                  </c:pt>
                  <c:pt idx="20">
                    <c:v>荷役</c:v>
                  </c:pt>
                  <c:pt idx="25">
                    <c:v>その他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0.0%</c:formatCode>
                <c:ptCount val="30"/>
                <c:pt idx="0">
                  <c:v>9.4700000000000006E-2</c:v>
                </c:pt>
                <c:pt idx="1">
                  <c:v>-1.44E-2</c:v>
                </c:pt>
                <c:pt idx="2">
                  <c:v>0.1948</c:v>
                </c:pt>
                <c:pt idx="3">
                  <c:v>9.2399999999999996E-2</c:v>
                </c:pt>
                <c:pt idx="4">
                  <c:v>0.13289999999999999</c:v>
                </c:pt>
                <c:pt idx="5">
                  <c:v>9.1399999999999995E-2</c:v>
                </c:pt>
                <c:pt idx="6">
                  <c:v>0.16309999999999999</c:v>
                </c:pt>
                <c:pt idx="7">
                  <c:v>0.34410000000000002</c:v>
                </c:pt>
                <c:pt idx="8">
                  <c:v>0.13700000000000001</c:v>
                </c:pt>
                <c:pt idx="9">
                  <c:v>0.28520000000000001</c:v>
                </c:pt>
                <c:pt idx="10">
                  <c:v>4.6199999999999998E-2</c:v>
                </c:pt>
                <c:pt idx="11">
                  <c:v>-0.50109999999999999</c:v>
                </c:pt>
                <c:pt idx="12">
                  <c:v>6.4999999999999997E-3</c:v>
                </c:pt>
                <c:pt idx="13">
                  <c:v>0.1236</c:v>
                </c:pt>
                <c:pt idx="14">
                  <c:v>0.249</c:v>
                </c:pt>
                <c:pt idx="15">
                  <c:v>1.2800000000000001E-2</c:v>
                </c:pt>
                <c:pt idx="16">
                  <c:v>8.7599999999999997E-2</c:v>
                </c:pt>
                <c:pt idx="17">
                  <c:v>0.40579999999999999</c:v>
                </c:pt>
                <c:pt idx="18">
                  <c:v>-0.2092</c:v>
                </c:pt>
                <c:pt idx="19">
                  <c:v>-0.3851</c:v>
                </c:pt>
                <c:pt idx="20">
                  <c:v>-0.29530000000000001</c:v>
                </c:pt>
                <c:pt idx="21">
                  <c:v>-2.6200000000000001E-2</c:v>
                </c:pt>
                <c:pt idx="22">
                  <c:v>0.17119999999999999</c:v>
                </c:pt>
                <c:pt idx="23">
                  <c:v>0.20949999999999999</c:v>
                </c:pt>
                <c:pt idx="24">
                  <c:v>3.9800000000000002E-2</c:v>
                </c:pt>
                <c:pt idx="25">
                  <c:v>0.1363</c:v>
                </c:pt>
                <c:pt idx="26">
                  <c:v>4.48E-2</c:v>
                </c:pt>
                <c:pt idx="27">
                  <c:v>0.31859999999999999</c:v>
                </c:pt>
                <c:pt idx="28">
                  <c:v>0.13819999999999999</c:v>
                </c:pt>
                <c:pt idx="29">
                  <c:v>0.12959999999999999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193-4A49-949E-3FE34C332216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数量寄与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</c:spPr>
          <c:invertIfNegative val="0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0A8-4C6A-8E0F-5F6D43B5025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0A8-4C6A-8E0F-5F6D43B5025F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0A8-4C6A-8E0F-5F6D43B5025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0A8-4C6A-8E0F-5F6D43B5025F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0A8-4C6A-8E0F-5F6D43B5025F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0A8-4C6A-8E0F-5F6D43B5025F}"/>
                </c:ext>
              </c:extLst>
            </c:dLbl>
            <c:numFmt formatCode="\+0%;\-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Sheet1!$A$2:$B$31</c:f>
              <c:multiLvlStrCache>
                <c:ptCount val="30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4月</c:v>
                  </c:pt>
                  <c:pt idx="6">
                    <c:v>5月</c:v>
                  </c:pt>
                  <c:pt idx="7">
                    <c:v>6月</c:v>
                  </c:pt>
                  <c:pt idx="8">
                    <c:v>7月</c:v>
                  </c:pt>
                  <c:pt idx="9">
                    <c:v>8月</c:v>
                  </c:pt>
                  <c:pt idx="10">
                    <c:v>4月</c:v>
                  </c:pt>
                  <c:pt idx="11">
                    <c:v>5月</c:v>
                  </c:pt>
                  <c:pt idx="12">
                    <c:v>6月</c:v>
                  </c:pt>
                  <c:pt idx="13">
                    <c:v>7月</c:v>
                  </c:pt>
                  <c:pt idx="14">
                    <c:v>8月</c:v>
                  </c:pt>
                  <c:pt idx="15">
                    <c:v>4月</c:v>
                  </c:pt>
                  <c:pt idx="16">
                    <c:v>5月</c:v>
                  </c:pt>
                  <c:pt idx="17">
                    <c:v>6月</c:v>
                  </c:pt>
                  <c:pt idx="18">
                    <c:v>7月</c:v>
                  </c:pt>
                  <c:pt idx="19">
                    <c:v>8月</c:v>
                  </c:pt>
                  <c:pt idx="20">
                    <c:v>4月</c:v>
                  </c:pt>
                  <c:pt idx="21">
                    <c:v>5月</c:v>
                  </c:pt>
                  <c:pt idx="22">
                    <c:v>6月</c:v>
                  </c:pt>
                  <c:pt idx="23">
                    <c:v>7月</c:v>
                  </c:pt>
                  <c:pt idx="24">
                    <c:v>8月</c:v>
                  </c:pt>
                  <c:pt idx="25">
                    <c:v>4月</c:v>
                  </c:pt>
                  <c:pt idx="26">
                    <c:v>5月</c:v>
                  </c:pt>
                  <c:pt idx="27">
                    <c:v>6月</c:v>
                  </c:pt>
                  <c:pt idx="28">
                    <c:v>7月</c:v>
                  </c:pt>
                  <c:pt idx="29">
                    <c:v>8月</c:v>
                  </c:pt>
                </c:lvl>
                <c:lvl>
                  <c:pt idx="0">
                    <c:v>食品容器</c:v>
                  </c:pt>
                  <c:pt idx="5">
                    <c:v>フィルム・袋・ラミネート</c:v>
                  </c:pt>
                  <c:pt idx="10">
                    <c:v>紙箱・紙製品・ラベル・段ボール</c:v>
                  </c:pt>
                  <c:pt idx="15">
                    <c:v>消耗品</c:v>
                  </c:pt>
                  <c:pt idx="20">
                    <c:v>荷役</c:v>
                  </c:pt>
                  <c:pt idx="25">
                    <c:v>その他</c:v>
                  </c:pt>
                </c:lvl>
              </c:multiLvlStrCache>
            </c:multiLvlStrRef>
          </c:cat>
          <c:val>
            <c:numRef>
              <c:f>Sheet1!$D$2:$D$31</c:f>
              <c:numCache>
                <c:formatCode>0.0%</c:formatCode>
                <c:ptCount val="30"/>
                <c:pt idx="0">
                  <c:v>0.2026</c:v>
                </c:pt>
                <c:pt idx="1">
                  <c:v>0.22159999999999999</c:v>
                </c:pt>
                <c:pt idx="2">
                  <c:v>0.1298</c:v>
                </c:pt>
                <c:pt idx="3">
                  <c:v>-9.1999999999999998E-3</c:v>
                </c:pt>
                <c:pt idx="4">
                  <c:v>-2.5899999999999999E-2</c:v>
                </c:pt>
                <c:pt idx="5">
                  <c:v>-9.4399999999999998E-2</c:v>
                </c:pt>
                <c:pt idx="6">
                  <c:v>-5.8200000000000002E-2</c:v>
                </c:pt>
                <c:pt idx="7">
                  <c:v>-0.1825</c:v>
                </c:pt>
                <c:pt idx="8">
                  <c:v>7.6100000000000001E-2</c:v>
                </c:pt>
                <c:pt idx="9">
                  <c:v>-0.18790000000000001</c:v>
                </c:pt>
                <c:pt idx="10">
                  <c:v>7.1000000000000004E-3</c:v>
                </c:pt>
                <c:pt idx="11">
                  <c:v>0.63080000000000003</c:v>
                </c:pt>
                <c:pt idx="12">
                  <c:v>0.12709999999999999</c:v>
                </c:pt>
                <c:pt idx="13">
                  <c:v>1.5299999999999999E-2</c:v>
                </c:pt>
                <c:pt idx="14">
                  <c:v>-0.22489999999999999</c:v>
                </c:pt>
                <c:pt idx="15">
                  <c:v>6.1100000000000002E-2</c:v>
                </c:pt>
                <c:pt idx="16">
                  <c:v>-0.15859999999999999</c:v>
                </c:pt>
                <c:pt idx="17">
                  <c:v>0.37280000000000002</c:v>
                </c:pt>
                <c:pt idx="18">
                  <c:v>0.32029999999999997</c:v>
                </c:pt>
                <c:pt idx="19">
                  <c:v>0.26019999999999999</c:v>
                </c:pt>
                <c:pt idx="20">
                  <c:v>0.55559999999999998</c:v>
                </c:pt>
                <c:pt idx="21">
                  <c:v>0.22639999999999999</c:v>
                </c:pt>
                <c:pt idx="22">
                  <c:v>-0.30030000000000001</c:v>
                </c:pt>
                <c:pt idx="23">
                  <c:v>-0.22650000000000001</c:v>
                </c:pt>
                <c:pt idx="24">
                  <c:v>-0.1326</c:v>
                </c:pt>
                <c:pt idx="25">
                  <c:v>0.15620000000000001</c:v>
                </c:pt>
                <c:pt idx="26">
                  <c:v>3.09E-2</c:v>
                </c:pt>
                <c:pt idx="27">
                  <c:v>-2.8299999999999999E-2</c:v>
                </c:pt>
                <c:pt idx="28">
                  <c:v>3.8399999999999997E-2</c:v>
                </c:pt>
                <c:pt idx="29">
                  <c:v>-6.4699999999999994E-2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193-4A49-949E-3FE34C3322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游ゴシック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ja-JP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100">
              <a:latin typeface="游ゴシック"/>
            </a:defRPr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Sheet1!$C$1</c:f>
              <c:strCache>
                <c:ptCount val="1"/>
                <c:pt idx="0">
                  <c:v>単価寄与</c:v>
                </c:pt>
              </c:strCache>
            </c:strRef>
          </c:tx>
          <c:spPr>
            <a:solidFill>
              <a:srgbClr val="B8860B"/>
            </a:solidFill>
            <a:ln>
              <a:noFill/>
            </a:ln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0B1-4BC6-AAB6-680608E4B17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0B1-4BC6-AAB6-680608E4B17F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0B1-4BC6-AAB6-680608E4B17F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0B1-4BC6-AAB6-680608E4B17F}"/>
                </c:ext>
              </c:extLst>
            </c:dLbl>
            <c:numFmt formatCode="\+0%;\-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Sheet1!$A$2:$B$31</c:f>
              <c:multiLvlStrCache>
                <c:ptCount val="30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4月</c:v>
                  </c:pt>
                  <c:pt idx="6">
                    <c:v>5月</c:v>
                  </c:pt>
                  <c:pt idx="7">
                    <c:v>6月</c:v>
                  </c:pt>
                  <c:pt idx="8">
                    <c:v>7月</c:v>
                  </c:pt>
                  <c:pt idx="9">
                    <c:v>8月</c:v>
                  </c:pt>
                  <c:pt idx="10">
                    <c:v>4月</c:v>
                  </c:pt>
                  <c:pt idx="11">
                    <c:v>5月</c:v>
                  </c:pt>
                  <c:pt idx="12">
                    <c:v>6月</c:v>
                  </c:pt>
                  <c:pt idx="13">
                    <c:v>7月</c:v>
                  </c:pt>
                  <c:pt idx="14">
                    <c:v>8月</c:v>
                  </c:pt>
                  <c:pt idx="15">
                    <c:v>4月</c:v>
                  </c:pt>
                  <c:pt idx="16">
                    <c:v>5月</c:v>
                  </c:pt>
                  <c:pt idx="17">
                    <c:v>6月</c:v>
                  </c:pt>
                  <c:pt idx="18">
                    <c:v>7月</c:v>
                  </c:pt>
                  <c:pt idx="19">
                    <c:v>8月</c:v>
                  </c:pt>
                  <c:pt idx="20">
                    <c:v>4月</c:v>
                  </c:pt>
                  <c:pt idx="21">
                    <c:v>5月</c:v>
                  </c:pt>
                  <c:pt idx="22">
                    <c:v>6月</c:v>
                  </c:pt>
                  <c:pt idx="23">
                    <c:v>7月</c:v>
                  </c:pt>
                  <c:pt idx="24">
                    <c:v>8月</c:v>
                  </c:pt>
                  <c:pt idx="25">
                    <c:v>4月</c:v>
                  </c:pt>
                  <c:pt idx="26">
                    <c:v>5月</c:v>
                  </c:pt>
                  <c:pt idx="27">
                    <c:v>6月</c:v>
                  </c:pt>
                  <c:pt idx="28">
                    <c:v>7月</c:v>
                  </c:pt>
                  <c:pt idx="29">
                    <c:v>8月</c:v>
                  </c:pt>
                </c:lvl>
                <c:lvl>
                  <c:pt idx="0">
                    <c:v>石見営業所</c:v>
                  </c:pt>
                  <c:pt idx="5">
                    <c:v>下関営業所</c:v>
                  </c:pt>
                  <c:pt idx="10">
                    <c:v>松江営業所</c:v>
                  </c:pt>
                  <c:pt idx="15">
                    <c:v>広域営業部</c:v>
                  </c:pt>
                  <c:pt idx="20">
                    <c:v>境港営業所</c:v>
                  </c:pt>
                  <c:pt idx="25">
                    <c:v>水産部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0.0%</c:formatCode>
                <c:ptCount val="30"/>
                <c:pt idx="0">
                  <c:v>1.7999999999999999E-2</c:v>
                </c:pt>
                <c:pt idx="1">
                  <c:v>7.2099999999999997E-2</c:v>
                </c:pt>
                <c:pt idx="2">
                  <c:v>0.1109</c:v>
                </c:pt>
                <c:pt idx="3">
                  <c:v>0.17560000000000001</c:v>
                </c:pt>
                <c:pt idx="4">
                  <c:v>0.1883</c:v>
                </c:pt>
                <c:pt idx="5">
                  <c:v>3.3E-3</c:v>
                </c:pt>
                <c:pt idx="6">
                  <c:v>3.2599999999999997E-2</c:v>
                </c:pt>
                <c:pt idx="7">
                  <c:v>7.5600000000000001E-2</c:v>
                </c:pt>
                <c:pt idx="8">
                  <c:v>0.14019999999999999</c:v>
                </c:pt>
                <c:pt idx="9">
                  <c:v>0.16520000000000001</c:v>
                </c:pt>
                <c:pt idx="10">
                  <c:v>4.4999999999999997E-3</c:v>
                </c:pt>
                <c:pt idx="11">
                  <c:v>7.7499999999999999E-2</c:v>
                </c:pt>
                <c:pt idx="12">
                  <c:v>0.1724</c:v>
                </c:pt>
                <c:pt idx="13">
                  <c:v>0.2384</c:v>
                </c:pt>
                <c:pt idx="14">
                  <c:v>0.2389</c:v>
                </c:pt>
                <c:pt idx="15">
                  <c:v>2.64E-2</c:v>
                </c:pt>
                <c:pt idx="16">
                  <c:v>0.1469</c:v>
                </c:pt>
                <c:pt idx="17">
                  <c:v>0.1845</c:v>
                </c:pt>
                <c:pt idx="18">
                  <c:v>0.19089999999999999</c:v>
                </c:pt>
                <c:pt idx="19">
                  <c:v>0.18909999999999999</c:v>
                </c:pt>
                <c:pt idx="20">
                  <c:v>1.4200000000000001E-2</c:v>
                </c:pt>
                <c:pt idx="21">
                  <c:v>8.4500000000000006E-2</c:v>
                </c:pt>
                <c:pt idx="22">
                  <c:v>8.8900000000000007E-2</c:v>
                </c:pt>
                <c:pt idx="23">
                  <c:v>0.2016</c:v>
                </c:pt>
                <c:pt idx="24">
                  <c:v>0.1709</c:v>
                </c:pt>
                <c:pt idx="25">
                  <c:v>6.4199999999999993E-2</c:v>
                </c:pt>
                <c:pt idx="26">
                  <c:v>2.63E-2</c:v>
                </c:pt>
                <c:pt idx="27">
                  <c:v>3.7199999999999997E-2</c:v>
                </c:pt>
                <c:pt idx="28">
                  <c:v>0.2112</c:v>
                </c:pt>
                <c:pt idx="29">
                  <c:v>0.1983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0B1-4BC6-AAB6-680608E4B17F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数量寄与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</c:spPr>
          <c:invertIfNegative val="0"/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0B1-4BC6-AAB6-680608E4B17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0B1-4BC6-AAB6-680608E4B17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0B1-4BC6-AAB6-680608E4B17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0B1-4BC6-AAB6-680608E4B17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0B1-4BC6-AAB6-680608E4B17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0B1-4BC6-AAB6-680608E4B17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0B1-4BC6-AAB6-680608E4B17F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40B1-4BC6-AAB6-680608E4B17F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0B1-4BC6-AAB6-680608E4B17F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0B1-4BC6-AAB6-680608E4B17F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0B1-4BC6-AAB6-680608E4B17F}"/>
                </c:ext>
              </c:extLst>
            </c:dLbl>
            <c:numFmt formatCode="\+0%;\-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Sheet1!$A$2:$B$31</c:f>
              <c:multiLvlStrCache>
                <c:ptCount val="30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4月</c:v>
                  </c:pt>
                  <c:pt idx="6">
                    <c:v>5月</c:v>
                  </c:pt>
                  <c:pt idx="7">
                    <c:v>6月</c:v>
                  </c:pt>
                  <c:pt idx="8">
                    <c:v>7月</c:v>
                  </c:pt>
                  <c:pt idx="9">
                    <c:v>8月</c:v>
                  </c:pt>
                  <c:pt idx="10">
                    <c:v>4月</c:v>
                  </c:pt>
                  <c:pt idx="11">
                    <c:v>5月</c:v>
                  </c:pt>
                  <c:pt idx="12">
                    <c:v>6月</c:v>
                  </c:pt>
                  <c:pt idx="13">
                    <c:v>7月</c:v>
                  </c:pt>
                  <c:pt idx="14">
                    <c:v>8月</c:v>
                  </c:pt>
                  <c:pt idx="15">
                    <c:v>4月</c:v>
                  </c:pt>
                  <c:pt idx="16">
                    <c:v>5月</c:v>
                  </c:pt>
                  <c:pt idx="17">
                    <c:v>6月</c:v>
                  </c:pt>
                  <c:pt idx="18">
                    <c:v>7月</c:v>
                  </c:pt>
                  <c:pt idx="19">
                    <c:v>8月</c:v>
                  </c:pt>
                  <c:pt idx="20">
                    <c:v>4月</c:v>
                  </c:pt>
                  <c:pt idx="21">
                    <c:v>5月</c:v>
                  </c:pt>
                  <c:pt idx="22">
                    <c:v>6月</c:v>
                  </c:pt>
                  <c:pt idx="23">
                    <c:v>7月</c:v>
                  </c:pt>
                  <c:pt idx="24">
                    <c:v>8月</c:v>
                  </c:pt>
                  <c:pt idx="25">
                    <c:v>4月</c:v>
                  </c:pt>
                  <c:pt idx="26">
                    <c:v>5月</c:v>
                  </c:pt>
                  <c:pt idx="27">
                    <c:v>6月</c:v>
                  </c:pt>
                  <c:pt idx="28">
                    <c:v>7月</c:v>
                  </c:pt>
                  <c:pt idx="29">
                    <c:v>8月</c:v>
                  </c:pt>
                </c:lvl>
                <c:lvl>
                  <c:pt idx="0">
                    <c:v>石見営業所</c:v>
                  </c:pt>
                  <c:pt idx="5">
                    <c:v>下関営業所</c:v>
                  </c:pt>
                  <c:pt idx="10">
                    <c:v>松江営業所</c:v>
                  </c:pt>
                  <c:pt idx="15">
                    <c:v>広域営業部</c:v>
                  </c:pt>
                  <c:pt idx="20">
                    <c:v>境港営業所</c:v>
                  </c:pt>
                  <c:pt idx="25">
                    <c:v>水産部</c:v>
                  </c:pt>
                </c:lvl>
              </c:multiLvlStrCache>
            </c:multiLvlStrRef>
          </c:cat>
          <c:val>
            <c:numRef>
              <c:f>Sheet1!$D$2:$D$31</c:f>
              <c:numCache>
                <c:formatCode>0.0%</c:formatCode>
                <c:ptCount val="30"/>
                <c:pt idx="0">
                  <c:v>0.11849999999999999</c:v>
                </c:pt>
                <c:pt idx="1">
                  <c:v>-2.3800000000000002E-2</c:v>
                </c:pt>
                <c:pt idx="2">
                  <c:v>-1.21E-2</c:v>
                </c:pt>
                <c:pt idx="3">
                  <c:v>5.7000000000000002E-3</c:v>
                </c:pt>
                <c:pt idx="4">
                  <c:v>-6.4500000000000002E-2</c:v>
                </c:pt>
                <c:pt idx="5">
                  <c:v>0.115</c:v>
                </c:pt>
                <c:pt idx="6">
                  <c:v>1.6400000000000001E-2</c:v>
                </c:pt>
                <c:pt idx="7">
                  <c:v>0.13669999999999999</c:v>
                </c:pt>
                <c:pt idx="8">
                  <c:v>-1.2200000000000001E-2</c:v>
                </c:pt>
                <c:pt idx="9">
                  <c:v>-3.1E-2</c:v>
                </c:pt>
                <c:pt idx="10">
                  <c:v>0.10199999999999999</c:v>
                </c:pt>
                <c:pt idx="11">
                  <c:v>9.8400000000000001E-2</c:v>
                </c:pt>
                <c:pt idx="12">
                  <c:v>-1.9400000000000001E-2</c:v>
                </c:pt>
                <c:pt idx="13">
                  <c:v>-1.8E-3</c:v>
                </c:pt>
                <c:pt idx="14">
                  <c:v>-5.4000000000000003E-3</c:v>
                </c:pt>
                <c:pt idx="15">
                  <c:v>5.0599999999999999E-2</c:v>
                </c:pt>
                <c:pt idx="16">
                  <c:v>4.7399999999999998E-2</c:v>
                </c:pt>
                <c:pt idx="17">
                  <c:v>9.3899999999999997E-2</c:v>
                </c:pt>
                <c:pt idx="18">
                  <c:v>-1.43E-2</c:v>
                </c:pt>
                <c:pt idx="19">
                  <c:v>1.09E-2</c:v>
                </c:pt>
                <c:pt idx="20">
                  <c:v>-2.1700000000000001E-2</c:v>
                </c:pt>
                <c:pt idx="21">
                  <c:v>-7.9000000000000008E-3</c:v>
                </c:pt>
                <c:pt idx="22">
                  <c:v>9.8799999999999999E-2</c:v>
                </c:pt>
                <c:pt idx="23">
                  <c:v>2.6800000000000001E-2</c:v>
                </c:pt>
                <c:pt idx="24">
                  <c:v>-6.2100000000000002E-2</c:v>
                </c:pt>
                <c:pt idx="25">
                  <c:v>0.1988</c:v>
                </c:pt>
                <c:pt idx="26">
                  <c:v>8.0999999999999996E-3</c:v>
                </c:pt>
                <c:pt idx="27">
                  <c:v>0.1709</c:v>
                </c:pt>
                <c:pt idx="28">
                  <c:v>-3.44E-2</c:v>
                </c:pt>
                <c:pt idx="29">
                  <c:v>0.107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0B1-4BC6-AAB6-680608E4B1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游ゴシック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ja-JP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100">
              <a:latin typeface="游ゴシック"/>
            </a:defRPr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Sheet1!$C$1</c:f>
              <c:strCache>
                <c:ptCount val="1"/>
                <c:pt idx="0">
                  <c:v>単価寄与</c:v>
                </c:pt>
              </c:strCache>
            </c:strRef>
          </c:tx>
          <c:spPr>
            <a:solidFill>
              <a:srgbClr val="B8860B"/>
            </a:solidFill>
            <a:ln>
              <a:noFill/>
            </a:ln>
          </c:spPr>
          <c:invertIfNegative val="0"/>
          <c:dLbls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EFB-4D16-A09C-23262ECCC302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EFB-4D16-A09C-23262ECCC302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EFB-4D16-A09C-23262ECCC302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EFB-4D16-A09C-23262ECCC302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EFB-4D16-A09C-23262ECCC302}"/>
                </c:ext>
              </c:extLst>
            </c:dLbl>
            <c:numFmt formatCode="\+0%;\-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Sheet1!$A$2:$B$31</c:f>
              <c:multiLvlStrCache>
                <c:ptCount val="30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4月</c:v>
                  </c:pt>
                  <c:pt idx="6">
                    <c:v>5月</c:v>
                  </c:pt>
                  <c:pt idx="7">
                    <c:v>6月</c:v>
                  </c:pt>
                  <c:pt idx="8">
                    <c:v>7月</c:v>
                  </c:pt>
                  <c:pt idx="9">
                    <c:v>8月</c:v>
                  </c:pt>
                  <c:pt idx="10">
                    <c:v>4月</c:v>
                  </c:pt>
                  <c:pt idx="11">
                    <c:v>5月</c:v>
                  </c:pt>
                  <c:pt idx="12">
                    <c:v>6月</c:v>
                  </c:pt>
                  <c:pt idx="13">
                    <c:v>7月</c:v>
                  </c:pt>
                  <c:pt idx="14">
                    <c:v>8月</c:v>
                  </c:pt>
                  <c:pt idx="15">
                    <c:v>4月</c:v>
                  </c:pt>
                  <c:pt idx="16">
                    <c:v>5月</c:v>
                  </c:pt>
                  <c:pt idx="17">
                    <c:v>6月</c:v>
                  </c:pt>
                  <c:pt idx="18">
                    <c:v>7月</c:v>
                  </c:pt>
                  <c:pt idx="19">
                    <c:v>8月</c:v>
                  </c:pt>
                  <c:pt idx="20">
                    <c:v>4月</c:v>
                  </c:pt>
                  <c:pt idx="21">
                    <c:v>5月</c:v>
                  </c:pt>
                  <c:pt idx="22">
                    <c:v>6月</c:v>
                  </c:pt>
                  <c:pt idx="23">
                    <c:v>7月</c:v>
                  </c:pt>
                  <c:pt idx="24">
                    <c:v>8月</c:v>
                  </c:pt>
                  <c:pt idx="25">
                    <c:v>4月</c:v>
                  </c:pt>
                  <c:pt idx="26">
                    <c:v>5月</c:v>
                  </c:pt>
                  <c:pt idx="27">
                    <c:v>6月</c:v>
                  </c:pt>
                  <c:pt idx="28">
                    <c:v>7月</c:v>
                  </c:pt>
                  <c:pt idx="29">
                    <c:v>8月</c:v>
                  </c:pt>
                </c:lvl>
                <c:lvl>
                  <c:pt idx="0">
                    <c:v>石見営業所</c:v>
                  </c:pt>
                  <c:pt idx="5">
                    <c:v>下関営業所</c:v>
                  </c:pt>
                  <c:pt idx="10">
                    <c:v>松江営業所</c:v>
                  </c:pt>
                  <c:pt idx="15">
                    <c:v>広域営業部</c:v>
                  </c:pt>
                  <c:pt idx="20">
                    <c:v>境港営業所</c:v>
                  </c:pt>
                  <c:pt idx="25">
                    <c:v>水産部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0.0%</c:formatCode>
                <c:ptCount val="30"/>
                <c:pt idx="0">
                  <c:v>0.1173</c:v>
                </c:pt>
                <c:pt idx="1">
                  <c:v>0.114</c:v>
                </c:pt>
                <c:pt idx="2">
                  <c:v>0.33250000000000002</c:v>
                </c:pt>
                <c:pt idx="3">
                  <c:v>5.5100000000000003E-2</c:v>
                </c:pt>
                <c:pt idx="4">
                  <c:v>0.1638</c:v>
                </c:pt>
                <c:pt idx="5">
                  <c:v>1.4999999999999999E-2</c:v>
                </c:pt>
                <c:pt idx="6">
                  <c:v>0.1769</c:v>
                </c:pt>
                <c:pt idx="7">
                  <c:v>0.1012</c:v>
                </c:pt>
                <c:pt idx="8">
                  <c:v>0.02</c:v>
                </c:pt>
                <c:pt idx="9">
                  <c:v>0.22650000000000001</c:v>
                </c:pt>
                <c:pt idx="10">
                  <c:v>0.28620000000000001</c:v>
                </c:pt>
                <c:pt idx="11">
                  <c:v>-0.97299999999999998</c:v>
                </c:pt>
                <c:pt idx="12">
                  <c:v>0.41770000000000002</c:v>
                </c:pt>
                <c:pt idx="13">
                  <c:v>0.26600000000000001</c:v>
                </c:pt>
                <c:pt idx="14">
                  <c:v>0.40579999999999999</c:v>
                </c:pt>
                <c:pt idx="15">
                  <c:v>4.9099999999999998E-2</c:v>
                </c:pt>
                <c:pt idx="16">
                  <c:v>0.1192</c:v>
                </c:pt>
                <c:pt idx="17">
                  <c:v>0.3916</c:v>
                </c:pt>
                <c:pt idx="18">
                  <c:v>0.1009</c:v>
                </c:pt>
                <c:pt idx="19">
                  <c:v>0.21440000000000001</c:v>
                </c:pt>
                <c:pt idx="20">
                  <c:v>-1.0800000000000001E-2</c:v>
                </c:pt>
                <c:pt idx="21">
                  <c:v>6.3299999999999995E-2</c:v>
                </c:pt>
                <c:pt idx="22">
                  <c:v>-0.1143</c:v>
                </c:pt>
                <c:pt idx="23">
                  <c:v>0.1827</c:v>
                </c:pt>
                <c:pt idx="24">
                  <c:v>4.9299999999999997E-2</c:v>
                </c:pt>
                <c:pt idx="25">
                  <c:v>-8.7499999999999994E-2</c:v>
                </c:pt>
                <c:pt idx="26">
                  <c:v>4.02E-2</c:v>
                </c:pt>
                <c:pt idx="27">
                  <c:v>3.9300000000000002E-2</c:v>
                </c:pt>
                <c:pt idx="28">
                  <c:v>0.23799999999999999</c:v>
                </c:pt>
                <c:pt idx="29">
                  <c:v>-0.1113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0B1-4BC6-AAB6-680608E4B17F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数量寄与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</c:spPr>
          <c:invertIfNegative val="0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EFB-4D16-A09C-23262ECCC302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EFB-4D16-A09C-23262ECCC30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EFB-4D16-A09C-23262ECCC302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EFB-4D16-A09C-23262ECCC302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EFB-4D16-A09C-23262ECCC302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EFB-4D16-A09C-23262ECCC302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EFB-4D16-A09C-23262ECCC302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EFB-4D16-A09C-23262ECCC302}"/>
                </c:ext>
              </c:extLst>
            </c:dLbl>
            <c:numFmt formatCode="\+0%;\-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Sheet1!$A$2:$B$31</c:f>
              <c:multiLvlStrCache>
                <c:ptCount val="30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4月</c:v>
                  </c:pt>
                  <c:pt idx="6">
                    <c:v>5月</c:v>
                  </c:pt>
                  <c:pt idx="7">
                    <c:v>6月</c:v>
                  </c:pt>
                  <c:pt idx="8">
                    <c:v>7月</c:v>
                  </c:pt>
                  <c:pt idx="9">
                    <c:v>8月</c:v>
                  </c:pt>
                  <c:pt idx="10">
                    <c:v>4月</c:v>
                  </c:pt>
                  <c:pt idx="11">
                    <c:v>5月</c:v>
                  </c:pt>
                  <c:pt idx="12">
                    <c:v>6月</c:v>
                  </c:pt>
                  <c:pt idx="13">
                    <c:v>7月</c:v>
                  </c:pt>
                  <c:pt idx="14">
                    <c:v>8月</c:v>
                  </c:pt>
                  <c:pt idx="15">
                    <c:v>4月</c:v>
                  </c:pt>
                  <c:pt idx="16">
                    <c:v>5月</c:v>
                  </c:pt>
                  <c:pt idx="17">
                    <c:v>6月</c:v>
                  </c:pt>
                  <c:pt idx="18">
                    <c:v>7月</c:v>
                  </c:pt>
                  <c:pt idx="19">
                    <c:v>8月</c:v>
                  </c:pt>
                  <c:pt idx="20">
                    <c:v>4月</c:v>
                  </c:pt>
                  <c:pt idx="21">
                    <c:v>5月</c:v>
                  </c:pt>
                  <c:pt idx="22">
                    <c:v>6月</c:v>
                  </c:pt>
                  <c:pt idx="23">
                    <c:v>7月</c:v>
                  </c:pt>
                  <c:pt idx="24">
                    <c:v>8月</c:v>
                  </c:pt>
                  <c:pt idx="25">
                    <c:v>4月</c:v>
                  </c:pt>
                  <c:pt idx="26">
                    <c:v>5月</c:v>
                  </c:pt>
                  <c:pt idx="27">
                    <c:v>6月</c:v>
                  </c:pt>
                  <c:pt idx="28">
                    <c:v>7月</c:v>
                  </c:pt>
                  <c:pt idx="29">
                    <c:v>8月</c:v>
                  </c:pt>
                </c:lvl>
                <c:lvl>
                  <c:pt idx="0">
                    <c:v>石見営業所</c:v>
                  </c:pt>
                  <c:pt idx="5">
                    <c:v>下関営業所</c:v>
                  </c:pt>
                  <c:pt idx="10">
                    <c:v>松江営業所</c:v>
                  </c:pt>
                  <c:pt idx="15">
                    <c:v>広域営業部</c:v>
                  </c:pt>
                  <c:pt idx="20">
                    <c:v>境港営業所</c:v>
                  </c:pt>
                  <c:pt idx="25">
                    <c:v>水産部</c:v>
                  </c:pt>
                </c:lvl>
              </c:multiLvlStrCache>
            </c:multiLvlStrRef>
          </c:cat>
          <c:val>
            <c:numRef>
              <c:f>Sheet1!$D$2:$D$31</c:f>
              <c:numCache>
                <c:formatCode>0.0%</c:formatCode>
                <c:ptCount val="30"/>
                <c:pt idx="0">
                  <c:v>0.24229999999999999</c:v>
                </c:pt>
                <c:pt idx="1">
                  <c:v>0.1893</c:v>
                </c:pt>
                <c:pt idx="2">
                  <c:v>9.7799999999999998E-2</c:v>
                </c:pt>
                <c:pt idx="3">
                  <c:v>2.81E-2</c:v>
                </c:pt>
                <c:pt idx="4">
                  <c:v>-0.1603</c:v>
                </c:pt>
                <c:pt idx="5">
                  <c:v>5.7000000000000002E-2</c:v>
                </c:pt>
                <c:pt idx="6">
                  <c:v>-2.8899999999999999E-2</c:v>
                </c:pt>
                <c:pt idx="7">
                  <c:v>0.1512</c:v>
                </c:pt>
                <c:pt idx="8">
                  <c:v>5.0200000000000002E-2</c:v>
                </c:pt>
                <c:pt idx="9">
                  <c:v>-9.1800000000000007E-2</c:v>
                </c:pt>
                <c:pt idx="10">
                  <c:v>-0.1263</c:v>
                </c:pt>
                <c:pt idx="11">
                  <c:v>0.96940000000000004</c:v>
                </c:pt>
                <c:pt idx="12">
                  <c:v>-0.38019999999999998</c:v>
                </c:pt>
                <c:pt idx="13">
                  <c:v>1.24E-2</c:v>
                </c:pt>
                <c:pt idx="14">
                  <c:v>-0.30230000000000001</c:v>
                </c:pt>
                <c:pt idx="15">
                  <c:v>-0.12959999999999999</c:v>
                </c:pt>
                <c:pt idx="16">
                  <c:v>-5.1299999999999998E-2</c:v>
                </c:pt>
                <c:pt idx="17">
                  <c:v>-0.23649999999999999</c:v>
                </c:pt>
                <c:pt idx="18">
                  <c:v>5.6599999999999998E-2</c:v>
                </c:pt>
                <c:pt idx="19">
                  <c:v>1.12E-2</c:v>
                </c:pt>
                <c:pt idx="20">
                  <c:v>1.9800000000000002E-2</c:v>
                </c:pt>
                <c:pt idx="21">
                  <c:v>3.6299999999999999E-2</c:v>
                </c:pt>
                <c:pt idx="22">
                  <c:v>0.53069999999999995</c:v>
                </c:pt>
                <c:pt idx="23">
                  <c:v>3.3399999999999999E-2</c:v>
                </c:pt>
                <c:pt idx="24">
                  <c:v>-2.69E-2</c:v>
                </c:pt>
                <c:pt idx="25">
                  <c:v>0.55830000000000002</c:v>
                </c:pt>
                <c:pt idx="26">
                  <c:v>0.19020000000000001</c:v>
                </c:pt>
                <c:pt idx="27">
                  <c:v>-5.8700000000000002E-2</c:v>
                </c:pt>
                <c:pt idx="28">
                  <c:v>-0.27639999999999998</c:v>
                </c:pt>
                <c:pt idx="29">
                  <c:v>-5.28E-2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0B1-4BC6-AAB6-680608E4B1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游ゴシック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-1"/>
        </c:scaling>
        <c:delete val="0"/>
        <c:axPos val="l"/>
        <c:majorGridlines>
          <c:spPr>
            <a:ln w="6350">
              <a:solidFill>
                <a:srgbClr val="E5E5E5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ja-JP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100">
              <a:latin typeface="游ゴシック"/>
            </a:defRPr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E1417-1F60-4101-A7C6-2460F89F278A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10B696-C970-43F1-885A-8BFA481DAA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6457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10B696-C970-43F1-885A-8BFA481DAA01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8564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10B696-C970-43F1-885A-8BFA481DAA01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8564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5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713232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89888" y="274320"/>
            <a:ext cx="54864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HGSeikaishotaiPRO"/>
              </a:rPr>
              <a:t>株式会社タカハシ包装センター</a:t>
            </a:r>
          </a:p>
          <a:p>
            <a:r>
              <a:rPr sz="1400">
                <a:solidFill>
                  <a:srgbClr val="D6E4F0"/>
                </a:solidFill>
                <a:latin typeface="HGSeikaishotaiPRO"/>
              </a:rPr>
              <a:t>代表取締役社長　高橋将史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84831"/>
            <a:ext cx="82296" cy="13716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121408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游ゴシック"/>
              </a:rPr>
              <a:t>第51期見込と第52期計画について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35808"/>
            <a:ext cx="10058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6E4F0"/>
                </a:solidFill>
                <a:latin typeface="游ゴシック"/>
              </a:rPr>
              <a:t>第52期 売上高・売上総利益計画の策定根拠 ―― 先行き不透明ななかで、複数の切り口から検証する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3840480"/>
            <a:ext cx="1335024" cy="1572768"/>
          </a:xfrm>
          <a:prstGeom prst="rect">
            <a:avLst/>
          </a:prstGeom>
          <a:solidFill>
            <a:srgbClr val="2A4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3000" y="3840480"/>
            <a:ext cx="1335024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52728" y="3968496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8860B"/>
                </a:solidFill>
                <a:latin typeface="游ゴシック"/>
              </a:rPr>
              <a:t>第1章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4187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游ゴシック"/>
              </a:rPr>
              <a:t>第51期見込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4553712"/>
            <a:ext cx="11704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着地の姿と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計画との差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3840480"/>
            <a:ext cx="1335024" cy="1572768"/>
          </a:xfrm>
          <a:prstGeom prst="rect">
            <a:avLst/>
          </a:prstGeom>
          <a:solidFill>
            <a:srgbClr val="2A4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06040" y="3840480"/>
            <a:ext cx="1335024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15768" y="3968496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8860B"/>
                </a:solidFill>
                <a:latin typeface="游ゴシック"/>
              </a:rPr>
              <a:t>第2章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4187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游ゴシック"/>
              </a:rPr>
              <a:t>物価動向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4553712"/>
            <a:ext cx="11704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企業物価指数で読む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仕入価格の現在地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3840480"/>
            <a:ext cx="1335024" cy="1572768"/>
          </a:xfrm>
          <a:prstGeom prst="rect">
            <a:avLst/>
          </a:prstGeom>
          <a:solidFill>
            <a:srgbClr val="2A4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069080" y="3840480"/>
            <a:ext cx="1335024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78808" y="3968496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8860B"/>
                </a:solidFill>
                <a:latin typeface="游ゴシック"/>
              </a:rPr>
              <a:t>第3章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78808" y="4187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游ゴシック"/>
              </a:rPr>
              <a:t>当社の実績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8808" y="4553712"/>
            <a:ext cx="11704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商品群別・月次の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売上と粗利益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3840480"/>
            <a:ext cx="1335024" cy="1572768"/>
          </a:xfrm>
          <a:prstGeom prst="rect">
            <a:avLst/>
          </a:prstGeom>
          <a:solidFill>
            <a:srgbClr val="2A4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532120" y="3840480"/>
            <a:ext cx="1335024" cy="45720"/>
          </a:xfrm>
          <a:prstGeom prst="rect">
            <a:avLst/>
          </a:prstGeom>
          <a:solidFill>
            <a:srgbClr val="4C6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41848" y="3968496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9DB2D0"/>
                </a:solidFill>
                <a:latin typeface="游ゴシック"/>
              </a:rPr>
              <a:t>第4章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4187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游ゴシック"/>
              </a:rPr>
              <a:t>原料価格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41848" y="4553712"/>
            <a:ext cx="11704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ナフサ等と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売価への影響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5160" y="3840480"/>
            <a:ext cx="1335024" cy="1572768"/>
          </a:xfrm>
          <a:prstGeom prst="rect">
            <a:avLst/>
          </a:prstGeom>
          <a:solidFill>
            <a:srgbClr val="2A4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95160" y="3840480"/>
            <a:ext cx="1335024" cy="45720"/>
          </a:xfrm>
          <a:prstGeom prst="rect">
            <a:avLst/>
          </a:prstGeom>
          <a:solidFill>
            <a:srgbClr val="4C6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04888" y="3968496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9DB2D0"/>
                </a:solidFill>
                <a:latin typeface="游ゴシック"/>
              </a:rPr>
              <a:t>第5章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4888" y="4187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游ゴシック"/>
              </a:rPr>
              <a:t>同業他社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04888" y="4553712"/>
            <a:ext cx="11704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非上場7社の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封鎖前の実績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58200" y="3840480"/>
            <a:ext cx="1335024" cy="1572768"/>
          </a:xfrm>
          <a:prstGeom prst="rect">
            <a:avLst/>
          </a:prstGeom>
          <a:solidFill>
            <a:srgbClr val="2A4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458200" y="3840480"/>
            <a:ext cx="1335024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67928" y="3968496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8860B"/>
                </a:solidFill>
                <a:latin typeface="游ゴシック"/>
              </a:rPr>
              <a:t>第6章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67928" y="4187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游ゴシック"/>
              </a:rPr>
              <a:t>第52期計画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67928" y="4553712"/>
            <a:ext cx="11704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売上高・売上総利益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計画の考え方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5687568"/>
            <a:ext cx="10058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DB2D0"/>
                </a:solidFill>
                <a:latin typeface="游ゴシック"/>
              </a:rPr>
              <a:t>※ 本資料は2部構成。第1部＝第51期見込（第1章）、第2部＝第52期計画（第2章以降。現状分析＝第2〜5章／計画策定＝第6章）。第4章・第5章は順次追加します。営業向けは完成後に別途作成します。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82735" y="62910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D6E4F0"/>
                </a:solidFill>
                <a:latin typeface="游ゴシック"/>
              </a:rPr>
              <a:t>2026年8月27日　社外秘</a:t>
            </a:r>
          </a:p>
        </p:txBody>
      </p:sp>
    </p:spTree>
    <p:extLst>
      <p:ext uri="{BB962C8B-B14F-4D97-AF65-F5344CB8AC3E}">
        <p14:creationId xmlns:p14="http://schemas.microsoft.com/office/powerpoint/2010/main" val="1711223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第1章　第51期見込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第51期の着地見込 ―― 売上は計画線、粗利益は計画超え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第51期＝2025年10月〜2026年9月　単位：千円（100千円未満を四捨五入）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P2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60704"/>
            <a:ext cx="3621024" cy="12984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060704"/>
            <a:ext cx="3621024" cy="548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" y="1243584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04040"/>
                </a:solidFill>
                <a:latin typeface="游ゴシック"/>
              </a:rPr>
              <a:t>売上高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1481328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F3864"/>
                </a:solidFill>
                <a:latin typeface="游ゴシック"/>
              </a:rPr>
              <a:t>3,650,400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536192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08080"/>
                </a:solidFill>
                <a:latin typeface="游ゴシック"/>
              </a:rPr>
              <a:t>計画比 ▲0.0％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773936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08080"/>
                </a:solidFill>
                <a:latin typeface="游ゴシック"/>
              </a:rPr>
              <a:t>前期比 ＋7.0％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15384" y="1060704"/>
            <a:ext cx="3621024" cy="12984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15384" y="1060704"/>
            <a:ext cx="3621024" cy="54864"/>
          </a:xfrm>
          <a:prstGeom prst="rect">
            <a:avLst/>
          </a:prstGeom>
          <a:solidFill>
            <a:srgbClr val="1F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1243584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04040"/>
                </a:solidFill>
                <a:latin typeface="游ゴシック"/>
              </a:rPr>
              <a:t>売上総利益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481328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F7040"/>
                </a:solidFill>
                <a:latin typeface="游ゴシック"/>
              </a:rPr>
              <a:t>859,700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1536192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08080"/>
                </a:solidFill>
                <a:latin typeface="游ゴシック"/>
              </a:rPr>
              <a:t>計画比 ＋2.6％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1773936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08080"/>
                </a:solidFill>
                <a:latin typeface="游ゴシック"/>
              </a:rPr>
              <a:t>前期比 ＋11.1％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9288" y="1060704"/>
            <a:ext cx="3621024" cy="12984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19288" y="1060704"/>
            <a:ext cx="3621024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38744" y="1243584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04040"/>
                </a:solidFill>
                <a:latin typeface="游ゴシック"/>
              </a:rPr>
              <a:t>売上総利益率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1481328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B8860B"/>
                </a:solidFill>
                <a:latin typeface="游ゴシック"/>
              </a:rPr>
              <a:t>23.6％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22408" y="1536192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08080"/>
                </a:solidFill>
                <a:latin typeface="游ゴシック"/>
              </a:rPr>
              <a:t>計画 22.9％　＋0.7pt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22408" y="1773936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08080"/>
                </a:solidFill>
                <a:latin typeface="游ゴシック"/>
              </a:rPr>
              <a:t>前期 22.7％　＋0.9pt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2542032"/>
            <a:ext cx="1135684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ja-JP" altLang="en-US" sz="1200" b="1" dirty="0">
                <a:solidFill>
                  <a:srgbClr val="1F3864"/>
                </a:solidFill>
                <a:latin typeface="游ゴシック"/>
                <a:ea typeface="游ゴシック"/>
              </a:rPr>
              <a:t>商品群別の</a:t>
            </a:r>
            <a:r>
              <a:rPr lang="ja-JP" altLang="en-US" sz="1200" b="1">
                <a:solidFill>
                  <a:srgbClr val="1F3864"/>
                </a:solidFill>
                <a:latin typeface="游ゴシック"/>
                <a:ea typeface="游ゴシック"/>
              </a:rPr>
              <a:t>着地見込</a:t>
            </a:r>
            <a:endParaRPr lang="ja-JP" altLang="en-US" sz="1200" b="1" dirty="0">
              <a:solidFill>
                <a:srgbClr val="1F3864"/>
              </a:solidFill>
              <a:latin typeface="游ゴシック"/>
              <a:ea typeface="游ゴシック"/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11480" y="2871216"/>
          <a:ext cx="11356848" cy="1999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87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endParaRPr/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第50期実績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第51期計画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第51期見込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計画比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前期比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粗利益率
（前期→見込）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04040"/>
                          </a:solidFill>
                          <a:latin typeface="游ゴシック"/>
                        </a:rPr>
                        <a:t>包装資材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3,044,900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3,380,000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3,337,900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▲1.2％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＋9.6％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21.7％ → 22.6％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04040"/>
                          </a:solidFill>
                          <a:latin typeface="游ゴシック"/>
                        </a:rPr>
                        <a:t>荷役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85,400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90,800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92,200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＋1.5％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＋8.0％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63.3％ → 60.6％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04040"/>
                          </a:solidFill>
                          <a:latin typeface="游ゴシック"/>
                        </a:rPr>
                        <a:t>機械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279,800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225,700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220,200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▲2.4％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▲21.3％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20.7％ → 22.0％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04040"/>
                          </a:solidFill>
                          <a:latin typeface="游ゴシック"/>
                        </a:rPr>
                        <a:t>合計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游ゴシック"/>
                        </a:rPr>
                        <a:t>3,410,000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游ゴシック"/>
                        </a:rPr>
                        <a:t>3,651,000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游ゴシック"/>
                        </a:rPr>
                        <a:t>3,650,400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游ゴシック"/>
                        </a:rPr>
                        <a:t>▲0.0％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游ゴシック"/>
                        </a:rPr>
                        <a:t>＋7.0％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游ゴシック"/>
                        </a:rPr>
                        <a:t>22.7％ → 23.6％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411480" y="5010912"/>
            <a:ext cx="362102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1480" y="5010912"/>
            <a:ext cx="45720" cy="10789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5157216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3864"/>
                </a:solidFill>
                <a:latin typeface="游ゴシック"/>
              </a:rPr>
              <a:t>売上は計画どおり着地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5468112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全社売上は計画 3,651,000 に対し見込 3,650,400。差はわずか 600千円で、ほぼ計画線での着地。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15384" y="5010912"/>
            <a:ext cx="362102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15384" y="5010912"/>
            <a:ext cx="45720" cy="1078992"/>
          </a:xfrm>
          <a:prstGeom prst="rect">
            <a:avLst/>
          </a:prstGeom>
          <a:solidFill>
            <a:srgbClr val="1F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16552" y="5157216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7040"/>
                </a:solidFill>
                <a:latin typeface="游ゴシック"/>
              </a:rPr>
              <a:t>粗利益は計画を22,100千円超過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552" y="5468112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粗利益率が計画22.9％に対し23.6％。2026年4月以降の価格改定が粗利を押し上げた。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19288" y="5010912"/>
            <a:ext cx="362102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19288" y="5010912"/>
            <a:ext cx="45720" cy="1078992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0456" y="5157216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C55A11"/>
                </a:solidFill>
                <a:latin typeface="游ゴシック"/>
              </a:rPr>
              <a:t>機械は前期比▲21.3％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0456" y="5468112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スポット性が高く振れが大きい。機械を除く包装資材は前期比＋9.6％で、本業は堅調。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8C8C8C"/>
                </a:solidFill>
                <a:latin typeface="游ゴシック"/>
              </a:rPr>
              <a:t>出所：第51期着地及び第52期計画策定資料（全体）「第51期着地見込C」。各営業所からの提出値を集約</a:t>
            </a:r>
          </a:p>
        </p:txBody>
      </p:sp>
    </p:spTree>
    <p:extLst>
      <p:ext uri="{BB962C8B-B14F-4D97-AF65-F5344CB8AC3E}">
        <p14:creationId xmlns:p14="http://schemas.microsoft.com/office/powerpoint/2010/main" val="4042796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第1章　第51期見込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営業所別の着地見込 ―― 松江・水産部が牽引、下関・境港が未達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第51期見込の内訳。単位：千円（100千円未満を四捨五入）。計画比の達成・未達は粗利益ベースで評価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879435"/>
              </p:ext>
            </p:extLst>
          </p:nvPr>
        </p:nvGraphicFramePr>
        <p:xfrm>
          <a:off x="411480" y="1078992"/>
          <a:ext cx="1122680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428997537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353649995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33406098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350601856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endParaRPr/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売上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第50期実績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売上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第51期計画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売上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第51期見込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売上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計画比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売上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前期比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粗利益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第50期実績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粗利益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第51期計画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粗利益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第51期見込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粗利益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計画比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粗利益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前期比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粗利益率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前期→見込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石見営業所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788,600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869,700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865,800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▲0.4％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＋9.8％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219,600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231,300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240,300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＋3.9％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＋9.4％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27.9％ → 27.8％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下関営業所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535,000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597,500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561,800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▲6.0％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＋5.0％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111,200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122,800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117,200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▲4.6％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＋5.4％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20.8％ → 20.9％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松江営業所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401,300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405,000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436,200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＋7.7％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＋8.7％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90,400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97,300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105,600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＋8.5％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＋16.8％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22.5％ → 24.2％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広域営業部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505,300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556,900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526,400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▲5.5％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＋4.2％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75,600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84,200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88,200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＋4.8％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＋16.7％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15.0％ → 16.8％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境港営業所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762,600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741,900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723,900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▲2.4％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▲5.1％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151,300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153,300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144,100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▲6.0％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▲4.8％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19.8％ → 19.9％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営業部門合計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2,992,900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3,170,900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3,114,000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▲1.8％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＋4.1％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648,200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688,900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695,400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＋1.0％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＋7.3％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21.7％ → 22.3％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水産部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417,200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480,100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536,300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＋11.7％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＋28.6％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125,800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148,800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164,300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＋10.4％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＋30.6％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30.2％ → 30.6％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合計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3,410,000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3,651,000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3,650,400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▲0.0％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＋7.0％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774,000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837,600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859,700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＋2.6％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＋11.1％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22.7％ → 23.6％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4864608"/>
            <a:ext cx="3621024" cy="12252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4864608"/>
            <a:ext cx="45720" cy="1225296"/>
          </a:xfrm>
          <a:prstGeom prst="rect">
            <a:avLst/>
          </a:prstGeom>
          <a:solidFill>
            <a:srgbClr val="1F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501091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7040"/>
                </a:solidFill>
                <a:latin typeface="游ゴシック"/>
              </a:rPr>
              <a:t>粗利益で計画を超えた4拠点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5321808"/>
            <a:ext cx="32461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水産部＋10.4％（15,500千円超過）と松江＋8.5％（8,300千円超過）が牽引。広域は売上▲5.5％ながら粗利益は＋4.8％を確保し、石見も＋3.9％。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5384" y="4864608"/>
            <a:ext cx="3621024" cy="12252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15384" y="4864608"/>
            <a:ext cx="45720" cy="122529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2" y="501091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C00000"/>
                </a:solidFill>
                <a:latin typeface="游ゴシック"/>
              </a:rPr>
              <a:t>計画に届かなかったのは2拠点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5321808"/>
            <a:ext cx="32461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下関▲4.6％（5,600千円）、境港▲6.0％（9,200千円）。境港は粗利益の前期比でも▲4.8％で、前期の機械大型案件の反動が出ている。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9288" y="4864608"/>
            <a:ext cx="3621024" cy="12252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19288" y="4864608"/>
            <a:ext cx="45720" cy="1225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0456" y="501091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3864"/>
                </a:solidFill>
                <a:latin typeface="游ゴシック"/>
              </a:rPr>
              <a:t>粗利益率は全拠点で維持・改善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5321808"/>
            <a:ext cx="32461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合計22.7％→23.6％。広域営業部が＋1.8ポイント、松江が＋1.7ポイントと改善幅が大きい。価格改定を粗利に乗せられている。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8C8C8C"/>
                </a:solidFill>
                <a:latin typeface="游ゴシック"/>
              </a:rPr>
              <a:t>出所：第51期着地及び第52期計画策定資料（全体）「第51期着地見込C」。キョウワ・NWI（7月～6月）を除く</a:t>
            </a:r>
          </a:p>
        </p:txBody>
      </p:sp>
    </p:spTree>
    <p:extLst>
      <p:ext uri="{BB962C8B-B14F-4D97-AF65-F5344CB8AC3E}">
        <p14:creationId xmlns:p14="http://schemas.microsoft.com/office/powerpoint/2010/main" val="2819353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第2章　物価動向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当社の商品は、どの物価指数で動いているのか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主力はプラスチック製品。段ボールだけは紙。原料である化学製品は1〜2か月先行して動く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60704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游ゴシック"/>
              </a:rPr>
              <a:t>① 企業物価指数（CGPI）と消費者物価指数（CPI）の違い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389888"/>
          <a:ext cx="5349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endParaRPr/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游ゴシック"/>
                        </a:rPr>
                        <a:t>企業物価指数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游ゴシック"/>
                        </a:rPr>
                        <a:t>消費者物価指数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游ゴシック"/>
                        </a:rPr>
                        <a:t>作成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日本銀行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総務省統計局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游ゴシック"/>
                        </a:rPr>
                        <a:t>測る取引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企業間のモノの取引価格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家計が買う小売価格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游ゴシック"/>
                        </a:rPr>
                        <a:t>流通段階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川上〜川中（原料・資材）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川下（最終消費）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游ゴシック"/>
                        </a:rPr>
                        <a:t>当社との関係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仕入価格に直結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得意先の値上げ余力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游ゴシック"/>
                        </a:rPr>
                        <a:t>2026年8月</a:t>
                      </a:r>
                    </a:p>
                  </a:txBody>
                  <a:tcPr marL="100584" marR="6400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游ゴシック"/>
                        </a:rPr>
                        <a:t>＋7.6％</a:t>
                      </a:r>
                    </a:p>
                  </a:txBody>
                  <a:tcPr marL="100584" marR="6400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游ゴシック"/>
                        </a:rPr>
                        <a:t>＋1.8％（コア・7月）</a:t>
                      </a:r>
                    </a:p>
                  </a:txBody>
                  <a:tcPr marL="100584" marR="64008" anchor="ctr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053328" y="1060704"/>
            <a:ext cx="5715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游ゴシック"/>
              </a:rPr>
              <a:t>② 当社の商品は、どの類別に入るか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53328" y="1353312"/>
            <a:ext cx="5715000" cy="621792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54496" y="1444752"/>
            <a:ext cx="5349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企業物価指数は「類別」ごとに公表されている。当社の商品がどの類別に当たるかを押さえれば、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仕入価格の動きを指数で追える。右端は、その類別の指数が2026年3月→7月に何％上がったか。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53328" y="2048256"/>
          <a:ext cx="5715000" cy="2324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34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</a:rPr>
                        <a:t>当社の商品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</a:rPr>
                        <a:t>日銀の類別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</a:rPr>
                        <a:t>企業物価指数
3月→7月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4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游ゴシック"/>
                        </a:rPr>
                        <a:t>発泡スチロール・食品トレー・PPトレー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プラスチック製品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＋9.2％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34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游ゴシック"/>
                        </a:rPr>
                        <a:t>ボードン袋・ストレッチフィルム・ポリ袋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プラスチック製品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＋9.2％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34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游ゴシック"/>
                        </a:rPr>
                        <a:t>プラコンテナ・PPバンド・テープ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プラスチック製品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＋9.2％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34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游ゴシック"/>
                        </a:rPr>
                        <a:t>段ボール・紙箱・紙製品・ラベル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パルプ・紙・同製品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＋3.0％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34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游ゴシック"/>
                        </a:rPr>
                        <a:t>ニトリル手袋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その他工業製品（ゴム）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―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34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游ゴシック"/>
                        </a:rPr>
                        <a:t>（原料）樹脂ペレット・スチレンモノマー</a:t>
                      </a:r>
                    </a:p>
                  </a:txBody>
                  <a:tcPr marL="100584" marR="6400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55A11"/>
                          </a:solidFill>
                          <a:latin typeface="游ゴシック"/>
                        </a:rPr>
                        <a:t>化学製品 ＝ 先行指標</a:t>
                      </a:r>
                    </a:p>
                  </a:txBody>
                  <a:tcPr marL="100584" marR="6400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55A11"/>
                          </a:solidFill>
                          <a:latin typeface="游ゴシック"/>
                        </a:rPr>
                        <a:t>＋10.0％</a:t>
                      </a:r>
                    </a:p>
                  </a:txBody>
                  <a:tcPr marL="100584" marR="64008" anchor="ctr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6053328" y="4407408"/>
            <a:ext cx="5715000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53328" y="4407408"/>
            <a:ext cx="45720" cy="5120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54496" y="4453128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3864"/>
                </a:solidFill>
                <a:latin typeface="游ゴシック"/>
              </a:rPr>
              <a:t>主力はプラスチック製品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4453128"/>
            <a:ext cx="3017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850" b="0">
                <a:solidFill>
                  <a:srgbClr val="404040"/>
                </a:solidFill>
                <a:latin typeface="游ゴシック"/>
              </a:rPr>
              <a:t>売上の約6割を占める食品容器とフィルム・袋は、いずれも「プラスチック製品」。ここが仕入価格の物差しになる。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53328" y="4992624"/>
            <a:ext cx="5715000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53328" y="4992624"/>
            <a:ext cx="45720" cy="512064"/>
          </a:xfrm>
          <a:prstGeom prst="rect">
            <a:avLst/>
          </a:prstGeom>
          <a:solidFill>
            <a:srgbClr val="1F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54496" y="5038344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7040"/>
                </a:solidFill>
                <a:latin typeface="游ゴシック"/>
              </a:rPr>
              <a:t>段ボール・紙製品は「紙」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5038344"/>
            <a:ext cx="3017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850" b="0">
                <a:solidFill>
                  <a:srgbClr val="404040"/>
                </a:solidFill>
                <a:latin typeface="游ゴシック"/>
              </a:rPr>
              <a:t>同じ包装資材でも段ボールは「パルプ・紙・同製品」。上昇率は＋3.0％と、プラスチック製品の3分の1にとどまる。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53328" y="5577840"/>
            <a:ext cx="5715000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53328" y="5577840"/>
            <a:ext cx="45720" cy="5120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54496" y="5623560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C55A11"/>
                </a:solidFill>
                <a:latin typeface="游ゴシック"/>
              </a:rPr>
              <a:t>化学製品は1〜2か月先行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3648" y="5623560"/>
            <a:ext cx="3017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850" b="0">
                <a:solidFill>
                  <a:srgbClr val="404040"/>
                </a:solidFill>
                <a:latin typeface="游ゴシック"/>
              </a:rPr>
              <a:t>樹脂の原料である化学製品が動いてから、当社の仕入が動くまで1〜2か月（前月比の相関 r＝0.77）。先読みに使える。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8C8C8C"/>
                </a:solidFill>
                <a:latin typeface="游ゴシック"/>
              </a:rPr>
              <a:t>出所：日本銀行「企業物価指数」2026年8月速報／総務省統計局「消費者物価指数」7月分。②は3月→7月の水準変化、③は前年同月比（※プラ製品8月は当社推計、P5'参照）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858768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游ゴシック"/>
              </a:rPr>
              <a:t>③ 現在の上昇率（2026年8月速報・前年同月比）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187952"/>
            <a:ext cx="2624328" cy="9692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1480" y="4187952"/>
            <a:ext cx="45720" cy="9692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6072" y="4334256"/>
            <a:ext cx="1508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F3864"/>
                </a:solidFill>
                <a:latin typeface="游ゴシック"/>
              </a:rPr>
              <a:t>総平均</a:t>
            </a:r>
          </a:p>
          <a:p>
            <a:pPr algn="l"/>
            <a:r>
              <a:rPr sz="800" b="0">
                <a:solidFill>
                  <a:srgbClr val="808080"/>
                </a:solidFill>
                <a:latin typeface="游ゴシック"/>
              </a:rPr>
              <a:t>企業物価指数の全体</a:t>
            </a:r>
          </a:p>
          <a:p>
            <a:pPr algn="l"/>
            <a:r>
              <a:rPr sz="800" b="1">
                <a:solidFill>
                  <a:srgbClr val="1F3864"/>
                </a:solidFill>
                <a:latin typeface="游ゴシック"/>
              </a:rPr>
              <a:t>7月＋7.7％ → 横ばい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389120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>
                <a:solidFill>
                  <a:srgbClr val="1F3864"/>
                </a:solidFill>
                <a:latin typeface="游ゴシック"/>
              </a:rPr>
              <a:t>＋7.6％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36392" y="4187952"/>
            <a:ext cx="2624328" cy="9692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136392" y="4187952"/>
            <a:ext cx="45720" cy="9692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00984" y="4334256"/>
            <a:ext cx="1508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F3864"/>
                </a:solidFill>
                <a:latin typeface="游ゴシック"/>
              </a:rPr>
              <a:t>プラスチック製品</a:t>
            </a:r>
          </a:p>
          <a:p>
            <a:pPr algn="l"/>
            <a:r>
              <a:rPr sz="800" b="0">
                <a:solidFill>
                  <a:srgbClr val="808080"/>
                </a:solidFill>
                <a:latin typeface="游ゴシック"/>
              </a:rPr>
              <a:t>当社の主力商品</a:t>
            </a:r>
          </a:p>
          <a:p>
            <a:pPr algn="l"/>
            <a:r>
              <a:rPr sz="800" b="1">
                <a:solidFill>
                  <a:srgbClr val="C00000"/>
                </a:solidFill>
                <a:latin typeface="游ゴシック"/>
              </a:rPr>
              <a:t>7月＋9.1％ → 拡大（※推計）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4389120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>
                <a:solidFill>
                  <a:srgbClr val="C00000"/>
                </a:solidFill>
                <a:latin typeface="游ゴシック"/>
              </a:rPr>
              <a:t>約＋10％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5266944"/>
            <a:ext cx="2624328" cy="9692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11480" y="5266944"/>
            <a:ext cx="45720" cy="9692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6072" y="5413248"/>
            <a:ext cx="1508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F3864"/>
                </a:solidFill>
                <a:latin typeface="游ゴシック"/>
              </a:rPr>
              <a:t>化学製品</a:t>
            </a:r>
          </a:p>
          <a:p>
            <a:pPr algn="l"/>
            <a:r>
              <a:rPr sz="800" b="0">
                <a:solidFill>
                  <a:srgbClr val="808080"/>
                </a:solidFill>
                <a:latin typeface="游ゴシック"/>
              </a:rPr>
              <a:t>樹脂原料・先行指標</a:t>
            </a:r>
          </a:p>
          <a:p>
            <a:pPr algn="l"/>
            <a:r>
              <a:rPr sz="800" b="1">
                <a:solidFill>
                  <a:srgbClr val="B8860B"/>
                </a:solidFill>
                <a:latin typeface="游ゴシック"/>
              </a:rPr>
              <a:t>7月＋12.9％ → 拡大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468112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>
                <a:solidFill>
                  <a:srgbClr val="B8860B"/>
                </a:solidFill>
                <a:latin typeface="游ゴシック"/>
              </a:rPr>
              <a:t>＋13.9％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36392" y="5266944"/>
            <a:ext cx="2624328" cy="9692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136392" y="5266944"/>
            <a:ext cx="45720" cy="969264"/>
          </a:xfrm>
          <a:prstGeom prst="rect">
            <a:avLst/>
          </a:prstGeom>
          <a:solidFill>
            <a:srgbClr val="1F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00984" y="5413248"/>
            <a:ext cx="1508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F3864"/>
                </a:solidFill>
                <a:latin typeface="游ゴシック"/>
              </a:rPr>
              <a:t>パルプ・紙・同製品</a:t>
            </a:r>
          </a:p>
          <a:p>
            <a:pPr algn="l"/>
            <a:r>
              <a:rPr sz="800" b="0">
                <a:solidFill>
                  <a:srgbClr val="808080"/>
                </a:solidFill>
                <a:latin typeface="游ゴシック"/>
              </a:rPr>
              <a:t>段ボール・紙製品</a:t>
            </a:r>
          </a:p>
          <a:p>
            <a:pPr algn="l"/>
            <a:r>
              <a:rPr sz="800" b="1">
                <a:solidFill>
                  <a:srgbClr val="1F7040"/>
                </a:solidFill>
                <a:latin typeface="游ゴシック"/>
              </a:rPr>
              <a:t>7月＋6.1％ → ほぼ横ばい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5468112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>
                <a:solidFill>
                  <a:srgbClr val="1F7040"/>
                </a:solidFill>
                <a:latin typeface="游ゴシック"/>
              </a:rPr>
              <a:t>＋6.3％</a:t>
            </a:r>
          </a:p>
        </p:txBody>
      </p:sp>
    </p:spTree>
    <p:extLst>
      <p:ext uri="{BB962C8B-B14F-4D97-AF65-F5344CB8AC3E}">
        <p14:creationId xmlns:p14="http://schemas.microsoft.com/office/powerpoint/2010/main" val="3025357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第2章　物価動向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価格は川上から川下へ、時間差で降りてくる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当社は「メーカーの価格改定を受ける側」。得意先に渡すまでには必ずラグが生じる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P5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188720"/>
            <a:ext cx="1737360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" y="1188720"/>
            <a:ext cx="1737360" cy="3840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" y="127101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游ゴシック"/>
              </a:rPr>
              <a:t>原油・ナフサ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1700784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808080"/>
                </a:solidFill>
                <a:latin typeface="游ゴシック"/>
              </a:rPr>
              <a:t>輸入物価（7月 +29.1%）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199339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游ゴシック"/>
              </a:rPr>
              <a:t>+24.8%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226564" y="2048256"/>
            <a:ext cx="164592" cy="256032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04872" y="1188720"/>
            <a:ext cx="1737360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404872" y="1188720"/>
            <a:ext cx="1737360" cy="3840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68880" y="127101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游ゴシック"/>
              </a:rPr>
              <a:t>石油・石炭製品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1700784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808080"/>
                </a:solidFill>
                <a:latin typeface="游ゴシック"/>
              </a:rPr>
              <a:t>企業物価（7月 +17.6%）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199339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C55A11"/>
                </a:solidFill>
                <a:latin typeface="游ゴシック"/>
              </a:rPr>
              <a:t>+14.7%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155948" y="2048256"/>
            <a:ext cx="164592" cy="256032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34256" y="1188720"/>
            <a:ext cx="1737360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34256" y="1188720"/>
            <a:ext cx="1737360" cy="3840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98264" y="127101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游ゴシック"/>
              </a:rPr>
              <a:t>化学製品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8264" y="1700784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808080"/>
                </a:solidFill>
                <a:latin typeface="游ゴシック"/>
              </a:rPr>
              <a:t>企業物価（7月 +12.9%）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8264" y="199339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C55A11"/>
                </a:solidFill>
                <a:latin typeface="游ゴシック"/>
              </a:rPr>
              <a:t>+13.9%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085332" y="2048256"/>
            <a:ext cx="164592" cy="256032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1188720"/>
            <a:ext cx="1737360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1188720"/>
            <a:ext cx="1737360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7648" y="127101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游ゴシック"/>
              </a:rPr>
              <a:t>プラスチック製品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1700784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808080"/>
                </a:solidFill>
                <a:latin typeface="游ゴシック"/>
              </a:rPr>
              <a:t>企業物価（7月 +9.1%）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199339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F3864"/>
                </a:solidFill>
                <a:latin typeface="游ゴシック"/>
              </a:rPr>
              <a:t>約+10%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014716" y="2048256"/>
            <a:ext cx="164592" cy="256032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93024" y="1188720"/>
            <a:ext cx="1737360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93024" y="1188720"/>
            <a:ext cx="1737360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57032" y="127101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游ゴシック"/>
              </a:rPr>
              <a:t>当社の仕入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2" y="1700784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808080"/>
                </a:solidFill>
                <a:latin typeface="游ゴシック"/>
              </a:rPr>
              <a:t>メーカー改定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2" y="199339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F3864"/>
                </a:solidFill>
                <a:latin typeface="游ゴシック"/>
              </a:rPr>
              <a:t>進行中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944100" y="2048256"/>
            <a:ext cx="164592" cy="256032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122408" y="1188720"/>
            <a:ext cx="1737360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122408" y="1188720"/>
            <a:ext cx="1737360" cy="384048"/>
          </a:xfrm>
          <a:prstGeom prst="rect">
            <a:avLst/>
          </a:prstGeom>
          <a:solidFill>
            <a:srgbClr val="1F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86416" y="127101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游ゴシック"/>
              </a:rPr>
              <a:t>得意先の売価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6416" y="1700784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808080"/>
                </a:solidFill>
                <a:latin typeface="游ゴシック"/>
              </a:rPr>
              <a:t>コアCPI（7月分）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86416" y="199339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F7040"/>
                </a:solidFill>
                <a:latin typeface="游ゴシック"/>
              </a:rPr>
              <a:t>+1.8%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" y="2834640"/>
            <a:ext cx="10927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F3864"/>
                </a:solidFill>
                <a:latin typeface="游ゴシック"/>
              </a:rPr>
              <a:t>←　上流ほど変動が大きく反応が早い　　／　　下流ほど遅く、幅も小さい　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3310128"/>
            <a:ext cx="5623560" cy="27614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" y="349300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8860B"/>
                </a:solidFill>
                <a:latin typeface="游ゴシック"/>
              </a:rPr>
              <a:t>川上と川下の差は 7か月で19倍に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3877056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000" b="1">
                <a:solidFill>
                  <a:srgbClr val="FFFFFF"/>
                </a:solidFill>
                <a:latin typeface="游ゴシック"/>
              </a:rPr>
              <a:t>5.8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1680" y="431596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6E4F0"/>
                </a:solidFill>
                <a:latin typeface="游ゴシック"/>
              </a:rPr>
              <a:t>ポイント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4754880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D6E4F0"/>
                </a:solidFill>
                <a:latin typeface="游ゴシック"/>
              </a:rPr>
              <a:t>企業物価 ＋7.6％（8月） － コアCPI ＋1.8％（7月）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5138928"/>
            <a:ext cx="507492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50" b="0">
                <a:solidFill>
                  <a:srgbClr val="C8D6EA"/>
                </a:solidFill>
                <a:latin typeface="游ゴシック"/>
              </a:rPr>
              <a:t>2026年1月時点では 0.3ポイント差にすぎなかった。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50" b="0">
                <a:solidFill>
                  <a:srgbClr val="C8D6EA"/>
                </a:solidFill>
                <a:latin typeface="游ゴシック"/>
              </a:rPr>
              <a:t>仕入だけが上がり、売価が追いつかない構図が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50" b="0">
                <a:solidFill>
                  <a:srgbClr val="C8D6EA"/>
                </a:solidFill>
                <a:latin typeface="游ゴシック"/>
              </a:rPr>
              <a:t>この7か月で一気に生まれ、8月はさらに広がった。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3310128"/>
            <a:ext cx="5458968" cy="2761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65392" y="3493008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游ゴシック"/>
              </a:rPr>
              <a:t>マクロが示すのは「圧力」であって「結果」ではない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65392" y="3895344"/>
            <a:ext cx="4983480" cy="1956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游ゴシック"/>
              </a:rPr>
              <a:t>企業物価と消費者物価の差は、あくまで業界全体にかかる転嫁圧力の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游ゴシック"/>
              </a:rPr>
              <a:t>大きさを示すもの。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050" b="0">
              <a:solidFill>
                <a:srgbClr val="404040"/>
              </a:solidFill>
              <a:latin typeface="游ゴシック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游ゴシック"/>
              </a:rPr>
              <a:t>当社が実際にどこまで売価へ転嫁できたのか、粗利益率を守れたのかは、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游ゴシック"/>
              </a:rPr>
              <a:t>この指数からは分からない。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050" b="0">
              <a:solidFill>
                <a:srgbClr val="404040"/>
              </a:solidFill>
              <a:latin typeface="游ゴシック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游ゴシック"/>
              </a:rPr>
              <a:t>第2章では、当社の売上明細を商品群別・月別に集計し、売上数量・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游ゴシック"/>
              </a:rPr>
              <a:t>平均売価・平均粗利を前年同月と比べることで、この圧力を実際に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游ゴシック"/>
              </a:rPr>
              <a:t>どう受け止めたかを検証する。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8C8C8C"/>
                </a:solidFill>
                <a:latin typeface="游ゴシック"/>
              </a:rPr>
              <a:t>出所：日本銀行「企業物価指数」「輸入物価指数（円ベース）」2026年8月速報／総務省統計局「消費者物価指数」7月分。先月との比較は次頁P5'</a:t>
            </a:r>
          </a:p>
        </p:txBody>
      </p:sp>
    </p:spTree>
    <p:extLst>
      <p:ext uri="{BB962C8B-B14F-4D97-AF65-F5344CB8AC3E}">
        <p14:creationId xmlns:p14="http://schemas.microsoft.com/office/powerpoint/2010/main" val="4253393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第3章　当社の実績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売上の伸びは「単価」か「数量」か ―― 月次の推移【機械類を除く】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機械類を除いた包装資材ベース。同一商品コードで突合し、単価寄与と数量寄与に分解（単価寄与＋数量寄与＝金額増減）。2025年→2026年の各月比較。8月を追加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371600"/>
          <a:ext cx="11338560" cy="490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游ゴシック"/>
              </a:rPr>
              <a:t>出所：202501～07　202601～07売上明細（1〜7月）、2508・2608タカハシ包装売上全明細（8月）。単価はラスパイレス価格指数（前年数量ウエイト）。単価が前年比0.25〜4.0倍の範囲外の品目は除外</a:t>
            </a:r>
          </a:p>
        </p:txBody>
      </p:sp>
      <p:sp>
        <p:nvSpPr>
          <p:cNvPr id="20" name="MethodBadge"/>
          <p:cNvSpPr/>
          <p:nvPr/>
        </p:nvSpPr>
        <p:spPr>
          <a:xfrm>
            <a:off x="406400" y="965200"/>
            <a:ext cx="3810000" cy="33020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游ゴシック"/>
                <a:ea typeface="游ゴシック"/>
              </a:rPr>
              <a:t>手法① 同一商品突合ベース（ラスパイレス）</a:t>
            </a:r>
          </a:p>
        </p:txBody>
      </p:sp>
    </p:spTree>
    <p:extLst>
      <p:ext uri="{BB962C8B-B14F-4D97-AF65-F5344CB8AC3E}">
        <p14:creationId xmlns:p14="http://schemas.microsoft.com/office/powerpoint/2010/main" val="129243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第3章　当社の実績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売上の伸びは「単価」か「数量」か ―― 平均単価法【機械類を除く】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P6の比較版。商品コード突合なしで「売上金額÷売上数量＝平均単価」として分解。スペックダウン・ミックス変化は単価寄与に含まれる。1〜8月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P6'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371600"/>
          <a:ext cx="11338560" cy="490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游ゴシック"/>
              </a:rPr>
              <a:t>出所：202501〜08・202601〜08タカハシ包装売上明細。数量要因＝数量差×前年平均単価、単価要因＝単価差×当年数量。単位混在のため参考値</a:t>
            </a:r>
          </a:p>
        </p:txBody>
      </p:sp>
      <p:sp>
        <p:nvSpPr>
          <p:cNvPr id="20" name="MethodBadge"/>
          <p:cNvSpPr/>
          <p:nvPr/>
        </p:nvSpPr>
        <p:spPr>
          <a:xfrm>
            <a:off x="406400" y="965200"/>
            <a:ext cx="3810000" cy="330200"/>
          </a:xfrm>
          <a:prstGeom prst="roundRect">
            <a:avLst>
              <a:gd name="adj" fmla="val 50000"/>
            </a:avLst>
          </a:prstGeom>
          <a:solidFill>
            <a:srgbClr val="D9610A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游ゴシック"/>
                <a:ea typeface="游ゴシック"/>
              </a:rPr>
              <a:t>手法② 平均単価ベース（金額÷数量）</a:t>
            </a:r>
          </a:p>
        </p:txBody>
      </p:sp>
    </p:spTree>
    <p:extLst>
      <p:ext uri="{BB962C8B-B14F-4D97-AF65-F5344CB8AC3E}">
        <p14:creationId xmlns:p14="http://schemas.microsoft.com/office/powerpoint/2010/main" val="3952882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第3章　当社の実績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商品群別の単月推移 ―― 4〜8月の単価・数量寄与【機械類を除く】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各月とも前年同月との比較。同一商品コードで突合し、単価寄与と数量寄与に分解。8月は単価主導が続き、食品容器・消耗品は数量減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371600"/>
          <a:ext cx="11338560" cy="4940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游ゴシック"/>
              </a:rPr>
              <a:t>出所：202501～07　202601～07売上明細（4〜7月）、2508・2608タカハシ包装売上全明細（8月）を商品群_新旧対応表で分類。ラスパイレス価格指数（前年数量ウエイト）。単価が前年比0.25〜4.0倍の範囲外は除外。木箱は品目数不足のため非表示</a:t>
            </a:r>
          </a:p>
        </p:txBody>
      </p:sp>
      <p:sp>
        <p:nvSpPr>
          <p:cNvPr id="20" name="MethodBadge"/>
          <p:cNvSpPr/>
          <p:nvPr/>
        </p:nvSpPr>
        <p:spPr>
          <a:xfrm>
            <a:off x="406400" y="965200"/>
            <a:ext cx="3810000" cy="33020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游ゴシック"/>
                <a:ea typeface="游ゴシック"/>
              </a:rPr>
              <a:t>手法① 同一商品突合ベース（ラスパイレス）</a:t>
            </a:r>
          </a:p>
        </p:txBody>
      </p:sp>
    </p:spTree>
    <p:extLst>
      <p:ext uri="{BB962C8B-B14F-4D97-AF65-F5344CB8AC3E}">
        <p14:creationId xmlns:p14="http://schemas.microsoft.com/office/powerpoint/2010/main" val="2350600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第3章　当社の実績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商品群別の単月推移 ―― 平均単価法【機械類を除く】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P7の比較版。商品コード突合なしで「売上金額÷売上数量＝平均単価」として商品群ごとに分解。単位混在の影響で振れが大きい群は参考値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P7'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371600"/>
          <a:ext cx="11338560" cy="4940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游ゴシック"/>
              </a:rPr>
              <a:t>出所：202501～08・202601～08タカハシ包装売上明細。分類名称１（商品）を6商品群に集約（対応は推定）。数量要因＝数量差×前年平均単価、単価要因＝単価差×当年数量。異常値除外なし・単位混在のため参考値</a:t>
            </a:r>
          </a:p>
        </p:txBody>
      </p:sp>
      <p:sp>
        <p:nvSpPr>
          <p:cNvPr id="20" name="MethodBadge"/>
          <p:cNvSpPr/>
          <p:nvPr/>
        </p:nvSpPr>
        <p:spPr>
          <a:xfrm>
            <a:off x="406400" y="965200"/>
            <a:ext cx="3810000" cy="330200"/>
          </a:xfrm>
          <a:prstGeom prst="roundRect">
            <a:avLst>
              <a:gd name="adj" fmla="val 50000"/>
            </a:avLst>
          </a:prstGeom>
          <a:solidFill>
            <a:srgbClr val="D9610A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游ゴシック"/>
                <a:ea typeface="游ゴシック"/>
              </a:rPr>
              <a:t>手法② 平均単価ベース（金額÷数量）</a:t>
            </a:r>
          </a:p>
        </p:txBody>
      </p:sp>
    </p:spTree>
    <p:extLst>
      <p:ext uri="{BB962C8B-B14F-4D97-AF65-F5344CB8AC3E}">
        <p14:creationId xmlns:p14="http://schemas.microsoft.com/office/powerpoint/2010/main" val="1246641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第3章　当社の実績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営業所別の単月推移 ―― 4〜8月の単価・数量寄与【機械類を除く】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各月とも前年同月との比較。営業所は担当者コードで突合。8月は全営業所で単価＋16〜24％、数量プラスは水産部と広域のみ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371600"/>
          <a:ext cx="11338560" cy="4635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6108192"/>
            <a:ext cx="11338560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6108192"/>
            <a:ext cx="45720" cy="2743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6108192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B8860B"/>
                </a:solidFill>
                <a:latin typeface="游ゴシック"/>
              </a:rPr>
              <a:t>ポイント：</a:t>
            </a:r>
            <a:r>
              <a:rPr sz="1050" b="0">
                <a:solidFill>
                  <a:srgbClr val="404040"/>
                </a:solidFill>
                <a:latin typeface="游ゴシック"/>
              </a:rPr>
              <a:t>単価・数量の伸びはそのまま来期のベースになる。伸びが大きかった営業所ほどベースが高くなり、その分だけ第52期の目標も高くなる。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游ゴシック"/>
              </a:rPr>
              <a:t>出所：202501～07　202601～07売上明細（4〜7月）、2508・2608タカハシ包装売上全明細（8月）。担当者コードで営業所に突合。ラスパイレス価格指数（前年数量ウエイト）。単価が前年比0.25〜4.0倍の範囲外は除外</a:t>
            </a:r>
          </a:p>
        </p:txBody>
      </p:sp>
      <p:sp>
        <p:nvSpPr>
          <p:cNvPr id="20" name="MethodBadge"/>
          <p:cNvSpPr/>
          <p:nvPr/>
        </p:nvSpPr>
        <p:spPr>
          <a:xfrm>
            <a:off x="406400" y="965200"/>
            <a:ext cx="3810000" cy="33020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游ゴシック"/>
                <a:ea typeface="游ゴシック"/>
              </a:rPr>
              <a:t>手法① 同一商品突合ベース（ラスパイレス）</a:t>
            </a:r>
          </a:p>
        </p:txBody>
      </p:sp>
    </p:spTree>
    <p:extLst>
      <p:ext uri="{BB962C8B-B14F-4D97-AF65-F5344CB8AC3E}">
        <p14:creationId xmlns:p14="http://schemas.microsoft.com/office/powerpoint/2010/main" val="1627950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第3章　当社の実績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営業所別の単月推移 ―― 平均単価法【機械類を除く】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P8の比較版。商品コード突合なしで「売上金額÷売上数量＝平均単価」として営業所ごとに分解。商品構成の変化がそのまま単価に乗るため参考値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P8'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371600"/>
          <a:ext cx="11338560" cy="4635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6108192"/>
            <a:ext cx="11338560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6108192"/>
            <a:ext cx="45720" cy="2743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6108192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B8860B"/>
                </a:solidFill>
                <a:latin typeface="游ゴシック"/>
              </a:rPr>
              <a:t>ポイント：</a:t>
            </a:r>
            <a:r>
              <a:rPr sz="1050" b="0">
                <a:solidFill>
                  <a:srgbClr val="404040"/>
                </a:solidFill>
                <a:latin typeface="游ゴシック"/>
              </a:rPr>
              <a:t>平均単価法は営業所ごとの商品ミックス変化（例：松江5月）で大きく振れる。方向感の確認はP8（同一商品突合）を主とし、本頁は補助資料として扱う。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游ゴシック"/>
              </a:rPr>
              <a:t>出所：202501～08・202601～08タカハシ包装売上明細。担当者コード帯で営業所に区分（10番台石見／20番台下関／30番台松江／40・550番台広域／100番台水産部／900番台境港）。数量要因＝数量差×前年平均単価、単価要因＝単価差×当年数量</a:t>
            </a:r>
          </a:p>
        </p:txBody>
      </p:sp>
      <p:sp>
        <p:nvSpPr>
          <p:cNvPr id="20" name="MethodBadge"/>
          <p:cNvSpPr/>
          <p:nvPr/>
        </p:nvSpPr>
        <p:spPr>
          <a:xfrm>
            <a:off x="406400" y="965200"/>
            <a:ext cx="3810000" cy="330200"/>
          </a:xfrm>
          <a:prstGeom prst="roundRect">
            <a:avLst>
              <a:gd name="adj" fmla="val 50000"/>
            </a:avLst>
          </a:prstGeom>
          <a:solidFill>
            <a:srgbClr val="D9610A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游ゴシック"/>
                <a:ea typeface="游ゴシック"/>
              </a:rPr>
              <a:t>手法② 平均単価ベース（金額÷数量）</a:t>
            </a:r>
          </a:p>
        </p:txBody>
      </p:sp>
      <p:sp>
        <p:nvSpPr>
          <p:cNvPr id="21" name="MatsueNote"/>
          <p:cNvSpPr txBox="1"/>
          <p:nvPr/>
        </p:nvSpPr>
        <p:spPr>
          <a:xfrm>
            <a:off x="914400" y="1905000"/>
            <a:ext cx="3683000" cy="889000"/>
          </a:xfrm>
          <a:prstGeom prst="rect">
            <a:avLst/>
          </a:prstGeom>
          <a:solidFill>
            <a:srgbClr val="FFF4E5"/>
          </a:solidFill>
          <a:ln w="9525">
            <a:solidFill>
              <a:srgbClr val="D9610A"/>
            </a:solidFill>
          </a:ln>
        </p:spPr>
        <p:txBody>
          <a:bodyPr wrap="square" lIns="72000" tIns="45720" rIns="72000" bIns="45720" anchor="ctr">
            <a:normAutofit lnSpcReduction="10000"/>
          </a:bodyPr>
          <a:lstStyle/>
          <a:p>
            <a:pPr>
              <a:spcAft>
                <a:spcPts val="200"/>
              </a:spcAft>
            </a:pPr>
            <a:r>
              <a:rPr lang="ja-JP" sz="1100" b="1" dirty="0">
                <a:solidFill>
                  <a:srgbClr val="D9610A"/>
                </a:solidFill>
                <a:latin typeface="游ゴシック"/>
                <a:ea typeface="游ゴシック"/>
              </a:rPr>
              <a:t>補足：松江5月の振れ（数量+97％／単価−97％）</a:t>
            </a:r>
          </a:p>
          <a:p>
            <a:r>
              <a:rPr lang="ja-JP" sz="1000" dirty="0">
                <a:solidFill>
                  <a:srgbClr val="333333"/>
                </a:solidFill>
                <a:latin typeface="游ゴシック"/>
                <a:ea typeface="游ゴシック"/>
              </a:rPr>
              <a:t>5/20 アグリ食肉加工センター向け白無地ラベル4品・約208万枚（0.6〜1.2円/枚）の一括納品が主因。単価は前年と同一で値動きなし。同得意先は6〜8月に反動減。低単価品の大口が数量に乗ると平均単価は見かけ上半減する。</a:t>
            </a:r>
          </a:p>
        </p:txBody>
      </p:sp>
      <p:cxnSp>
        <p:nvCxnSpPr>
          <p:cNvPr id="22" name="MatsueArrow"/>
          <p:cNvCxnSpPr/>
          <p:nvPr/>
        </p:nvCxnSpPr>
        <p:spPr>
          <a:xfrm>
            <a:off x="4597400" y="2349500"/>
            <a:ext cx="330200" cy="0"/>
          </a:xfrm>
          <a:prstGeom prst="straightConnector1">
            <a:avLst/>
          </a:prstGeom>
          <a:ln w="12700">
            <a:solidFill>
              <a:srgbClr val="D9610A"/>
            </a:solidFill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2928171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第3章　当社の実績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8月単月の要因分解 ―― 単価＋19.6％、数量▲2.5％【機械類を除く】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2025年8月と2026年8月を同一商品コードで突合し、単価寄与と数量寄与に分解。単位：千円（突合できた品目の売上合計）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游ゴシック"/>
              </a:rPr>
              <a:t>出所：2508・2608タカハシ包装売上全明細。ラスパイレス価格指数（前年数量ウエイト）。単価が前年比0.25〜4.0倍の範囲外の品目は除外。木箱は品目数不足のため非表示。営業所は担当者コードで突合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1143000"/>
            <a:ext cx="557784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游ゴシック"/>
              </a:rPr>
              <a:t>商品群別（機械類を除く）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1435608"/>
          <a:ext cx="5577838" cy="2109216"/>
        </p:xfrm>
        <a:graphic>
          <a:graphicData uri="http://schemas.openxmlformats.org/drawingml/2006/table">
            <a:tbl>
              <a:tblPr/>
              <a:tblGrid>
                <a:gridCol w="15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27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27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7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7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区分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突合
品目数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前年8月
売上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当年8月
売上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金額増減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単価寄与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数量寄与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食品容器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1,493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66,190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76,981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＋16.3％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＋23.9％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▲7.6％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フィルム・袋・ラミネート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449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35,441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45,564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＋28.6％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＋25.9％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472C4"/>
                          </a:solidFill>
                          <a:latin typeface="游ゴシック"/>
                        </a:rPr>
                        <a:t>＋2.6％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紙箱・紙製品・ラベル・段ボール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565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30,498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33,342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＋9.3％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＋7.9％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472C4"/>
                          </a:solidFill>
                          <a:latin typeface="游ゴシック"/>
                        </a:rPr>
                        <a:t>＋1.4％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消耗品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87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2,604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2,679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＋2.9％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＋11.4％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▲8.5％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荷役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33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4,404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3,969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▲9.9％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▲7.5％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▲2.4％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その他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441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21,091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24,886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＋18.0％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＋18.6％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▲0.6％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全社（機械類除く）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3,071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160,433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187,727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＋17.0％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＋19.6％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▲2.5％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199632" y="1143000"/>
            <a:ext cx="557784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游ゴシック"/>
              </a:rPr>
              <a:t>営業所別（機械類を除く）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99632" y="1435608"/>
          <a:ext cx="5577838" cy="2075688"/>
        </p:xfrm>
        <a:graphic>
          <a:graphicData uri="http://schemas.openxmlformats.org/drawingml/2006/table">
            <a:tbl>
              <a:tblPr/>
              <a:tblGrid>
                <a:gridCol w="15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27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27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7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7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区分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突合
品目数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前年8月
売上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当年8月
売上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金額増減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単価寄与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数量寄与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石見営業所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1,130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33,942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38,144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＋12.4％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＋18.8％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▲6.5％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下関営業所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309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27,880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31,623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＋13.4％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＋16.5％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▲3.1％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松江営業所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918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18,694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23,058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＋23.3％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＋23.9％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▲0.5％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広域営業部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302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34,411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41,292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＋20.0％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＋18.9％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472C4"/>
                          </a:solidFill>
                          <a:latin typeface="游ゴシック"/>
                        </a:rPr>
                        <a:t>＋1.1％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境港営業所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272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12,374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13,721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＋10.9％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＋17.1％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▲6.2％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水産部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141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23,432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30,588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＋30.5％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＋19.8％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472C4"/>
                          </a:solidFill>
                          <a:latin typeface="游ゴシック"/>
                        </a:rPr>
                        <a:t>＋10.7％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全社（機械類除く）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3,071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160,433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187,727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＋17.0％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＋19.6％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▲2.5％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411480" y="3840480"/>
            <a:ext cx="3657600" cy="17830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931920"/>
            <a:ext cx="338328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>
                <a:solidFill>
                  <a:srgbClr val="B8860B"/>
                </a:solidFill>
                <a:latin typeface="游ゴシック"/>
              </a:rPr>
              <a:t>① 8月も単価主導。数量は2か月連続でマイナス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04040"/>
                </a:solidFill>
                <a:latin typeface="游ゴシック"/>
              </a:rPr>
              <a:t>突合品目ベースの金額増減＋17.0％のうち、単価寄与＋19.6％・数量寄与▲2.5％。7月（単価＋19.0％・数量▲1.2％）に続き、単価上昇が売上を押し上げる一方で数量は弱い。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3840480"/>
            <a:ext cx="3657600" cy="17830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3931920"/>
            <a:ext cx="338328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游ゴシック"/>
              </a:rPr>
              <a:t>② 食品容器は単価＋23.9％だが数量▲7.6％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04040"/>
                </a:solidFill>
                <a:latin typeface="游ゴシック"/>
              </a:rPr>
              <a:t>フィルム・袋は単価＋25.9％に数量＋2.6％が上乗せ。紙箱・段ボールは単価＋7.9％と転嫁が緩やか。消耗品は数量▲8.5％、荷役は単価▲7.5％と唯一の単価マイナス。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3840480"/>
            <a:ext cx="3657600" cy="17830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3931920"/>
            <a:ext cx="338328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>
                <a:solidFill>
                  <a:srgbClr val="4472C4"/>
                </a:solidFill>
                <a:latin typeface="游ゴシック"/>
              </a:rPr>
              <a:t>③ 数量がプラスの営業所は水産部と広域のみ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04040"/>
                </a:solidFill>
                <a:latin typeface="游ゴシック"/>
              </a:rPr>
              <a:t>水産部は単価＋19.8％・数量＋10.7％と数量を伴う伸び。松江は単価＋23.9％で最大。石見▲6.5％・境港▲6.2％・下関▲3.1％と数量減が目立つ。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760720"/>
            <a:ext cx="1133856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900">
                <a:solidFill>
                  <a:srgbClr val="404040"/>
                </a:solidFill>
                <a:latin typeface="游ゴシック"/>
              </a:rPr>
              <a:t>※ 包装資材計（機械類除く）の8月売上は前年比＋7.5％（240.4→258.5百万円）。同一品目で突合できた分は＋17.0％で、差は品目の入替（新規・終売）による。全社売上は機械類（前年8月87.5百万円→8.1百万円）の反動で▲18.7％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現状分析まとめ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游ゴシック"/>
                <a:ea typeface="游ゴシック"/>
              </a:rPr>
              <a:t>第52期の置き方 ―― 3つのシナリオと採用案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D6DCE5"/>
                </a:solidFill>
                <a:latin typeface="游ゴシック"/>
                <a:ea typeface="游ゴシック"/>
              </a:rPr>
              <a:t>単価は上期に高く4月以降は剥落。7〜9月はシナリオ別に▲2％／0％／＋5％。数量は③のみ消費減税の効果を織り込む。数字は12か月の単純平均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06400" y="3022600"/>
            <a:ext cx="3619500" cy="236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06400" y="3022600"/>
            <a:ext cx="50800" cy="2362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400" y="3225800"/>
            <a:ext cx="31115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ja-JP" altLang="en-US" sz="1400" b="1" dirty="0">
                <a:solidFill>
                  <a:srgbClr val="C00000"/>
                </a:solidFill>
                <a:latin typeface="游ゴシック"/>
                <a:ea typeface="游ゴシック"/>
              </a:rPr>
              <a:t>① 慎重シナリオ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" y="3657600"/>
            <a:ext cx="3111500" cy="1327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00" b="0" dirty="0">
                <a:solidFill>
                  <a:srgbClr val="808080"/>
                </a:solidFill>
                <a:latin typeface="游ゴシック"/>
                <a:ea typeface="游ゴシック"/>
              </a:rPr>
              <a:t>包装資材の単価（通期平均）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2800" b="1" dirty="0">
                <a:solidFill>
                  <a:srgbClr val="C00000"/>
                </a:solidFill>
                <a:latin typeface="游ゴシック"/>
                <a:ea typeface="游ゴシック"/>
              </a:rPr>
              <a:t>＋2.8％</a:t>
            </a:r>
          </a:p>
          <a:p>
            <a:pPr algn="l">
              <a:lnSpc>
                <a:spcPct val="104000"/>
              </a:lnSpc>
              <a:spcBef>
                <a:spcPts val="35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上期（10〜3月）＋5％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4〜6月 4→3→2％と剥落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7〜9月 ▲2％（値下げ圧力）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数量：反動で▲3％</a:t>
            </a:r>
          </a:p>
        </p:txBody>
      </p:sp>
      <p:sp>
        <p:nvSpPr>
          <p:cNvPr id="60" name="Shape 60"/>
          <p:cNvSpPr/>
          <p:nvPr/>
        </p:nvSpPr>
        <p:spPr>
          <a:xfrm>
            <a:off x="4216400" y="3022600"/>
            <a:ext cx="3619500" cy="2362200"/>
          </a:xfrm>
          <a:prstGeom prst="rect">
            <a:avLst/>
          </a:prstGeom>
          <a:solidFill>
            <a:srgbClr val="EAF0F8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Shape 61"/>
          <p:cNvSpPr/>
          <p:nvPr/>
        </p:nvSpPr>
        <p:spPr>
          <a:xfrm>
            <a:off x="4216400" y="3022600"/>
            <a:ext cx="50800" cy="2362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Shape 62"/>
          <p:cNvSpPr txBox="1"/>
          <p:nvPr/>
        </p:nvSpPr>
        <p:spPr>
          <a:xfrm>
            <a:off x="4470400" y="3225800"/>
            <a:ext cx="31115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ja-JP" altLang="en-US" sz="1400" b="1" dirty="0">
                <a:solidFill>
                  <a:srgbClr val="1F3864"/>
                </a:solidFill>
                <a:latin typeface="游ゴシック"/>
                <a:ea typeface="游ゴシック"/>
              </a:rPr>
              <a:t>② 標準シナリオ（採用）</a:t>
            </a:r>
          </a:p>
        </p:txBody>
      </p:sp>
      <p:sp>
        <p:nvSpPr>
          <p:cNvPr id="63" name="Shape 63"/>
          <p:cNvSpPr txBox="1"/>
          <p:nvPr/>
        </p:nvSpPr>
        <p:spPr>
          <a:xfrm>
            <a:off x="4470400" y="3657600"/>
            <a:ext cx="3111500" cy="1327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00" b="0" dirty="0">
                <a:solidFill>
                  <a:srgbClr val="808080"/>
                </a:solidFill>
                <a:latin typeface="游ゴシック"/>
                <a:ea typeface="游ゴシック"/>
              </a:rPr>
              <a:t>包装資材の単価（通期平均）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2800" b="1" dirty="0">
                <a:solidFill>
                  <a:srgbClr val="1F3864"/>
                </a:solidFill>
                <a:latin typeface="游ゴシック"/>
                <a:ea typeface="游ゴシック"/>
              </a:rPr>
              <a:t>＋6.5％</a:t>
            </a:r>
          </a:p>
          <a:p>
            <a:pPr algn="l">
              <a:lnSpc>
                <a:spcPct val="104000"/>
              </a:lnSpc>
              <a:spcBef>
                <a:spcPts val="35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上期（10〜3月）＋10％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4〜6月 8→6→4％と剥落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7〜9月 0％（前年並み）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数量：横ばい（減税効果は見込まず）</a:t>
            </a:r>
          </a:p>
        </p:txBody>
      </p:sp>
      <p:sp>
        <p:nvSpPr>
          <p:cNvPr id="64" name="Shape 64"/>
          <p:cNvSpPr/>
          <p:nvPr/>
        </p:nvSpPr>
        <p:spPr>
          <a:xfrm>
            <a:off x="8013700" y="3022600"/>
            <a:ext cx="3619500" cy="236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Shape 65"/>
          <p:cNvSpPr/>
          <p:nvPr/>
        </p:nvSpPr>
        <p:spPr>
          <a:xfrm>
            <a:off x="8013700" y="3022600"/>
            <a:ext cx="50800" cy="23622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Shape 66"/>
          <p:cNvSpPr txBox="1"/>
          <p:nvPr/>
        </p:nvSpPr>
        <p:spPr>
          <a:xfrm>
            <a:off x="8267700" y="3225800"/>
            <a:ext cx="31115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ja-JP" altLang="en-US" sz="1400" b="1" dirty="0">
                <a:solidFill>
                  <a:srgbClr val="C55A11"/>
                </a:solidFill>
                <a:latin typeface="游ゴシック"/>
                <a:ea typeface="游ゴシック"/>
              </a:rPr>
              <a:t>③ 強気シナリオ</a:t>
            </a:r>
          </a:p>
        </p:txBody>
      </p:sp>
      <p:sp>
        <p:nvSpPr>
          <p:cNvPr id="67" name="Shape 67"/>
          <p:cNvSpPr txBox="1"/>
          <p:nvPr/>
        </p:nvSpPr>
        <p:spPr>
          <a:xfrm>
            <a:off x="8267700" y="3657600"/>
            <a:ext cx="3111500" cy="1327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00" b="0" dirty="0">
                <a:solidFill>
                  <a:srgbClr val="808080"/>
                </a:solidFill>
                <a:latin typeface="游ゴシック"/>
                <a:ea typeface="游ゴシック"/>
              </a:rPr>
              <a:t>包装資材の単価（通期平均）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2800" b="1" dirty="0">
                <a:solidFill>
                  <a:srgbClr val="C55A11"/>
                </a:solidFill>
                <a:latin typeface="游ゴシック"/>
                <a:ea typeface="游ゴシック"/>
              </a:rPr>
              <a:t>＋14.0％</a:t>
            </a:r>
          </a:p>
          <a:p>
            <a:pPr algn="l">
              <a:lnSpc>
                <a:spcPct val="104000"/>
              </a:lnSpc>
              <a:spcBef>
                <a:spcPts val="35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上期（10〜3月）＋19％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4〜6月 16→13→10％と剥落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7〜9月 ＋5％（高止まり）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数量：消費減税の押し上げで＋3％</a:t>
            </a:r>
          </a:p>
        </p:txBody>
      </p:sp>
      <p:sp>
        <p:nvSpPr>
          <p:cNvPr id="90" name="Rectangle 90"/>
          <p:cNvSpPr/>
          <p:nvPr/>
        </p:nvSpPr>
        <p:spPr>
          <a:xfrm>
            <a:off x="406400" y="1117600"/>
            <a:ext cx="11353800" cy="172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91" name="TextBox 91"/>
          <p:cNvSpPr txBox="1"/>
          <p:nvPr/>
        </p:nvSpPr>
        <p:spPr>
          <a:xfrm>
            <a:off x="711200" y="1219200"/>
            <a:ext cx="107442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06000"/>
              </a:lnSpc>
              <a:spcBef>
                <a:spcPts val="0"/>
              </a:spcBef>
              <a:buNone/>
            </a:pPr>
            <a:r>
              <a:rPr lang="ja-JP" altLang="en-US" sz="1400" b="1">
                <a:solidFill>
                  <a:srgbClr val="FFD966"/>
                </a:solidFill>
                <a:latin typeface="游ゴシック"/>
                <a:ea typeface="游ゴシック"/>
              </a:rPr>
              <a:t>今回のポイント </a:t>
            </a:r>
            <a:r>
              <a:rPr lang="en-US" altLang="ja-JP" sz="1400" b="1">
                <a:solidFill>
                  <a:srgbClr val="FFD966"/>
                </a:solidFill>
                <a:latin typeface="游ゴシック"/>
                <a:ea typeface="游ゴシック"/>
              </a:rPr>
              <a:t>―― </a:t>
            </a:r>
            <a:r>
              <a:rPr lang="ja-JP" altLang="en-US" sz="1400" b="1">
                <a:solidFill>
                  <a:srgbClr val="FFD966"/>
                </a:solidFill>
                <a:latin typeface="游ゴシック"/>
                <a:ea typeface="游ゴシック"/>
              </a:rPr>
              <a:t>判断が難しい</a:t>
            </a:r>
            <a:r>
              <a:rPr lang="en-US" altLang="ja-JP" sz="1400" b="1">
                <a:solidFill>
                  <a:srgbClr val="FFD966"/>
                </a:solidFill>
                <a:latin typeface="游ゴシック"/>
                <a:ea typeface="游ゴシック"/>
              </a:rPr>
              <a:t>4</a:t>
            </a:r>
            <a:r>
              <a:rPr lang="ja-JP" altLang="en-US" sz="1400" b="1">
                <a:solidFill>
                  <a:srgbClr val="FFD966"/>
                </a:solidFill>
                <a:latin typeface="游ゴシック"/>
                <a:ea typeface="游ゴシック"/>
              </a:rPr>
              <a:t>点</a:t>
            </a:r>
            <a:endParaRPr lang="ja-JP" altLang="en-US" sz="1400" b="1" dirty="0">
              <a:solidFill>
                <a:srgbClr val="FFD966"/>
              </a:solidFill>
              <a:latin typeface="游ゴシック"/>
              <a:ea typeface="游ゴシック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8C8C8C"/>
                </a:solidFill>
                <a:latin typeface="游ゴシック"/>
              </a:rPr>
              <a:t>出所：日本銀行「企業物価指数」2026年7月速報／202501〜07・202601〜07売上明細／各社の2027年3月期第1四半期決算短信・決算説明資料／第51期着地及び第52期計画策定資料（第52期計画D）。シナリオ①③は当社試算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74014B7-FD08-4650-A589-95DB1EE120F5}"/>
              </a:ext>
            </a:extLst>
          </p:cNvPr>
          <p:cNvSpPr/>
          <p:nvPr/>
        </p:nvSpPr>
        <p:spPr>
          <a:xfrm>
            <a:off x="711200" y="1600200"/>
            <a:ext cx="2571750" cy="812800"/>
          </a:xfrm>
          <a:prstGeom prst="rect">
            <a:avLst/>
          </a:prstGeom>
          <a:solidFill>
            <a:srgbClr val="2E4C7E"/>
          </a:solidFill>
          <a:ln w="12700" cap="flat" cmpd="sng" algn="ctr">
            <a:solidFill>
              <a:srgbClr val="FFD96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200" b="1">
                <a:solidFill>
                  <a:srgbClr val="FFFFFF"/>
                </a:solidFill>
                <a:latin typeface="游ゴシック"/>
                <a:ea typeface="游ゴシック"/>
              </a:rPr>
              <a:t>① 物価指数の単価上昇率（約</a:t>
            </a:r>
            <a:r>
              <a:rPr lang="en-US" altLang="ja-JP" sz="1200" b="1">
                <a:solidFill>
                  <a:srgbClr val="FFFFFF"/>
                </a:solidFill>
                <a:latin typeface="游ゴシック"/>
                <a:ea typeface="游ゴシック"/>
              </a:rPr>
              <a:t>10</a:t>
            </a:r>
            <a:r>
              <a:rPr lang="ja-JP" altLang="en-US" sz="1200" b="1">
                <a:solidFill>
                  <a:srgbClr val="FFFFFF"/>
                </a:solidFill>
                <a:latin typeface="游ゴシック"/>
                <a:ea typeface="游ゴシック"/>
              </a:rPr>
              <a:t>％）が今後どこまで続くか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81A282E-6B42-4B87-B6A4-FBFED08AD596}"/>
              </a:ext>
            </a:extLst>
          </p:cNvPr>
          <p:cNvSpPr/>
          <p:nvPr/>
        </p:nvSpPr>
        <p:spPr>
          <a:xfrm>
            <a:off x="3435350" y="1600200"/>
            <a:ext cx="2571750" cy="812800"/>
          </a:xfrm>
          <a:prstGeom prst="rect">
            <a:avLst/>
          </a:prstGeom>
          <a:solidFill>
            <a:srgbClr val="2E4C7E"/>
          </a:solidFill>
          <a:ln w="12700" cap="flat" cmpd="sng" algn="ctr">
            <a:solidFill>
              <a:srgbClr val="FFD96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200" b="1">
                <a:solidFill>
                  <a:srgbClr val="FFFFFF"/>
                </a:solidFill>
                <a:latin typeface="游ゴシック"/>
                <a:ea typeface="游ゴシック"/>
              </a:rPr>
              <a:t>② 当社実績の単価上昇率（約</a:t>
            </a:r>
            <a:r>
              <a:rPr lang="en-US" altLang="ja-JP" sz="1200" b="1">
                <a:solidFill>
                  <a:srgbClr val="FFFFFF"/>
                </a:solidFill>
                <a:latin typeface="游ゴシック"/>
                <a:ea typeface="游ゴシック"/>
              </a:rPr>
              <a:t>20</a:t>
            </a:r>
            <a:r>
              <a:rPr lang="ja-JP" altLang="en-US" sz="1200" b="1">
                <a:solidFill>
                  <a:srgbClr val="FFFFFF"/>
                </a:solidFill>
                <a:latin typeface="游ゴシック"/>
                <a:ea typeface="游ゴシック"/>
              </a:rPr>
              <a:t>％）をどこまで維持できるか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8B05967-522C-40FC-AB72-0BD49ABEEA3F}"/>
              </a:ext>
            </a:extLst>
          </p:cNvPr>
          <p:cNvSpPr/>
          <p:nvPr/>
        </p:nvSpPr>
        <p:spPr>
          <a:xfrm>
            <a:off x="6159500" y="1600200"/>
            <a:ext cx="2571750" cy="812800"/>
          </a:xfrm>
          <a:prstGeom prst="rect">
            <a:avLst/>
          </a:prstGeom>
          <a:solidFill>
            <a:srgbClr val="2E4C7E"/>
          </a:solidFill>
          <a:ln w="12700" cap="flat" cmpd="sng" algn="ctr">
            <a:solidFill>
              <a:srgbClr val="FFD96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200" b="1">
                <a:solidFill>
                  <a:srgbClr val="FFFFFF"/>
                </a:solidFill>
                <a:latin typeface="游ゴシック"/>
                <a:ea typeface="游ゴシック"/>
              </a:rPr>
              <a:t>③ 駆け込み需要の反動で数量がどこまで減るか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1E9C798-DF16-4FF5-A8EA-9DD85D615686}"/>
              </a:ext>
            </a:extLst>
          </p:cNvPr>
          <p:cNvSpPr/>
          <p:nvPr/>
        </p:nvSpPr>
        <p:spPr>
          <a:xfrm>
            <a:off x="8883650" y="1600200"/>
            <a:ext cx="2571750" cy="812800"/>
          </a:xfrm>
          <a:prstGeom prst="rect">
            <a:avLst/>
          </a:prstGeom>
          <a:solidFill>
            <a:srgbClr val="2E4C7E"/>
          </a:solidFill>
          <a:ln w="12700" cap="flat" cmpd="sng" algn="ctr">
            <a:solidFill>
              <a:srgbClr val="FFD96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200" b="1">
                <a:solidFill>
                  <a:srgbClr val="FFFFFF"/>
                </a:solidFill>
                <a:latin typeface="游ゴシック"/>
                <a:ea typeface="游ゴシック"/>
              </a:rPr>
              <a:t>④ 原料・為替・海上運賃など、価格動向の不透明さ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5BE5237-C603-49AF-8B62-9954D6F44DE8}"/>
              </a:ext>
            </a:extLst>
          </p:cNvPr>
          <p:cNvSpPr txBox="1"/>
          <p:nvPr/>
        </p:nvSpPr>
        <p:spPr>
          <a:xfrm>
            <a:off x="711200" y="2489200"/>
            <a:ext cx="10744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050">
                <a:solidFill>
                  <a:srgbClr val="D6DCE5"/>
                </a:solidFill>
                <a:latin typeface="游ゴシック"/>
                <a:ea typeface="游ゴシック"/>
              </a:rPr>
              <a:t>この</a:t>
            </a:r>
            <a:r>
              <a:rPr lang="en-US" altLang="ja-JP" sz="1050">
                <a:solidFill>
                  <a:srgbClr val="D6DCE5"/>
                </a:solidFill>
                <a:latin typeface="游ゴシック"/>
                <a:ea typeface="游ゴシック"/>
              </a:rPr>
              <a:t>4</a:t>
            </a:r>
            <a:r>
              <a:rPr lang="ja-JP" altLang="en-US" sz="1050">
                <a:solidFill>
                  <a:srgbClr val="D6DCE5"/>
                </a:solidFill>
                <a:latin typeface="游ゴシック"/>
                <a:ea typeface="游ゴシック"/>
              </a:rPr>
              <a:t>点は</a:t>
            </a:r>
            <a:r>
              <a:rPr lang="en-US" altLang="ja-JP" sz="1050">
                <a:solidFill>
                  <a:srgbClr val="D6DCE5"/>
                </a:solidFill>
                <a:latin typeface="游ゴシック"/>
                <a:ea typeface="游ゴシック"/>
              </a:rPr>
              <a:t>8</a:t>
            </a:r>
            <a:r>
              <a:rPr lang="ja-JP" altLang="en-US" sz="1050">
                <a:solidFill>
                  <a:srgbClr val="D6DCE5"/>
                </a:solidFill>
                <a:latin typeface="游ゴシック"/>
                <a:ea typeface="游ゴシック"/>
              </a:rPr>
              <a:t>月実績を確認したうえで最終確定する。</a:t>
            </a:r>
            <a:r>
              <a:rPr lang="en-US" altLang="ja-JP" sz="1050">
                <a:solidFill>
                  <a:srgbClr val="D6DCE5"/>
                </a:solidFill>
                <a:latin typeface="游ゴシック"/>
                <a:ea typeface="游ゴシック"/>
              </a:rPr>
              <a:t>2027</a:t>
            </a:r>
            <a:r>
              <a:rPr lang="ja-JP" altLang="en-US" sz="1050">
                <a:solidFill>
                  <a:srgbClr val="D6DCE5"/>
                </a:solidFill>
                <a:latin typeface="游ゴシック"/>
                <a:ea typeface="游ゴシック"/>
              </a:rPr>
              <a:t>年</a:t>
            </a:r>
            <a:r>
              <a:rPr lang="en-US" altLang="ja-JP" sz="1050">
                <a:solidFill>
                  <a:srgbClr val="D6DCE5"/>
                </a:solidFill>
                <a:latin typeface="游ゴシック"/>
                <a:ea typeface="游ゴシック"/>
              </a:rPr>
              <a:t>4</a:t>
            </a:r>
            <a:r>
              <a:rPr lang="ja-JP" altLang="en-US" sz="1050">
                <a:solidFill>
                  <a:srgbClr val="D6DCE5"/>
                </a:solidFill>
                <a:latin typeface="游ゴシック"/>
                <a:ea typeface="游ゴシック"/>
              </a:rPr>
              <a:t>月からの食品消費減税による数量増は計画に織り込まず、バッファーとして持つ。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8E2489B-0AFB-49B3-82CC-12C7063676B1}"/>
              </a:ext>
            </a:extLst>
          </p:cNvPr>
          <p:cNvSpPr/>
          <p:nvPr/>
        </p:nvSpPr>
        <p:spPr>
          <a:xfrm>
            <a:off x="406400" y="5588000"/>
            <a:ext cx="11353800" cy="736600"/>
          </a:xfrm>
          <a:prstGeom prst="rect">
            <a:avLst/>
          </a:prstGeom>
          <a:solidFill>
            <a:srgbClr val="1F3864"/>
          </a:solidFill>
          <a:ln w="19050" cap="flat" cmpd="sng" algn="ctr">
            <a:solidFill>
              <a:srgbClr val="FFD96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600" b="1">
                <a:solidFill>
                  <a:srgbClr val="FFD966"/>
                </a:solidFill>
                <a:latin typeface="游ゴシック"/>
                <a:ea typeface="游ゴシック"/>
              </a:rPr>
              <a:t>採用：② 標準シナリオ　上期＋</a:t>
            </a:r>
            <a:r>
              <a:rPr lang="en-US" altLang="ja-JP" sz="1600" b="1">
                <a:solidFill>
                  <a:srgbClr val="FFD966"/>
                </a:solidFill>
                <a:latin typeface="游ゴシック"/>
                <a:ea typeface="游ゴシック"/>
              </a:rPr>
              <a:t>10</a:t>
            </a:r>
            <a:r>
              <a:rPr lang="ja-JP" altLang="en-US" sz="1600" b="1">
                <a:solidFill>
                  <a:srgbClr val="FFD966"/>
                </a:solidFill>
                <a:latin typeface="游ゴシック"/>
                <a:ea typeface="游ゴシック"/>
              </a:rPr>
              <a:t>％→</a:t>
            </a:r>
            <a:r>
              <a:rPr lang="en-US" altLang="ja-JP" sz="1600" b="1">
                <a:solidFill>
                  <a:srgbClr val="FFD966"/>
                </a:solidFill>
                <a:latin typeface="游ゴシック"/>
                <a:ea typeface="游ゴシック"/>
              </a:rPr>
              <a:t>4</a:t>
            </a:r>
            <a:r>
              <a:rPr lang="ja-JP" altLang="en-US" sz="1600" b="1">
                <a:solidFill>
                  <a:srgbClr val="FFD966"/>
                </a:solidFill>
                <a:latin typeface="游ゴシック"/>
                <a:ea typeface="游ゴシック"/>
              </a:rPr>
              <a:t>月以降剥落→</a:t>
            </a:r>
            <a:r>
              <a:rPr lang="en-US" altLang="ja-JP" sz="1600" b="1">
                <a:solidFill>
                  <a:srgbClr val="FFD966"/>
                </a:solidFill>
                <a:latin typeface="游ゴシック"/>
                <a:ea typeface="游ゴシック"/>
              </a:rPr>
              <a:t>7〜9</a:t>
            </a:r>
            <a:r>
              <a:rPr lang="ja-JP" altLang="en-US" sz="1600" b="1">
                <a:solidFill>
                  <a:srgbClr val="FFD966"/>
                </a:solidFill>
                <a:latin typeface="游ゴシック"/>
                <a:ea typeface="游ゴシック"/>
              </a:rPr>
              <a:t>月は前年並み、通期平均＋</a:t>
            </a:r>
            <a:r>
              <a:rPr lang="en-US" altLang="ja-JP" sz="1600" b="1">
                <a:solidFill>
                  <a:srgbClr val="FFD966"/>
                </a:solidFill>
                <a:latin typeface="游ゴシック"/>
                <a:ea typeface="游ゴシック"/>
              </a:rPr>
              <a:t>6.5</a:t>
            </a:r>
            <a:r>
              <a:rPr lang="ja-JP" altLang="en-US" sz="1600" b="1">
                <a:solidFill>
                  <a:srgbClr val="FFD966"/>
                </a:solidFill>
                <a:latin typeface="游ゴシック"/>
                <a:ea typeface="游ゴシック"/>
              </a:rPr>
              <a:t>％・数量横ばい</a:t>
            </a:r>
          </a:p>
        </p:txBody>
      </p:sp>
    </p:spTree>
    <p:extLst>
      <p:ext uri="{BB962C8B-B14F-4D97-AF65-F5344CB8AC3E}">
        <p14:creationId xmlns:p14="http://schemas.microsoft.com/office/powerpoint/2010/main" val="3955264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第6章　第52期計画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buNone/>
            </a:pPr>
            <a:r>
              <a:rPr lang="ja-JP" altLang="en-US" sz="2000" b="1">
                <a:solidFill>
                  <a:srgbClr val="FFFFFF"/>
                </a:solidFill>
                <a:latin typeface="游ゴシック"/>
                <a:ea typeface="游ゴシック"/>
              </a:rPr>
              <a:t>第52期計画への道筋 ―― 各営業所提出計画を、経営計画書記載の目標と比較する</a:t>
            </a:r>
            <a:endParaRPr lang="ja-JP" altLang="en-US" sz="2000" b="1" dirty="0">
              <a:solidFill>
                <a:srgbClr val="FFFFFF"/>
              </a:solidFill>
              <a:latin typeface="游ゴシック"/>
              <a:ea typeface="游ゴシック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buNone/>
            </a:pPr>
            <a:r>
              <a:rPr lang="ja-JP" altLang="en-US" sz="1050" b="0">
                <a:solidFill>
                  <a:srgbClr val="D6DCE5"/>
                </a:solidFill>
                <a:latin typeface="游ゴシック"/>
                <a:ea typeface="游ゴシック"/>
              </a:rPr>
              <a:t>各営業所提出計画（包装資材＋荷役／機械の内訳あり）と、当初の経営計画書記載計画（合計のみ）との差異を確認する。単位：千円</a:t>
            </a:r>
            <a:endParaRPr lang="ja-JP" altLang="en-US" sz="1050" b="0" dirty="0">
              <a:solidFill>
                <a:srgbClr val="D6DCE5"/>
              </a:solidFill>
              <a:latin typeface="游ゴシック"/>
              <a:ea typeface="游ゴシック"/>
            </a:endParaRP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70432"/>
            <a:ext cx="361188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170432"/>
            <a:ext cx="3611880" cy="411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1298448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404040"/>
                </a:solidFill>
                <a:latin typeface="游ゴシック"/>
              </a:rPr>
              <a:t>各営業所提出計画（合計）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554480"/>
            <a:ext cx="328269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游ゴシック"/>
              </a:rPr>
              <a:t>3,918,030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029967"/>
            <a:ext cx="328269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游ゴシック"/>
              </a:rPr>
              <a:t>対第51期見込　＋7.3％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170432"/>
            <a:ext cx="361188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60520" y="1170432"/>
            <a:ext cx="3611880" cy="4114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5112" y="1298448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404040"/>
                </a:solidFill>
                <a:latin typeface="游ゴシック"/>
              </a:rPr>
              <a:t>うち　包装資材＋荷役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1554480"/>
            <a:ext cx="328269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B8860B"/>
                </a:solidFill>
                <a:latin typeface="游ゴシック"/>
              </a:rPr>
              <a:t>3,738,530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029967"/>
            <a:ext cx="328269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游ゴシック"/>
              </a:rPr>
              <a:t>対第51期見込　＋9.0％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1170432"/>
            <a:ext cx="384048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09560" y="1170432"/>
            <a:ext cx="3840480" cy="41148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74152" y="1298448"/>
            <a:ext cx="351129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404040"/>
                </a:solidFill>
                <a:latin typeface="游ゴシック"/>
              </a:rPr>
              <a:t>うち　機械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1554480"/>
            <a:ext cx="351129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595959"/>
                </a:solidFill>
                <a:latin typeface="游ゴシック"/>
              </a:rPr>
              <a:t>179,500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2029967"/>
            <a:ext cx="351129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游ゴシック"/>
              </a:rPr>
              <a:t>対第51期見込　▲18.5％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816352"/>
            <a:ext cx="11338560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0" bIns="0" rtlCol="0" anchor="ctr"/>
          <a:lstStyle/>
          <a:p>
            <a:pPr algn="ctr"/>
            <a:r>
              <a:rPr sz="1500" b="1">
                <a:solidFill>
                  <a:srgbClr val="FFD966"/>
                </a:solidFill>
                <a:latin typeface="游ゴシック"/>
              </a:rPr>
              <a:t>各営業所提出計画（合計） 3,918,030</a:t>
            </a:r>
            <a:r>
              <a:rPr sz="1500" b="1">
                <a:solidFill>
                  <a:srgbClr val="FFFFFF"/>
                </a:solidFill>
                <a:latin typeface="游ゴシック"/>
              </a:rPr>
              <a:t>　vs　第52期計画（経営計画書記載） 4,070,000　＝　差異 </a:t>
            </a:r>
            <a:r>
              <a:rPr sz="1500" b="1">
                <a:solidFill>
                  <a:srgbClr val="FF9999"/>
                </a:solidFill>
                <a:latin typeface="游ゴシック"/>
              </a:rPr>
              <a:t>▲151,970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456432"/>
            <a:ext cx="11338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7F5A00"/>
                </a:solidFill>
                <a:latin typeface="游ゴシック"/>
              </a:rPr>
              <a:t>※ 経営計画書記載計画（4,070,000）は包装資材と機械を分けていないため、比較は合計ベースにとどめる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931920"/>
            <a:ext cx="1133856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" y="3931920"/>
            <a:ext cx="54864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4133087"/>
            <a:ext cx="107899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404040"/>
                </a:solidFill>
                <a:latin typeface="游ゴシック"/>
              </a:rPr>
              <a:t>・各営業所提出計画は、包装資材＋荷役 3,738,530（対第51期見込 ＋9.0％）、機械 179,500（対第51期見込 ▲18.5％）の合計。</a:t>
            </a:r>
          </a:p>
          <a:p>
            <a:pPr algn="l"/>
            <a:r>
              <a:rPr sz="1350" b="0">
                <a:solidFill>
                  <a:srgbClr val="404040"/>
                </a:solidFill>
                <a:latin typeface="游ゴシック"/>
              </a:rPr>
              <a:t>・当初の経営計画書記載計画（4,070,000）との差異は ▲151,970。現時点の営業所提出計画は、経営計画書の目標にまだ届いていない。</a:t>
            </a:r>
          </a:p>
          <a:p>
            <a:pPr algn="l"/>
            <a:r>
              <a:rPr sz="1350" b="0">
                <a:solidFill>
                  <a:srgbClr val="404040"/>
                </a:solidFill>
                <a:latin typeface="游ゴシック"/>
              </a:rPr>
              <a:t>・8月実績の単価上昇率・数量の動きを確認したうえで、各営業所には9月上旬までに計画の再提出をお願いする。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游ゴシック"/>
              </a:rPr>
              <a:t>出所：第51期着地及び第52期計画策定資料（第52期計画D）。各営業所提出計画は2026年8月時点。経営計画書記載計画は当初策定値</a:t>
            </a:r>
          </a:p>
        </p:txBody>
      </p:sp>
    </p:spTree>
    <p:extLst>
      <p:ext uri="{BB962C8B-B14F-4D97-AF65-F5344CB8AC3E}">
        <p14:creationId xmlns:p14="http://schemas.microsoft.com/office/powerpoint/2010/main" val="4195547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第6章　第52期計画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ja-JP" altLang="en-US" sz="2000" b="1">
                <a:solidFill>
                  <a:srgbClr val="FFFFFF"/>
                </a:solidFill>
                <a:latin typeface="游ゴシック"/>
                <a:ea typeface="游ゴシック"/>
              </a:rPr>
              <a:t>各営業所提出計画の水準 </a:t>
            </a:r>
            <a:r>
              <a:rPr lang="en-US" altLang="ja-JP" sz="2000" b="1">
                <a:solidFill>
                  <a:srgbClr val="FFFFFF"/>
                </a:solidFill>
                <a:latin typeface="游ゴシック"/>
                <a:ea typeface="游ゴシック"/>
              </a:rPr>
              <a:t>―― </a:t>
            </a:r>
            <a:r>
              <a:rPr lang="ja-JP" altLang="en-US" sz="2000" b="1">
                <a:solidFill>
                  <a:srgbClr val="FFFFFF"/>
                </a:solidFill>
                <a:latin typeface="游ゴシック"/>
                <a:ea typeface="游ゴシック"/>
              </a:rPr>
              <a:t>過年度平均との比較と、計画とのギャップ</a:t>
            </a:r>
            <a:endParaRPr lang="ja-JP" altLang="en-US" sz="2000" b="1" dirty="0">
              <a:solidFill>
                <a:srgbClr val="FFFFFF"/>
              </a:solidFill>
              <a:latin typeface="游ゴシック"/>
              <a:ea typeface="游ゴシック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ja-JP" altLang="en-US" sz="1000">
                <a:solidFill>
                  <a:srgbClr val="D6DCE5"/>
                </a:solidFill>
                <a:latin typeface="游ゴシック"/>
                <a:ea typeface="游ゴシック"/>
              </a:rPr>
              <a:t>過年度平均＝第</a:t>
            </a:r>
            <a:r>
              <a:rPr lang="en-US" altLang="ja-JP" sz="1000">
                <a:solidFill>
                  <a:srgbClr val="D6DCE5"/>
                </a:solidFill>
                <a:latin typeface="游ゴシック"/>
                <a:ea typeface="游ゴシック"/>
              </a:rPr>
              <a:t>50</a:t>
            </a:r>
            <a:r>
              <a:rPr lang="ja-JP" altLang="en-US" sz="1000">
                <a:solidFill>
                  <a:srgbClr val="D6DCE5"/>
                </a:solidFill>
                <a:latin typeface="游ゴシック"/>
                <a:ea typeface="游ゴシック"/>
              </a:rPr>
              <a:t>期実績と第</a:t>
            </a:r>
            <a:r>
              <a:rPr lang="en-US" altLang="ja-JP" sz="1000">
                <a:solidFill>
                  <a:srgbClr val="D6DCE5"/>
                </a:solidFill>
                <a:latin typeface="游ゴシック"/>
                <a:ea typeface="游ゴシック"/>
              </a:rPr>
              <a:t>51</a:t>
            </a:r>
            <a:r>
              <a:rPr lang="ja-JP" altLang="en-US" sz="1000">
                <a:solidFill>
                  <a:srgbClr val="D6DCE5"/>
                </a:solidFill>
                <a:latin typeface="游ゴシック"/>
                <a:ea typeface="游ゴシック"/>
              </a:rPr>
              <a:t>期見込の平均。計画年率＝第</a:t>
            </a:r>
            <a:r>
              <a:rPr lang="en-US" altLang="ja-JP" sz="1000">
                <a:solidFill>
                  <a:srgbClr val="D6DCE5"/>
                </a:solidFill>
                <a:latin typeface="游ゴシック"/>
                <a:ea typeface="游ゴシック"/>
              </a:rPr>
              <a:t>52</a:t>
            </a:r>
            <a:r>
              <a:rPr lang="ja-JP" altLang="en-US" sz="1000">
                <a:solidFill>
                  <a:srgbClr val="D6DCE5"/>
                </a:solidFill>
                <a:latin typeface="游ゴシック"/>
                <a:ea typeface="游ゴシック"/>
              </a:rPr>
              <a:t>期提出計画</a:t>
            </a:r>
            <a:r>
              <a:rPr lang="en-US" altLang="ja-JP" sz="1000">
                <a:solidFill>
                  <a:srgbClr val="D6DCE5"/>
                </a:solidFill>
                <a:latin typeface="游ゴシック"/>
                <a:ea typeface="游ゴシック"/>
              </a:rPr>
              <a:t>÷</a:t>
            </a:r>
            <a:r>
              <a:rPr lang="ja-JP" altLang="en-US" sz="1000">
                <a:solidFill>
                  <a:srgbClr val="D6DCE5"/>
                </a:solidFill>
                <a:latin typeface="游ゴシック"/>
                <a:ea typeface="游ゴシック"/>
              </a:rPr>
              <a:t>第</a:t>
            </a:r>
            <a:r>
              <a:rPr lang="en-US" altLang="ja-JP" sz="1000">
                <a:solidFill>
                  <a:srgbClr val="D6DCE5"/>
                </a:solidFill>
                <a:latin typeface="游ゴシック"/>
                <a:ea typeface="游ゴシック"/>
              </a:rPr>
              <a:t>51</a:t>
            </a:r>
            <a:r>
              <a:rPr lang="ja-JP" altLang="en-US" sz="1000">
                <a:solidFill>
                  <a:srgbClr val="D6DCE5"/>
                </a:solidFill>
                <a:latin typeface="游ゴシック"/>
                <a:ea typeface="游ゴシック"/>
              </a:rPr>
              <a:t>期見込−</a:t>
            </a:r>
            <a:r>
              <a:rPr lang="en-US" altLang="ja-JP" sz="1000">
                <a:solidFill>
                  <a:srgbClr val="D6DCE5"/>
                </a:solidFill>
                <a:latin typeface="游ゴシック"/>
                <a:ea typeface="游ゴシック"/>
              </a:rPr>
              <a:t>1</a:t>
            </a:r>
            <a:r>
              <a:rPr lang="ja-JP" altLang="en-US" sz="1000">
                <a:solidFill>
                  <a:srgbClr val="D6DCE5"/>
                </a:solidFill>
                <a:latin typeface="游ゴシック"/>
                <a:ea typeface="游ゴシック"/>
              </a:rPr>
              <a:t>。単位：千円</a:t>
            </a:r>
            <a:endParaRPr lang="ja-JP" altLang="en-US" sz="1000" dirty="0">
              <a:solidFill>
                <a:srgbClr val="D6DCE5"/>
              </a:solidFill>
              <a:latin typeface="游ゴシック"/>
              <a:ea typeface="游ゴシック"/>
            </a:endParaRP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出所：第</a:t>
            </a:r>
            <a:r>
              <a:rPr lang="en-US" altLang="ja-JP" sz="800" b="0">
                <a:solidFill>
                  <a:srgbClr val="808080"/>
                </a:solidFill>
                <a:latin typeface="游ゴシック"/>
                <a:ea typeface="游ゴシック"/>
              </a:rPr>
              <a:t>51</a:t>
            </a: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期着地及び第</a:t>
            </a:r>
            <a:r>
              <a:rPr lang="en-US" altLang="ja-JP" sz="800" b="0">
                <a:solidFill>
                  <a:srgbClr val="808080"/>
                </a:solidFill>
                <a:latin typeface="游ゴシック"/>
                <a:ea typeface="游ゴシック"/>
              </a:rPr>
              <a:t>52</a:t>
            </a: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期計画策定資料（第</a:t>
            </a:r>
            <a:r>
              <a:rPr lang="en-US" altLang="ja-JP" sz="800" b="0">
                <a:solidFill>
                  <a:srgbClr val="808080"/>
                </a:solidFill>
                <a:latin typeface="游ゴシック"/>
                <a:ea typeface="游ゴシック"/>
              </a:rPr>
              <a:t>51</a:t>
            </a: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期着地見込</a:t>
            </a:r>
            <a:r>
              <a:rPr lang="en-US" altLang="ja-JP" sz="800" b="0">
                <a:solidFill>
                  <a:srgbClr val="808080"/>
                </a:solidFill>
                <a:latin typeface="游ゴシック"/>
                <a:ea typeface="游ゴシック"/>
              </a:rPr>
              <a:t>C</a:t>
            </a: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・第</a:t>
            </a:r>
            <a:r>
              <a:rPr lang="en-US" altLang="ja-JP" sz="800" b="0">
                <a:solidFill>
                  <a:srgbClr val="808080"/>
                </a:solidFill>
                <a:latin typeface="游ゴシック"/>
                <a:ea typeface="游ゴシック"/>
              </a:rPr>
              <a:t>52</a:t>
            </a: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期計画</a:t>
            </a:r>
            <a:r>
              <a:rPr lang="en-US" altLang="ja-JP" sz="800" b="0">
                <a:solidFill>
                  <a:srgbClr val="808080"/>
                </a:solidFill>
                <a:latin typeface="游ゴシック"/>
                <a:ea typeface="游ゴシック"/>
              </a:rPr>
              <a:t>D</a:t>
            </a: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）。粗利益増加分は配分額に各区分の第</a:t>
            </a:r>
            <a:r>
              <a:rPr lang="en-US" altLang="ja-JP" sz="800" b="0">
                <a:solidFill>
                  <a:srgbClr val="808080"/>
                </a:solidFill>
                <a:latin typeface="游ゴシック"/>
                <a:ea typeface="游ゴシック"/>
              </a:rPr>
              <a:t>51</a:t>
            </a: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期見込粗利益率を乗じたもの</a:t>
            </a:r>
            <a:endParaRPr lang="ja-JP" altLang="en-US" sz="800" b="0" dirty="0">
              <a:solidFill>
                <a:srgbClr val="808080"/>
              </a:solidFill>
              <a:latin typeface="游ゴシック"/>
              <a:ea typeface="游ゴシック"/>
            </a:endParaRPr>
          </a:p>
        </p:txBody>
      </p:sp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FB9DA2D6-C871-4CA6-A94A-E0A682E7B9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334853"/>
              </p:ext>
            </p:extLst>
          </p:nvPr>
        </p:nvGraphicFramePr>
        <p:xfrm>
          <a:off x="406400" y="1066800"/>
          <a:ext cx="11353800" cy="5051806"/>
        </p:xfrm>
        <a:graphic>
          <a:graphicData uri="http://schemas.openxmlformats.org/drawingml/2006/table">
            <a:tbl>
              <a:tblPr/>
              <a:tblGrid>
                <a:gridCol w="1498600">
                  <a:extLst>
                    <a:ext uri="{9D8B030D-6E8A-4147-A177-3AD203B41FA5}">
                      <a16:colId xmlns:a16="http://schemas.microsoft.com/office/drawing/2014/main" val="1406204798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370489746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470192985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06965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572026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74597044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923454948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29602541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188616284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139651789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部門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人員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区分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第50期
実績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第51期
見込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過年度
平均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第52期
提出計画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過年度平均比
（増減額）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計画年率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粗利益率
（見込）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559326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石見営業所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営業4＋M1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営業・包装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747,800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829,800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788,800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871,000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＋82,200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＋5.0％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28.3％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946056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営業・機械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31,100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21,700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26,400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48,000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＋21,600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＋121.5％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19.3％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447473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自治体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9,600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14,300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12,000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16,000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＋4,000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＋11.9％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6.9％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23080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下関営業所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営業2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営業・包装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528,700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552,300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540,500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587,700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＋47,200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＋6.4％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21.0％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719909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営業・機械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6,100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9,200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7,700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17,700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＋10,000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＋92.6％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13.9％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35823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自治体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＋26.5％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3.6％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686917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松江営業所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営業3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営業・包装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324,600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368,700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346,700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425,000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＋78,300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＋15.3％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26.3％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7813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営業・機械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12,200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29,000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20,600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20,000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▲600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▲30.9％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26.9％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197902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自治体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64,600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38,500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51,600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▲51,600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▲100.0％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2.1％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769724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広域営業部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営業1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営業・包装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502,900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523,500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513,200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557,000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＋43,800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＋6.4％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16.7％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683644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営業・機械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2,400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▲2,700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▲100.0％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18.2％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447627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境港営業所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営業4＋M2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営業・包装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536,500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575,300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555,900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662,400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＋106,500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＋15.1％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19.4％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604673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営業・機械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226,000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147,400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186,700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92,000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▲94,700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▲37.6％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22.2％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237420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自治体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＋2.0％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4.5％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428023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営業部門合計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営業15＋M3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2,992,900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3,114,000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3,053,500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3,298,400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＋244,900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＋5.9％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22.3％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019728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水産部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包装資材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329,800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434,100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382,000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525,600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＋143,600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＋21.1％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24.5％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112653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荷役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85,400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92,200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88,800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92,600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＋3,800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＋0.4％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60.6％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131220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機械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10,000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6,000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▲4,500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▲85.0％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19.8％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486458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水産部合計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417,200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536,300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476,800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619,700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＋142,900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＋15.5％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30.6％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690551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合計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営業15＋M3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3,410,000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3,650,400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3,530,200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3,918,100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＋387,900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＋7.3％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23.6％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1309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第52期計画（経営計画書記載）4,070,000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ギャップ 151,900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013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4189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第2章　物価動向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企業物価指数 8月速報 ―― 先月からどう変わったか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全体は3か月連続で7％台の高止まり。ただし前月比は12か月ぶりのマイナスで、川上は下がり始めた。当社の商品（川下）はまだ上がっている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P5'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411480" y="1060704"/>
            <a:ext cx="576072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游ゴシック"/>
              </a:rPr>
              <a:t>① 7月→8月の変化（前年同月比、川上→川下の順）</a:t>
            </a:r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411480" y="1389888"/>
          <a:ext cx="5760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731520"/>
                <a:gridCol w="822960"/>
                <a:gridCol w="640080"/>
                <a:gridCol w="17830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</a:rPr>
                        <a:t>指標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</a:rPr>
                        <a:t>7月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</a:rPr>
                        <a:t>8月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</a:rPr>
                        <a:t>差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</a:rPr>
                        <a:t>先月からの流れ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04040"/>
                          </a:solidFill>
                          <a:latin typeface="游ゴシック"/>
                        </a:rPr>
                        <a:t>輸入物価（原油・ナフサ）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＋29.1％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100" b="1">
                          <a:solidFill>
                            <a:srgbClr val="C00000"/>
                          </a:solidFill>
                          <a:latin typeface="游ゴシック"/>
                        </a:rPr>
                        <a:t>＋24.8％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950" b="0">
                          <a:solidFill>
                            <a:srgbClr val="404040"/>
                          </a:solidFill>
                          <a:latin typeface="游ゴシック"/>
                        </a:rPr>
                        <a:t>▲4.3pt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C00000"/>
                          </a:solidFill>
                          <a:latin typeface="游ゴシック"/>
                        </a:rPr>
                        <a:t>↓ 円高で伸びが縮小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04040"/>
                          </a:solidFill>
                          <a:latin typeface="游ゴシック"/>
                        </a:rPr>
                        <a:t>石油・石炭製品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＋17.6％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100" b="1">
                          <a:solidFill>
                            <a:srgbClr val="C55A11"/>
                          </a:solidFill>
                          <a:latin typeface="游ゴシック"/>
                        </a:rPr>
                        <a:t>＋14.7％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950" b="0">
                          <a:solidFill>
                            <a:srgbClr val="404040"/>
                          </a:solidFill>
                          <a:latin typeface="游ゴシック"/>
                        </a:rPr>
                        <a:t>▲2.9pt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C55A11"/>
                          </a:solidFill>
                          <a:latin typeface="游ゴシック"/>
                        </a:rPr>
                        <a:t>↓ 伸びが縮小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04040"/>
                          </a:solidFill>
                          <a:latin typeface="游ゴシック"/>
                        </a:rPr>
                        <a:t>化学製品（樹脂原料）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＋12.9％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100" b="1">
                          <a:solidFill>
                            <a:srgbClr val="C55A11"/>
                          </a:solidFill>
                          <a:latin typeface="游ゴシック"/>
                        </a:rPr>
                        <a:t>＋13.9％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950" b="0">
                          <a:solidFill>
                            <a:srgbClr val="404040"/>
                          </a:solidFill>
                          <a:latin typeface="游ゴシック"/>
                        </a:rPr>
                        <a:t>＋1.0pt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C55A11"/>
                          </a:solidFill>
                          <a:latin typeface="游ゴシック"/>
                        </a:rPr>
                        <a:t>↑ 拡大、前月比は下落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04040"/>
                          </a:solidFill>
                          <a:latin typeface="游ゴシック"/>
                        </a:rPr>
                        <a:t>プラスチック製品（主力）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＋9.1％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100" b="1">
                          <a:solidFill>
                            <a:srgbClr val="C00000"/>
                          </a:solidFill>
                          <a:latin typeface="游ゴシック"/>
                        </a:rPr>
                        <a:t>約＋10％※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950" b="0">
                          <a:solidFill>
                            <a:srgbClr val="404040"/>
                          </a:solidFill>
                          <a:latin typeface="游ゴシック"/>
                        </a:rPr>
                        <a:t>約＋1pt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C00000"/>
                          </a:solidFill>
                          <a:latin typeface="游ゴシック"/>
                        </a:rPr>
                        <a:t>↑ 前月比＋1.0％で上昇継続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04040"/>
                          </a:solidFill>
                          <a:latin typeface="游ゴシック"/>
                        </a:rPr>
                        <a:t>パルプ・紙・同製品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＋6.1％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100" b="1">
                          <a:solidFill>
                            <a:srgbClr val="1F7040"/>
                          </a:solidFill>
                          <a:latin typeface="游ゴシック"/>
                        </a:rPr>
                        <a:t>＋6.3％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950" b="0">
                          <a:solidFill>
                            <a:srgbClr val="404040"/>
                          </a:solidFill>
                          <a:latin typeface="游ゴシック"/>
                        </a:rPr>
                        <a:t>＋0.2pt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F7040"/>
                          </a:solidFill>
                          <a:latin typeface="游ゴシック"/>
                        </a:rPr>
                        <a:t>→ ほぼ横ばい（段ボール）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04040"/>
                          </a:solidFill>
                          <a:latin typeface="游ゴシック"/>
                        </a:rPr>
                        <a:t>国内企業物価 総平均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＋7.7％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100" b="1">
                          <a:solidFill>
                            <a:srgbClr val="1F3864"/>
                          </a:solidFill>
                          <a:latin typeface="游ゴシック"/>
                        </a:rPr>
                        <a:t>＋7.6％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950" b="0">
                          <a:solidFill>
                            <a:srgbClr val="404040"/>
                          </a:solidFill>
                          <a:latin typeface="游ゴシック"/>
                        </a:rPr>
                        <a:t>▲0.1pt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→ 高止まり、前月比▲0.2％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3" name="TextBox 103"/>
          <p:cNvSpPr txBox="1"/>
          <p:nvPr/>
        </p:nvSpPr>
        <p:spPr>
          <a:xfrm>
            <a:off x="411480" y="4005072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"/>
              </a:lnSpc>
              <a:spcAft>
                <a:spcPts val="0"/>
              </a:spcAft>
            </a:pPr>
            <a:r>
              <a:rPr sz="750" b="0">
                <a:solidFill>
                  <a:srgbClr val="8C8C8C"/>
                </a:solidFill>
                <a:latin typeface="游ゴシック"/>
              </a:rPr>
              <a:t>※プラスチック製品の8月前年比は、7月＋9.1％と8月前月比＋1.0％からの当社推計。日銀速報の類別表で要確認。7月は改定値（化学製品・プラスチック製品・輸入物価は速報値）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411480" y="4407408"/>
            <a:ext cx="5760720" cy="19019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5"/>
          <p:cNvSpPr txBox="1"/>
          <p:nvPr/>
        </p:nvSpPr>
        <p:spPr>
          <a:xfrm>
            <a:off x="640080" y="455371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B8860B"/>
                </a:solidFill>
                <a:latin typeface="游ゴシック"/>
              </a:rPr>
              <a:t>③ 当社への意味 ―― 第52期計画の前提とどう関係するか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640080" y="4910328"/>
            <a:ext cx="5303520" cy="12618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"/>
              </a:lnSpc>
              <a:spcAft>
                <a:spcPts val="500"/>
              </a:spcAft>
            </a:pPr>
            <a:r>
              <a:rPr sz="900" b="1">
                <a:solidFill>
                  <a:srgbClr val="FFFFFF"/>
                </a:solidFill>
                <a:latin typeface="游ゴシック"/>
              </a:rPr>
              <a:t>● 仕入の値上げはまだ続く：</a:t>
            </a:r>
            <a:r>
              <a:rPr sz="900" b="0">
                <a:solidFill>
                  <a:srgbClr val="C8D6EA"/>
                </a:solidFill>
                <a:latin typeface="游ゴシック"/>
              </a:rPr>
              <a:t>フィルム・容器は8月も前月比＋1〜2％。上期（10〜3月）は売価改定を粗利に乗せ続ける局面。</a:t>
            </a:r>
          </a:p>
          <a:p>
            <a:pPr algn="l">
              <a:lnSpc>
                <a:spcPct val="120"/>
              </a:lnSpc>
              <a:spcAft>
                <a:spcPts val="500"/>
              </a:spcAft>
            </a:pPr>
            <a:r>
              <a:rPr sz="900" b="1">
                <a:solidFill>
                  <a:srgbClr val="FFFFFF"/>
                </a:solidFill>
                <a:latin typeface="游ゴシック"/>
              </a:rPr>
              <a:t>● 峠は見えてきた：</a:t>
            </a:r>
            <a:r>
              <a:rPr sz="900" b="0">
                <a:solidFill>
                  <a:srgbClr val="C8D6EA"/>
                </a:solidFill>
                <a:latin typeface="游ゴシック"/>
              </a:rPr>
              <a:t>川上（ナフサ・樹脂原料）の下落が当社の仕入に届くのは1〜2か月先。標準シナリオ「上期＋10％→4月以降剥落」（P10）と矛盾しない。</a:t>
            </a:r>
          </a:p>
          <a:p>
            <a:pPr algn="l">
              <a:lnSpc>
                <a:spcPct val="120"/>
              </a:lnSpc>
              <a:spcAft>
                <a:spcPts val="500"/>
              </a:spcAft>
            </a:pPr>
            <a:r>
              <a:rPr sz="900" b="1">
                <a:solidFill>
                  <a:srgbClr val="FFFFFF"/>
                </a:solidFill>
                <a:latin typeface="游ゴシック"/>
              </a:rPr>
              <a:t>● 得意先への転嫁は引き続き遅い：</a:t>
            </a:r>
            <a:r>
              <a:rPr sz="900" b="0">
                <a:solidFill>
                  <a:srgbClr val="C8D6EA"/>
                </a:solidFill>
                <a:latin typeface="游ゴシック"/>
              </a:rPr>
              <a:t>企業物価＋7.6％に対しコアCPIは＋1.8％。差は5.8ポイントに広がり、転嫁の遅れが当社の粗利を左右する。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6355080" y="1060704"/>
            <a:ext cx="5413248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游ゴシック"/>
              </a:rPr>
              <a:t>② 解説 ―― 何が起きているか（かんたん版）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6355080" y="1389888"/>
            <a:ext cx="5413248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9"/>
          <p:cNvSpPr/>
          <p:nvPr/>
        </p:nvSpPr>
        <p:spPr>
          <a:xfrm>
            <a:off x="6355080" y="1389888"/>
            <a:ext cx="45720" cy="157276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10"/>
          <p:cNvSpPr txBox="1"/>
          <p:nvPr/>
        </p:nvSpPr>
        <p:spPr>
          <a:xfrm>
            <a:off x="6556248" y="1499616"/>
            <a:ext cx="5047488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3864"/>
                </a:solidFill>
                <a:latin typeface="游ゴシック"/>
              </a:rPr>
              <a:t>全体は高止まり。ただし「頭打ち」の兆し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6556248" y="1810512"/>
            <a:ext cx="5047488" cy="10607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2"/>
              </a:lnSpc>
              <a:spcAft>
                <a:spcPts val="0"/>
              </a:spcAft>
            </a:pPr>
            <a:r>
              <a:rPr sz="900" b="0">
                <a:solidFill>
                  <a:srgbClr val="404040"/>
                </a:solidFill>
                <a:latin typeface="游ゴシック"/>
              </a:rPr>
              <a:t>8月の国内企業物価は前年比＋7.6％と3か月連続の7％台。一方、前月比は▲0.2％と12か月ぶりのマイナスになった。電気・ガス料金の政府補助が再開したことに加え、石油製品や合成樹脂（樹脂原料）が値下がりしたためで、上昇の勢いは一服しつつある。</a:t>
            </a:r>
          </a:p>
        </p:txBody>
      </p:sp>
      <p:sp>
        <p:nvSpPr>
          <p:cNvPr id="112" name="Rectangle 112"/>
          <p:cNvSpPr/>
          <p:nvPr/>
        </p:nvSpPr>
        <p:spPr>
          <a:xfrm>
            <a:off x="6355080" y="3063240"/>
            <a:ext cx="5413248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3"/>
          <p:cNvSpPr/>
          <p:nvPr/>
        </p:nvSpPr>
        <p:spPr>
          <a:xfrm>
            <a:off x="6355080" y="3063240"/>
            <a:ext cx="45720" cy="15727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4"/>
          <p:cNvSpPr txBox="1"/>
          <p:nvPr/>
        </p:nvSpPr>
        <p:spPr>
          <a:xfrm>
            <a:off x="6556248" y="3172968"/>
            <a:ext cx="5047488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00000"/>
                </a:solidFill>
                <a:latin typeface="游ゴシック"/>
              </a:rPr>
              <a:t>川上は下がり始め、川下（当社の商品）はまだ上がる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6556248" y="3483864"/>
            <a:ext cx="5047488" cy="10607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2"/>
              </a:lnSpc>
              <a:spcAft>
                <a:spcPts val="0"/>
              </a:spcAft>
            </a:pPr>
            <a:r>
              <a:rPr sz="900" b="0">
                <a:solidFill>
                  <a:srgbClr val="404040"/>
                </a:solidFill>
                <a:latin typeface="游ゴシック"/>
              </a:rPr>
              <a:t>輸入物価は円高で＋29.1％→＋24.8％、石油・石炭製品も＋17.6％→＋14.7％と伸びが縮んだ。合成樹脂は前月比▲1.7％。ところがプラスチック製品は前月比＋1.0％（フィルム・シート＋0.9％、容器＋1.5％、中空成形容器＋2.1％）と値上げが続く。日銀も「包装資材やパッケージに原油高の影響が浸透」と説明。春の原料高が、いま当社の仕入に届いている段階。</a:t>
            </a:r>
          </a:p>
        </p:txBody>
      </p:sp>
      <p:sp>
        <p:nvSpPr>
          <p:cNvPr id="116" name="Rectangle 116"/>
          <p:cNvSpPr/>
          <p:nvPr/>
        </p:nvSpPr>
        <p:spPr>
          <a:xfrm>
            <a:off x="6355080" y="4736592"/>
            <a:ext cx="5413248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7"/>
          <p:cNvSpPr/>
          <p:nvPr/>
        </p:nvSpPr>
        <p:spPr>
          <a:xfrm>
            <a:off x="6355080" y="4736592"/>
            <a:ext cx="45720" cy="157276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8"/>
          <p:cNvSpPr txBox="1"/>
          <p:nvPr/>
        </p:nvSpPr>
        <p:spPr>
          <a:xfrm>
            <a:off x="6556248" y="4846320"/>
            <a:ext cx="5047488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B8860B"/>
                </a:solidFill>
                <a:latin typeface="游ゴシック"/>
              </a:rPr>
              <a:t>先行き ―― 当面は高止まり、来春以降は勢いが弱まる公算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6556248" y="5157216"/>
            <a:ext cx="5047488" cy="10607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2"/>
              </a:lnSpc>
              <a:spcAft>
                <a:spcPts val="0"/>
              </a:spcAft>
            </a:pPr>
            <a:r>
              <a:rPr sz="900" b="0">
                <a:solidFill>
                  <a:srgbClr val="404040"/>
                </a:solidFill>
                <a:latin typeface="游ゴシック"/>
              </a:rPr>
              <a:t>民間調査機関の見方は「当面は高止まり」。原油が再び上がれば圧力は長引く。ただし川上が下がり始めた以上、当社の仕入値上げは数か月遅れで峠を越える可能性が高い。段ボール・紙は＋6％台で落ち着いており、動きの中心はプラスチック製品。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411480" y="6473952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8C8C8C"/>
                </a:solidFill>
                <a:latin typeface="游ゴシック"/>
              </a:rPr>
              <a:t>出所：日本銀行「企業物価指数」2026年8月速報（9月11日公表）および民間調査機関の解説・報道／総務省統計局「消費者物価指数」7月分</a:t>
            </a:r>
          </a:p>
        </p:txBody>
      </p:sp>
    </p:spTree>
    <p:extLst>
      <p:ext uri="{BB962C8B-B14F-4D97-AF65-F5344CB8AC3E}">
        <p14:creationId xmlns:p14="http://schemas.microsoft.com/office/powerpoint/2010/main" val="4253393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1AB0F67-F9FA-4CE2-BD62-CC2027D1E17F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2c6c036-36f8-4e6d-bc86-8c221dd933c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3082</Words>
  <Application>Microsoft Office PowerPoint</Application>
  <PresentationFormat>ワイド画面</PresentationFormat>
  <Paragraphs>747</Paragraphs>
  <Slides>15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0" baseType="lpstr">
      <vt:lpstr>HGSeikaishotaiPRO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ma-takahashi</dc:creator>
  <cp:keywords/>
  <dc:description>generated using python-pptx</dc:description>
  <cp:lastModifiedBy>ma-takahashi</cp:lastModifiedBy>
  <cp:revision>8</cp:revision>
  <dcterms:created xsi:type="dcterms:W3CDTF">2013-01-27T09:14:16Z</dcterms:created>
  <dcterms:modified xsi:type="dcterms:W3CDTF">2026-09-09T09:01:01Z</dcterms:modified>
  <cp:category/>
</cp:coreProperties>
</file>